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190489cd804075" /><Relationship Type="http://schemas.openxmlformats.org/officeDocument/2006/relationships/extended-properties" Target="/docProps/app.xml" Id="Rdfcbf04370804faa" /><Relationship Type="http://schemas.openxmlformats.org/officeDocument/2006/relationships/officeDocument" Target="/ppt/presentation.xml" Id="R7e61e256240b424c" /></Relationships>
</file>

<file path=ppt/presentation.xml><?xml version="1.0" encoding="utf-8"?>
<p:presentation xmlns:p="http://schemas.openxmlformats.org/presentationml/2006/main">
  <p:sldMasterIdLst>
    <p:sldMasterId xmlns:r="http://schemas.openxmlformats.org/officeDocument/2006/relationships" id="2147483648" r:id="Rffa42465cdfd4d3f"/>
  </p:sldMasterIdLst>
  <p:notesMasterIdLst>
    <p:notesMasterId xmlns:r="http://schemas.openxmlformats.org/officeDocument/2006/relationships" r:id="Reacc09cd575241e6"/>
  </p:notesMasterIdLst>
  <p:sldIdLst>
    <p:sldId xmlns:r="http://schemas.openxmlformats.org/officeDocument/2006/relationships" id="256" r:id="R182df316d2294bff"/>
    <p:sldId xmlns:r="http://schemas.openxmlformats.org/officeDocument/2006/relationships" id="257" r:id="R495a9cf146f94a0e"/>
    <p:sldId xmlns:r="http://schemas.openxmlformats.org/officeDocument/2006/relationships" id="258" r:id="Rf694c1c6b8884176"/>
    <p:sldId xmlns:r="http://schemas.openxmlformats.org/officeDocument/2006/relationships" id="259" r:id="Rfa3b89a4b4dd4e0d"/>
    <p:sldId xmlns:r="http://schemas.openxmlformats.org/officeDocument/2006/relationships" id="260" r:id="R503b87d5db304b25"/>
    <p:sldId xmlns:r="http://schemas.openxmlformats.org/officeDocument/2006/relationships" id="261" r:id="R61cd454babdd403d"/>
    <p:sldId xmlns:r="http://schemas.openxmlformats.org/officeDocument/2006/relationships" id="262" r:id="R65c6c5ec25b94c09"/>
    <p:sldId xmlns:r="http://schemas.openxmlformats.org/officeDocument/2006/relationships" id="263" r:id="Rcbd8e64aa5154b54"/>
    <p:sldId xmlns:r="http://schemas.openxmlformats.org/officeDocument/2006/relationships" id="264" r:id="R10e131c08b7c4d67"/>
    <p:sldId xmlns:r="http://schemas.openxmlformats.org/officeDocument/2006/relationships" id="265" r:id="R7bc2ded4f7ef4e8e"/>
    <p:sldId xmlns:r="http://schemas.openxmlformats.org/officeDocument/2006/relationships" id="266" r:id="Rfc95518d0e03444e"/>
    <p:sldId xmlns:r="http://schemas.openxmlformats.org/officeDocument/2006/relationships" id="267" r:id="R2d2cc3c2d3ae402e"/>
    <p:sldId xmlns:r="http://schemas.openxmlformats.org/officeDocument/2006/relationships" id="268" r:id="R7c20df9df3854717"/>
    <p:sldId xmlns:r="http://schemas.openxmlformats.org/officeDocument/2006/relationships" id="269" r:id="R79ec55de98b24c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47d1c50247441b" /><Relationship Type="http://schemas.openxmlformats.org/officeDocument/2006/relationships/slideMaster" Target="/ppt/slideMasters/slideMaster1.xml" Id="Rffa42465cdfd4d3f" /><Relationship Type="http://schemas.openxmlformats.org/officeDocument/2006/relationships/notesMaster" Target="/ppt/notesMasters/notesMaster1.xml" Id="Reacc09cd575241e6" /><Relationship Type="http://schemas.openxmlformats.org/officeDocument/2006/relationships/presProps" Target="/ppt/presProps.xml" Id="Rdc496737b53f475b" /><Relationship Type="http://schemas.openxmlformats.org/officeDocument/2006/relationships/tableStyles" Target="/ppt/tableStyles.xml" Id="R7d25f07cb5124529" /><Relationship Type="http://schemas.openxmlformats.org/officeDocument/2006/relationships/slide" Target="/ppt/slides/slide1.xml" Id="R182df316d2294bff" /><Relationship Type="http://schemas.openxmlformats.org/officeDocument/2006/relationships/slide" Target="/ppt/slides/slide2.xml" Id="R495a9cf146f94a0e" /><Relationship Type="http://schemas.openxmlformats.org/officeDocument/2006/relationships/slide" Target="/ppt/slides/slide3.xml" Id="Rf694c1c6b8884176" /><Relationship Type="http://schemas.openxmlformats.org/officeDocument/2006/relationships/slide" Target="/ppt/slides/slide4.xml" Id="Rfa3b89a4b4dd4e0d" /><Relationship Type="http://schemas.openxmlformats.org/officeDocument/2006/relationships/slide" Target="/ppt/slides/slide5.xml" Id="R503b87d5db304b25" /><Relationship Type="http://schemas.openxmlformats.org/officeDocument/2006/relationships/slide" Target="/ppt/slides/slide6.xml" Id="R61cd454babdd403d" /><Relationship Type="http://schemas.openxmlformats.org/officeDocument/2006/relationships/slide" Target="/ppt/slides/slide7.xml" Id="R65c6c5ec25b94c09" /><Relationship Type="http://schemas.openxmlformats.org/officeDocument/2006/relationships/slide" Target="/ppt/slides/slide8.xml" Id="Rcbd8e64aa5154b54" /><Relationship Type="http://schemas.openxmlformats.org/officeDocument/2006/relationships/slide" Target="/ppt/slides/slide9.xml" Id="R10e131c08b7c4d67" /><Relationship Type="http://schemas.openxmlformats.org/officeDocument/2006/relationships/slide" Target="/ppt/slides/slide10.xml" Id="R7bc2ded4f7ef4e8e" /><Relationship Type="http://schemas.openxmlformats.org/officeDocument/2006/relationships/slide" Target="/ppt/slides/slide11.xml" Id="Rfc95518d0e03444e" /><Relationship Type="http://schemas.openxmlformats.org/officeDocument/2006/relationships/slide" Target="/ppt/slides/slide12.xml" Id="R2d2cc3c2d3ae402e" /><Relationship Type="http://schemas.openxmlformats.org/officeDocument/2006/relationships/slide" Target="/ppt/slides/slide13.xml" Id="R7c20df9df3854717" /><Relationship Type="http://schemas.openxmlformats.org/officeDocument/2006/relationships/slide" Target="/ppt/slides/slide14.xml" Id="R79ec55de98b24c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a810a339d5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c1fec11b9147f6" /><Relationship Type="http://schemas.openxmlformats.org/officeDocument/2006/relationships/notesMaster" Target="/ppt/notesMasters/notesMaster1.xml" Id="Rd446c9a963a445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afd5d7cea943e3" /><Relationship Type="http://schemas.openxmlformats.org/officeDocument/2006/relationships/notesMaster" Target="/ppt/notesMasters/notesMaster1.xml" Id="Rb1d3a41b03354a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da5119794d4c1c" /><Relationship Type="http://schemas.openxmlformats.org/officeDocument/2006/relationships/notesMaster" Target="/ppt/notesMasters/notesMaster1.xml" Id="R185396de82d64f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3366e63493429f" /><Relationship Type="http://schemas.openxmlformats.org/officeDocument/2006/relationships/notesMaster" Target="/ppt/notesMasters/notesMaster1.xml" Id="R063e9741256e4a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770e7142942fb" /><Relationship Type="http://schemas.openxmlformats.org/officeDocument/2006/relationships/notesMaster" Target="/ppt/notesMasters/notesMaster1.xml" Id="R9220d83935774c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8ddb8f975c4a8b" /><Relationship Type="http://schemas.openxmlformats.org/officeDocument/2006/relationships/notesMaster" Target="/ppt/notesMasters/notesMaster1.xml" Id="R5b86ee19b4c14f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6909c50fa47ef" /><Relationship Type="http://schemas.openxmlformats.org/officeDocument/2006/relationships/notesMaster" Target="/ppt/notesMasters/notesMaster1.xml" Id="R9ea9c538076042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ecf5de65424726" /><Relationship Type="http://schemas.openxmlformats.org/officeDocument/2006/relationships/notesMaster" Target="/ppt/notesMasters/notesMaster1.xml" Id="R76288affee1543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3359c54b0447e6" /><Relationship Type="http://schemas.openxmlformats.org/officeDocument/2006/relationships/notesMaster" Target="/ppt/notesMasters/notesMaster1.xml" Id="R53109d87b3184e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b4f73232c54f07" /><Relationship Type="http://schemas.openxmlformats.org/officeDocument/2006/relationships/notesMaster" Target="/ppt/notesMasters/notesMaster1.xml" Id="R33c72d8273f54c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1e31b99a984775" /><Relationship Type="http://schemas.openxmlformats.org/officeDocument/2006/relationships/notesMaster" Target="/ppt/notesMasters/notesMaster1.xml" Id="Rcee9fde091924a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a8cafbe8b24ecc" /><Relationship Type="http://schemas.openxmlformats.org/officeDocument/2006/relationships/notesMaster" Target="/ppt/notesMasters/notesMaster1.xml" Id="Rccbc71b32e8140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1184f2f52d4da7" /><Relationship Type="http://schemas.openxmlformats.org/officeDocument/2006/relationships/notesMaster" Target="/ppt/notesMasters/notesMaster1.xml" Id="R1d4b2467c5f241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dcdc04886e4635" /><Relationship Type="http://schemas.openxmlformats.org/officeDocument/2006/relationships/notesMaster" Target="/ppt/notesMasters/notesMaster1.xml" Id="R0a4fe84d19da47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asking what an intern should do when an urgent advisory arrives. Today is October 22, 2026. This is an ungraded tabletop supporting the current four-week ISM 310 course. Students will build a scoped risk recommendation using invented evidence. Distinguish assessment work from managerial decisions and operational changes. A vulnerability report does not establish what Health Network runs or whether anyone exploited it. Use the Health Network source scenario in Canvas as the base case; all PHP records in this lesson are explicitly labeled exercise additions. Allow about 60 minutes, with an optional 15-minute extension. No live systems are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case establishes HNetExchange medical messaging, HNetPay payment and billing, HNetConnect directory services, and third-party production hosting. It does not establish a PHP deployment. E1 begins with unknown exposure. E2 is a fictional provider confirmation affecting the HNetPay route only. Do not silently spread that finding across the other products. The article is the real-world motivation, while the intern records and company incident are classroom inventions. Wiz describes PHP engine vulnerabilities and AI-assisted research. Source: https://www.wiz.io/blog/php2shell-php-rce . The professor-provided video link remains optional because its content was not retrievable. Do not attribute a quote or demonstration to the video without watching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teaching diagram is hypothetical and is limited to the exercise HNetPay route. Ask students to identify the asset, outside dependency, and trust boundary. A hosting provider can supply runtime evidence and perform approved implementation. The intern can document uncertainty and propose questions; the service owner or responsible manager approves disruption and risk decisions. The original case does not define this precise architecture. Capture what is excluded or still unknown in the scope record. Public access and a confirmed affected runtime can establish an exposure path in the exercise, but do not establish that an attacker succeeded. Students should avoid putting real payment, health, or credential data into the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short conceptual model to explain why students must inspect dependencies rather than stopping at a familiar application name or login screen. The PHP advisory describes invalid request state surviving error handling and later use. Keep this at the level of a risk-management lecture; students do not execute PHP or construct payloads. Source: https://www.php.net/archive/2026.php#2026-10-21-5 . In the exercise, teams request provider confirmation of the applicable fix and running state. An application theme update or a classroom Authenticator code does not supply that evidence. The central learning question is which claim each evidence item supports, and what still needs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table as a set of control functions. Runtime remediation addresses the known flaw; an interim restriction changes the exposure path while affecting availability. Least privilege may reduce consequences but does not repair the engine. Monitoring supports investigation and response, while recovery supports business restoration. Instruct teams to name the mechanism and evidence of operation for each recommendation. The PHP vendor distinguishes a complete update from measures that reduce selected exposure. Source: https://www.php.net/archive/2026.php#2026-10-21-5 . This is not an implementation playbook. The intern proposes, the provider implements authorized work, and the responsible owner approves business decisions. Ask which controls share a dependency that could fail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HTML before class and demonstrate one record without answering the whole exercise. Teams of three or four rotate intern analyst, evidence checker, manager, and reporter. Steps 1 through 4 address preparation and assessment; the later steps add applicability, treatment, communication, and maintenance. This is a teaching sequence informed by risk assessment, not a claim that NIST mandates these eight labels. Students choose a decision, write short reasoning in every required field, check feedback, and continue. Written responses are not automatically evaluated. Incorrect decisions still advance after feedback. Ask the recorder to download the packet at the end. Use the paper workbook if a device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E2 and E3 to distinguish a potential threat event from a vulnerability and a consequence. A model risk statement is: an unauthenticated attacker could exploit the affected HNetPay runtime, potentially exposing information or interrupting payment operations. This sentence describes possibility, not a confirmed incident. E3 supplies request failures and worker restarts near maintenance, with no validated extraction record. Ask students to write their own statement and explain what each clause means. Their evidence plan should state what information would resolve exposure, incident extent, and business impact. Preserve uncertainty rather than substituting a breach claim. This activity reinforces the Week 1 distinction among risk, threat, vulnerability,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Teams often stop at a ticket marked complete. Ask what an invoice, package ticket, and active serving runtime each prove. The authorized provider verifies the applicable installed and running code, then the business owner checks the necessary service function. The intern gathers evidence references and records gaps without personally deploying the change. Define a fallback and review point if implementation is delayed. Do not lower residual risk merely because a plan was approved. Separate verification of remediation from investigation of earlier activity. The management handoff must identify who approves action and what evidence supports closure. This connects Project 3 implementation and monitoring to the planning decisions introduced in Project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locally authored three-by-three convention. Likelihood 1 means limited credible exposure with effective safeguards evidenced; 2 means a credible path with incomplete evidence; 3 means a confirmed exposed affected runtime with no applicable fix. Impact 1 means limited recoverable disruption; 2 means material interruption or limited sensitive-data harm; 3 means potential major service or sensitive-data harm. Products 1–2 are Low, 3–4 Moderate, and 6–9 High. A reference discussion can use 3 times 3 equals 9 for E2 if the impact assumption is stated. It is not a statistical probability or a NIST-mandated matrix. Different impact judgments need scope reasoning. Source context: https://csrc.nist.gov/pubs/sp/800/30/r1/final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unsupported AI claim to connect this activity to the professor’s AI-governance and LLM-weaponization research themes without inventing a study result or publication claim. An AI summary has no authority to declare incident closure or accept residual risk. Ask teams to identify the actual evidence source, decision owner, and required approval. Appropriate uses include suggesting questions for review, subject to source verification; generated conclusions do not replace provider records or human judgment. The management record should identify options, business effects, a proposed owner, target milestone, approval needs, and uncertainty. If a manager accepts residual risk, document its scope, reason, expiration or review point, and monitoring triggers.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E6 is an explicit fictional test result. The HNetPay exercise target is four hours for usable service restoration and one hour for the age of recovered data. Usable processing returns at five hours with data twenty minutes older than the disruption. Therefore RTO is missed and RPO is met. MTD was not supplied, so students cannot decide whether it was exceeded. A login screen alone does not prove the business can process payments. Ask the business owner to validate reconciliation of pending work and any approved return-to-service decision. These figures are not present in the base Health Network case or the Wiz report. This is a bridge to Project 4, not an extra graded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lecture connected to existing coursework without changing it. Project 1 asks students to plan scope, roles, relevant compliance review, and a proposed schedule. Project 2 develops the assessment approach and evidence process. Project 3 turns assessed risks into treatment, implementation, and monitoring. Project 4 develops business impact analysis and continuity planning. The practice packet shows connections across those tasks, but it is not a completed answer to any project. E1–E6 remain simulation additions; students should not import them into the base case as established facts without explicit instructor direction. The research Proposal and final-paper sequence remains a separate track.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each team ninety seconds to brief its manager. Require a scoped finding, one risk statement, rating rationale with assumptions, a proposed treatment and responsible role, evidence needed for verification, and a remaining question. Ask a different group to challenge one assumption. The team should revise its reasoning rather than treating the teaching-point total as proof. The exit reflection asks how assessment differs from treatment and which evidence would justify a lower residual-risk rating. Students download the packet from the HTML; storage is local to the browser and may not persist across devices. Source documents and official coursework remain in Canvas. There is no new required submission from this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lecture uses original editable teaching diagrams and the fictional Health Network scenario from the supplied course snapshot. The PHP exposure and events are original classroom injects, not claims about a real company. The real-source links are Wiz and PHP; NIST provides the risk-assessment reference. Source checks were completed October 22, 2026. The provided video could not be retrieved or independently reviewed; it remains an optional link and is not a source for factual claims in the activity. Check source revisions and instructor directions in Canvas. The diagrams are newly authored and do not reproduce the article images. No payload, runtime, scanning, external game script, or student-data collection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fe4035f7ab46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cdbc422fca41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4a3ae4102a4a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282fe71de44f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d1573876254b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3ae883145746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2758BD-2B2D-483E-8B68-AD99600A13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CFF139-97DC-48DB-9708-F70D47EDB1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08A924-C486-4D7A-8B87-31D751A66F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1C5180-6D24-415C-917D-DF2DA1B665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685A53-884F-489D-A98E-FBB3A6570A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8CC615-4CF4-4F40-9E62-F838D29B6D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011E7-34A4-42A8-89D6-ACA136E781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EC9C6B-2048-47DD-97A5-B0B3D1914A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888CB1-3DD6-44A5-B12B-20C8138C1F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839231-D972-486F-AAE4-6F1D8842D9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29c3c6d7a24b44" /><Relationship Type="http://schemas.openxmlformats.org/officeDocument/2006/relationships/slideLayout" Target="/ppt/slideLayouts/slideLayout1.xml" Id="R818a9a08fbad441b" /><Relationship Type="http://schemas.openxmlformats.org/officeDocument/2006/relationships/slideLayout" Target="/ppt/slideLayouts/slideLayout2.xml" Id="R41aae98a2e5b4772" /><Relationship Type="http://schemas.openxmlformats.org/officeDocument/2006/relationships/slideLayout" Target="/ppt/slideLayouts/slideLayout3.xml" Id="R9ac876a6244442b5" /><Relationship Type="http://schemas.openxmlformats.org/officeDocument/2006/relationships/slideLayout" Target="/ppt/slideLayouts/slideLayout4.xml" Id="Rf4d9250505b74680" /><Relationship Type="http://schemas.openxmlformats.org/officeDocument/2006/relationships/slideLayout" Target="/ppt/slideLayouts/slideLayout5.xml" Id="R95e9a9fbc439415a" /><Relationship Type="http://schemas.openxmlformats.org/officeDocument/2006/relationships/slideLayout" Target="/ppt/slideLayouts/slideLayout6.xml" Id="R70224cedc3c94d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8a9a08fbad441b"/>
    <p:sldLayoutId xmlns:r="http://schemas.openxmlformats.org/officeDocument/2006/relationships" id="2147483650" r:id="R41aae98a2e5b4772"/>
    <p:sldLayoutId xmlns:r="http://schemas.openxmlformats.org/officeDocument/2006/relationships" id="2147483651" r:id="R9ac876a6244442b5"/>
    <p:sldLayoutId xmlns:r="http://schemas.openxmlformats.org/officeDocument/2006/relationships" id="2147483652" r:id="Rf4d9250505b74680"/>
    <p:sldLayoutId xmlns:r="http://schemas.openxmlformats.org/officeDocument/2006/relationships" id="2147483653" r:id="R95e9a9fbc439415a"/>
    <p:sldLayoutId xmlns:r="http://schemas.openxmlformats.org/officeDocument/2006/relationships" id="2147483654" r:id="R70224cedc3c94d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c911b8f77446a8" /><Relationship Type="http://schemas.openxmlformats.org/officeDocument/2006/relationships/notesSlide" Target="/ppt/notesSlides/notesSlide1.xml" Id="R3dfa20db047f47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382e3acf654b39" /><Relationship Type="http://schemas.openxmlformats.org/officeDocument/2006/relationships/notesSlide" Target="/ppt/notesSlides/notesSlide2.xml" Id="R6037011e12ab4a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fd6c31e6734e62" /><Relationship Type="http://schemas.openxmlformats.org/officeDocument/2006/relationships/notesSlide" Target="/ppt/notesSlides/notesSlide3.xml" Id="R5f6bde54b43a4b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ffe8046f9a45df" /><Relationship Type="http://schemas.openxmlformats.org/officeDocument/2006/relationships/notesSlide" Target="/ppt/notesSlides/notesSlide4.xml" Id="R3f09478a31e046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8f7d49482144788" /><Relationship Type="http://schemas.openxmlformats.org/officeDocument/2006/relationships/notesSlide" Target="/ppt/notesSlides/notesSlide5.xml" Id="R94235fc299ab41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8fc396009d4ee1" /><Relationship Type="http://schemas.openxmlformats.org/officeDocument/2006/relationships/notesSlide" Target="/ppt/notesSlides/notesSlide6.xml" Id="Rb796e982131b4f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4fa31ba0254b03" /><Relationship Type="http://schemas.openxmlformats.org/officeDocument/2006/relationships/notesSlide" Target="/ppt/notesSlides/notesSlide7.xml" Id="Rdb5fc74e798043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bf54abd624b4f" /><Relationship Type="http://schemas.openxmlformats.org/officeDocument/2006/relationships/notesSlide" Target="/ppt/notesSlides/notesSlide8.xml" Id="Re27bd20214064a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b389be9fe894d69" /><Relationship Type="http://schemas.openxmlformats.org/officeDocument/2006/relationships/notesSlide" Target="/ppt/notesSlides/notesSlide9.xml" Id="R26549d997bf14f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9eef6d5eea48b8" /><Relationship Type="http://schemas.openxmlformats.org/officeDocument/2006/relationships/notesSlide" Target="/ppt/notesSlides/notesSlide10.xml" Id="R86ddab58490a44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32a7b824d14d10" /><Relationship Type="http://schemas.openxmlformats.org/officeDocument/2006/relationships/notesSlide" Target="/ppt/notesSlides/notesSlide11.xml" Id="Re38d65755d9f4b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b41d9bf0d74cc6" /><Relationship Type="http://schemas.openxmlformats.org/officeDocument/2006/relationships/notesSlide" Target="/ppt/notesSlides/notesSlide12.xml" Id="Rc2d212e2b47649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2debb83357c4076" /><Relationship Type="http://schemas.openxmlformats.org/officeDocument/2006/relationships/notesSlide" Target="/ppt/notesSlides/notesSlide13.xml" Id="R75ea0e27ffd049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cff6a2af1bc4adf" /><Relationship Type="http://schemas.openxmlformats.org/officeDocument/2006/relationships/notesSlide" Target="/ppt/notesSlides/notesSlide14.xml" Id="R86b4a69b17444b86" /></Relationships>
</file>

<file path=ppt/slides/slide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D87172-7152-442B-BC62-6E7DF633649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102F40"/>
                </a:solidFill>
                <a:latin typeface="DejaVu Sans"/>
                <a:ea typeface="DejaVu Sans"/>
                <a:cs typeface="DejaVu Sans"/>
              </a:defRPr>
            </a:defPPr>
            <a:lvl1pPr>
              <a:defRPr sz="4200" b="1">
                <a:solidFill>
                  <a:srgbClr val="102F40"/>
                </a:solidFill>
                <a:latin typeface="DejaVu Sans"/>
                <a:ea typeface="DejaVu Sans"/>
                <a:cs typeface="DejaVu Sans"/>
              </a:defRPr>
            </a:lvl1pPr>
            <a:lvl2pPr>
              <a:defRPr sz="4200" b="1">
                <a:solidFill>
                  <a:srgbClr val="102F40"/>
                </a:solidFill>
                <a:latin typeface="DejaVu Sans"/>
                <a:ea typeface="DejaVu Sans"/>
                <a:cs typeface="DejaVu Sans"/>
              </a:defRPr>
            </a:lvl2pPr>
            <a:lvl3pPr>
              <a:defRPr sz="4200" b="1">
                <a:solidFill>
                  <a:srgbClr val="102F40"/>
                </a:solidFill>
                <a:latin typeface="DejaVu Sans"/>
                <a:ea typeface="DejaVu Sans"/>
                <a:cs typeface="DejaVu Sans"/>
              </a:defRPr>
            </a:lvl3pPr>
            <a:lvl4pPr>
              <a:defRPr sz="4200" b="1">
                <a:solidFill>
                  <a:srgbClr val="102F40"/>
                </a:solidFill>
                <a:latin typeface="DejaVu Sans"/>
                <a:ea typeface="DejaVu Sans"/>
                <a:cs typeface="DejaVu Sans"/>
              </a:defRPr>
            </a:lvl4pPr>
            <a:lvl5pPr>
              <a:defRPr sz="4200" b="1">
                <a:solidFill>
                  <a:srgbClr val="102F40"/>
                </a:solidFill>
                <a:latin typeface="DejaVu Sans"/>
                <a:ea typeface="DejaVu Sans"/>
                <a:cs typeface="DejaVu Sans"/>
              </a:defRPr>
            </a:lvl5pPr>
            <a:lvl6pPr>
              <a:defRPr sz="4200" b="1">
                <a:solidFill>
                  <a:srgbClr val="102F40"/>
                </a:solidFill>
                <a:latin typeface="DejaVu Sans"/>
                <a:ea typeface="DejaVu Sans"/>
                <a:cs typeface="DejaVu Sans"/>
              </a:defRPr>
            </a:lvl6pPr>
            <a:lvl7pPr>
              <a:defRPr sz="4200" b="1">
                <a:solidFill>
                  <a:srgbClr val="102F40"/>
                </a:solidFill>
                <a:latin typeface="DejaVu Sans"/>
                <a:ea typeface="DejaVu Sans"/>
                <a:cs typeface="DejaVu Sans"/>
              </a:defRPr>
            </a:lvl7pPr>
            <a:lvl8pPr>
              <a:defRPr sz="4200" b="1">
                <a:solidFill>
                  <a:srgbClr val="102F40"/>
                </a:solidFill>
                <a:latin typeface="DejaVu Sans"/>
                <a:ea typeface="DejaVu Sans"/>
                <a:cs typeface="DejaVu Sans"/>
              </a:defRPr>
            </a:lvl8pPr>
            <a:lvl9pPr>
              <a:defRPr sz="4200" b="1">
                <a:solidFill>
                  <a:srgbClr val="102F40"/>
                </a:solidFill>
                <a:latin typeface="DejaVu Sans"/>
                <a:ea typeface="DejaVu Sans"/>
                <a:cs typeface="DejaVu Sans"/>
              </a:defRPr>
            </a:lvl9pPr>
          </a:lstStyle>
          <a:p xmlns:a="http://schemas.openxmlformats.org/drawingml/2006/main">
            <a:pPr>
              <a:defRPr sz="4200" b="1">
                <a:solidFill>
                  <a:srgbClr val="102F40"/>
                </a:solidFill>
                <a:latin typeface="DejaVu Sans"/>
                <a:ea typeface="DejaVu Sans"/>
                <a:cs typeface="DejaVu Sans"/>
              </a:defRPr>
            </a:pPr>
            <a:r>
              <a:rPr sz="4200" b="1">
                <a:solidFill>
                  <a:srgbClr val="102F40"/>
                </a:solidFill>
                <a:latin typeface="DejaVu Sans"/>
                <a:ea typeface="DejaVu Sans"/>
                <a:cs typeface="DejaVu Sans"/>
              </a:rPr>
              <a:t>Health Network intern risk lab</a:t>
            </a:r>
          </a:p>
        </p:txBody>
      </p:sp>
      <p:sp>
        <p:nvSpPr>
          <p:cNvPr id="2" name="footer">
            <a:extLst xmlns:a="http://schemas.openxmlformats.org/drawingml/2006/main">
              <a:ext uri="{FF2B5EF4-FFF2-40B4-BE49-F238E27FC236}">
                <a16:creationId xmlns:a16="http://schemas.microsoft.com/office/drawing/2014/main" id="{80562A5E-1591-4804-A6F7-2107C6DE4F89}"/>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01</a:t>
            </a:r>
          </a:p>
        </p:txBody>
      </p:sp>
      <p:sp>
        <p:nvSpPr>
          <p:cNvPr id="3" name="subtitle">
            <a:extLst xmlns:a="http://schemas.openxmlformats.org/drawingml/2006/main">
              <a:ext uri="{FF2B5EF4-FFF2-40B4-BE49-F238E27FC236}">
                <a16:creationId xmlns:a16="http://schemas.microsoft.com/office/drawing/2014/main" id="{262A5D9E-3DC6-43ED-AD72-C90F03B75969}"/>
              </a:ext>
            </a:extLst>
          </p:cNvPr>
          <p:cNvSpPr>
            <a:spLocks xmlns:a="http://schemas.openxmlformats.org/drawingml/2006/main" noGrp="1"/>
          </p:cNvSpPr>
          <p:nvPr/>
        </p:nvSpPr>
        <p:spPr>
          <a:xfrm xmlns:a="http://schemas.openxmlformats.org/drawingml/2006/main">
            <a:off x="685800" y="1952625"/>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56C68"/>
                </a:solidFill>
                <a:latin typeface="DejaVu Sans"/>
                <a:ea typeface="DejaVu Sans"/>
                <a:cs typeface="DejaVu Sans"/>
              </a:defRPr>
            </a:defPPr>
            <a:lvl1pPr>
              <a:defRPr sz="2700" b="0">
                <a:solidFill>
                  <a:srgbClr val="156C68"/>
                </a:solidFill>
                <a:latin typeface="DejaVu Sans"/>
                <a:ea typeface="DejaVu Sans"/>
                <a:cs typeface="DejaVu Sans"/>
              </a:defRPr>
            </a:lvl1pPr>
            <a:lvl2pPr>
              <a:defRPr sz="2700" b="0">
                <a:solidFill>
                  <a:srgbClr val="156C68"/>
                </a:solidFill>
                <a:latin typeface="DejaVu Sans"/>
                <a:ea typeface="DejaVu Sans"/>
                <a:cs typeface="DejaVu Sans"/>
              </a:defRPr>
            </a:lvl2pPr>
            <a:lvl3pPr>
              <a:defRPr sz="2700" b="0">
                <a:solidFill>
                  <a:srgbClr val="156C68"/>
                </a:solidFill>
                <a:latin typeface="DejaVu Sans"/>
                <a:ea typeface="DejaVu Sans"/>
                <a:cs typeface="DejaVu Sans"/>
              </a:defRPr>
            </a:lvl3pPr>
            <a:lvl4pPr>
              <a:defRPr sz="2700" b="0">
                <a:solidFill>
                  <a:srgbClr val="156C68"/>
                </a:solidFill>
                <a:latin typeface="DejaVu Sans"/>
                <a:ea typeface="DejaVu Sans"/>
                <a:cs typeface="DejaVu Sans"/>
              </a:defRPr>
            </a:lvl4pPr>
            <a:lvl5pPr>
              <a:defRPr sz="2700" b="0">
                <a:solidFill>
                  <a:srgbClr val="156C68"/>
                </a:solidFill>
                <a:latin typeface="DejaVu Sans"/>
                <a:ea typeface="DejaVu Sans"/>
                <a:cs typeface="DejaVu Sans"/>
              </a:defRPr>
            </a:lvl5pPr>
            <a:lvl6pPr>
              <a:defRPr sz="2700" b="0">
                <a:solidFill>
                  <a:srgbClr val="156C68"/>
                </a:solidFill>
                <a:latin typeface="DejaVu Sans"/>
                <a:ea typeface="DejaVu Sans"/>
                <a:cs typeface="DejaVu Sans"/>
              </a:defRPr>
            </a:lvl6pPr>
            <a:lvl7pPr>
              <a:defRPr sz="2700" b="0">
                <a:solidFill>
                  <a:srgbClr val="156C68"/>
                </a:solidFill>
                <a:latin typeface="DejaVu Sans"/>
                <a:ea typeface="DejaVu Sans"/>
                <a:cs typeface="DejaVu Sans"/>
              </a:defRPr>
            </a:lvl7pPr>
            <a:lvl8pPr>
              <a:defRPr sz="2700" b="0">
                <a:solidFill>
                  <a:srgbClr val="156C68"/>
                </a:solidFill>
                <a:latin typeface="DejaVu Sans"/>
                <a:ea typeface="DejaVu Sans"/>
                <a:cs typeface="DejaVu Sans"/>
              </a:defRPr>
            </a:lvl8pPr>
            <a:lvl9pPr>
              <a:defRPr sz="2700" b="0">
                <a:solidFill>
                  <a:srgbClr val="156C68"/>
                </a:solidFill>
                <a:latin typeface="DejaVu Sans"/>
                <a:ea typeface="DejaVu Sans"/>
                <a:cs typeface="DejaVu Sans"/>
              </a:defRPr>
            </a:lvl9pPr>
          </a:lstStyle>
          <a:p xmlns:a="http://schemas.openxmlformats.org/drawingml/2006/main">
            <a:pPr>
              <a:defRPr sz="2700" b="0">
                <a:solidFill>
                  <a:srgbClr val="156C68"/>
                </a:solidFill>
                <a:latin typeface="DejaVu Sans"/>
                <a:ea typeface="DejaVu Sans"/>
                <a:cs typeface="DejaVu Sans"/>
              </a:defRPr>
            </a:pPr>
            <a:r>
              <a:rPr sz="2700" b="0">
                <a:solidFill>
                  <a:srgbClr val="156C68"/>
                </a:solidFill>
                <a:latin typeface="DejaVu Sans"/>
                <a:ea typeface="DejaVu Sans"/>
                <a:cs typeface="DejaVu Sans"/>
              </a:rPr>
              <a:t>Risk assessment and management through a PHP advisory</a:t>
            </a:r>
          </a:p>
        </p:txBody>
      </p:sp>
      <p:sp>
        <p:nvSpPr>
          <p:cNvPr id="4" name="course">
            <a:extLst xmlns:a="http://schemas.openxmlformats.org/drawingml/2006/main">
              <a:ext uri="{FF2B5EF4-FFF2-40B4-BE49-F238E27FC236}">
                <a16:creationId xmlns:a16="http://schemas.microsoft.com/office/drawing/2014/main" id="{260D876D-9740-4EFA-8E18-E70690F687BC}"/>
              </a:ext>
            </a:extLst>
          </p:cNvPr>
          <p:cNvSpPr>
            <a:spLocks xmlns:a="http://schemas.openxmlformats.org/drawingml/2006/main" noGrp="1"/>
          </p:cNvSpPr>
          <p:nvPr/>
        </p:nvSpPr>
        <p:spPr>
          <a:xfrm xmlns:a="http://schemas.openxmlformats.org/drawingml/2006/main">
            <a:off x="685800" y="381000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Intern analysis, evidence checks and management decisions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Eight interactive steps with a downloadable practice packet</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Dr. George Antoniou • ISM 310 • October 22, 2026</a:t>
            </a:r>
          </a:p>
        </p:txBody>
      </p:sp>
    </p:spTree>
    <p:extLst>
      <p:ext uri="{BB962C8B-B14F-4D97-AF65-F5344CB8AC3E}">
        <p14:creationId xmlns:p14="http://schemas.microsoft.com/office/powerpoint/2010/main" val="1738143935"/>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49A5647-9E80-4126-A6F5-19A7C6738F56}"/>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Course facts and exercise additions</a:t>
            </a:r>
          </a:p>
        </p:txBody>
      </p:sp>
      <p:sp>
        <p:nvSpPr>
          <p:cNvPr id="2" name="footer">
            <a:extLst xmlns:a="http://schemas.openxmlformats.org/drawingml/2006/main">
              <a:ext uri="{FF2B5EF4-FFF2-40B4-BE49-F238E27FC236}">
                <a16:creationId xmlns:a16="http://schemas.microsoft.com/office/drawing/2014/main" id="{816EEA89-345B-4CD0-9847-28821FE7E238}"/>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02</a:t>
            </a:r>
          </a:p>
        </p:txBody>
      </p:sp>
      <p:sp>
        <p:nvSpPr>
          <p:cNvPr id="3" name="left-head">
            <a:extLst xmlns:a="http://schemas.openxmlformats.org/drawingml/2006/main">
              <a:ext uri="{FF2B5EF4-FFF2-40B4-BE49-F238E27FC236}">
                <a16:creationId xmlns:a16="http://schemas.microsoft.com/office/drawing/2014/main" id="{77D6652D-7771-4315-BFB7-8FC528B64C8D}"/>
              </a:ext>
            </a:extLst>
          </p:cNvPr>
          <p:cNvSpPr>
            <a:spLocks xmlns:a="http://schemas.openxmlformats.org/drawingml/2006/main" noGrp="1"/>
          </p:cNvSpPr>
          <p:nvPr/>
        </p:nvSpPr>
        <p:spPr>
          <a:xfrm xmlns:a="http://schemas.openxmlformats.org/drawingml/2006/main">
            <a:off x="685800" y="18573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Known from the case</a:t>
            </a:r>
          </a:p>
        </p:txBody>
      </p:sp>
      <p:sp>
        <p:nvSpPr>
          <p:cNvPr id="4" name="left">
            <a:extLst xmlns:a="http://schemas.openxmlformats.org/drawingml/2006/main">
              <a:ext uri="{FF2B5EF4-FFF2-40B4-BE49-F238E27FC236}">
                <a16:creationId xmlns:a16="http://schemas.microsoft.com/office/drawing/2014/main" id="{BB30E4F6-A5DF-4B79-8928-E1BDD0B6FE4B}"/>
              </a:ext>
            </a:extLst>
          </p:cNvPr>
          <p:cNvSpPr>
            <a:spLocks xmlns:a="http://schemas.openxmlformats.org/drawingml/2006/main" noGrp="1"/>
          </p:cNvSpPr>
          <p:nvPr/>
        </p:nvSpPr>
        <p:spPr>
          <a:xfrm xmlns:a="http://schemas.openxmlformats.org/drawingml/2006/main">
            <a:off x="685800" y="26860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Three distinct products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Hosted production dependencies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An outdated management plan</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 planning role for the intern</a:t>
            </a:r>
          </a:p>
        </p:txBody>
      </p:sp>
      <p:sp>
        <p:nvSpPr>
          <p:cNvPr id="5" name="right-head">
            <a:extLst xmlns:a="http://schemas.openxmlformats.org/drawingml/2006/main">
              <a:ext uri="{FF2B5EF4-FFF2-40B4-BE49-F238E27FC236}">
                <a16:creationId xmlns:a16="http://schemas.microsoft.com/office/drawing/2014/main" id="{A0A5838E-B778-4F07-9E9B-00D9A4AA4E19}"/>
              </a:ext>
            </a:extLst>
          </p:cNvPr>
          <p:cNvSpPr>
            <a:spLocks xmlns:a="http://schemas.openxmlformats.org/drawingml/2006/main" noGrp="1"/>
          </p:cNvSpPr>
          <p:nvPr/>
        </p:nvSpPr>
        <p:spPr>
          <a:xfrm xmlns:a="http://schemas.openxmlformats.org/drawingml/2006/main">
            <a:off x="6429375" y="1857375"/>
            <a:ext cx="50768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Added for this exercise</a:t>
            </a:r>
          </a:p>
        </p:txBody>
      </p:sp>
      <p:sp>
        <p:nvSpPr>
          <p:cNvPr id="6" name="right">
            <a:extLst xmlns:a="http://schemas.openxmlformats.org/drawingml/2006/main">
              <a:ext uri="{FF2B5EF4-FFF2-40B4-BE49-F238E27FC236}">
                <a16:creationId xmlns:a16="http://schemas.microsoft.com/office/drawing/2014/main" id="{9D0DB81F-16C2-48D8-8E5C-052B902CA80D}"/>
              </a:ext>
            </a:extLst>
          </p:cNvPr>
          <p:cNvSpPr>
            <a:spLocks xmlns:a="http://schemas.openxmlformats.org/drawingml/2006/main" noGrp="1"/>
          </p:cNvSpPr>
          <p:nvPr/>
        </p:nvSpPr>
        <p:spPr>
          <a:xfrm xmlns:a="http://schemas.openxmlformats.org/drawingml/2006/main">
            <a:off x="6429375" y="2686050"/>
            <a:ext cx="507682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HNetPay PHP exposure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Provider and monitoring records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Recovery test results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Classroom rating conventions</a:t>
            </a:r>
          </a:p>
        </p:txBody>
      </p:sp>
    </p:spTree>
    <p:extLst>
      <p:ext uri="{BB962C8B-B14F-4D97-AF65-F5344CB8AC3E}">
        <p14:creationId xmlns:p14="http://schemas.microsoft.com/office/powerpoint/2010/main" val="357946286"/>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98723D3-A827-4E67-9F82-4A49DAFBC9C4}"/>
              </a:ext>
            </a:extLst>
          </p:cNvPr>
          <p:cNvCxnSpPr>
            <a:stCxn xmlns:a="http://schemas.openxmlformats.org/drawingml/2006/main" id="6" idx="2"/>
            <a:endCxn xmlns:a="http://schemas.openxmlformats.org/drawingml/2006/main" id="10" idx="0"/>
          </p:cNvCxnSpPr>
          <p:nvPr/>
        </p:nvCxnSpPr>
        <p:spPr>
          <a:xfrm xmlns:a="http://schemas.openxmlformats.org/drawingml/2006/main" flipH="1">
            <a:off x="8763000" y="3333750"/>
            <a:ext cx="1333500" cy="1000125"/>
          </a:xfrm>
          <a:prstGeom xmlns:a="http://schemas.openxmlformats.org/drawingml/2006/main" prst="bentConnector4">
            <a:avLst>
              <a:gd name="adj1" fmla="val 0"/>
              <a:gd name="adj2" fmla="val 50000"/>
            </a:avLst>
          </a:prstGeom>
          <a:ln xmlns:a="http://schemas.openxmlformats.org/drawingml/2006/main" w="28575">
            <a:solidFill>
              <a:srgbClr val="156C68"/>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135AE3EE-FA21-45BC-81C8-3A533285AC0C}"/>
              </a:ext>
            </a:extLst>
          </p:cNvPr>
          <p:cNvCxnSpPr>
            <a:stCxn xmlns:a="http://schemas.openxmlformats.org/drawingml/2006/main" id="5" idx="2"/>
            <a:endCxn xmlns:a="http://schemas.openxmlformats.org/drawingml/2006/main" id="10" idx="0"/>
          </p:cNvCxnSpPr>
          <p:nvPr/>
        </p:nvCxnSpPr>
        <p:spPr>
          <a:xfrm xmlns:a="http://schemas.openxmlformats.org/drawingml/2006/main">
            <a:off x="7067550" y="3333750"/>
            <a:ext cx="1695450" cy="1000125"/>
          </a:xfrm>
          <a:prstGeom xmlns:a="http://schemas.openxmlformats.org/drawingml/2006/main" prst="bentConnector4">
            <a:avLst>
              <a:gd name="adj1" fmla="val 0"/>
              <a:gd name="adj2" fmla="val 50000"/>
            </a:avLst>
          </a:prstGeom>
          <a:ln xmlns:a="http://schemas.openxmlformats.org/drawingml/2006/main" w="28575">
            <a:solidFill>
              <a:srgbClr val="156C68"/>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591C162-1A3F-4D83-A64A-A9B149D47A58}"/>
              </a:ext>
            </a:extLst>
          </p:cNvPr>
          <p:cNvCxnSpPr>
            <a:stCxn xmlns:a="http://schemas.openxmlformats.org/drawingml/2006/main" id="5" idx="3"/>
            <a:endCxn xmlns:a="http://schemas.openxmlformats.org/drawingml/2006/main" id="6" idx="1"/>
          </p:cNvCxnSpPr>
          <p:nvPr/>
        </p:nvCxnSpPr>
        <p:spPr>
          <a:xfrm xmlns:a="http://schemas.openxmlformats.org/drawingml/2006/main">
            <a:off x="8115300" y="2857500"/>
            <a:ext cx="57150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7E6F6EE-7ABF-48A1-9AB0-747241ABBA58}"/>
              </a:ext>
            </a:extLst>
          </p:cNvPr>
          <p:cNvCxnSpPr>
            <a:stCxn xmlns:a="http://schemas.openxmlformats.org/drawingml/2006/main" id="4" idx="3"/>
            <a:endCxn xmlns:a="http://schemas.openxmlformats.org/drawingml/2006/main" id="5" idx="1"/>
          </p:cNvCxnSpPr>
          <p:nvPr/>
        </p:nvCxnSpPr>
        <p:spPr>
          <a:xfrm xmlns:a="http://schemas.openxmlformats.org/drawingml/2006/main">
            <a:off x="5448300" y="2857500"/>
            <a:ext cx="57150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548DAB09-B531-419A-8D5D-C9F2F86EC790}"/>
              </a:ext>
            </a:extLst>
          </p:cNvPr>
          <p:cNvCxnSpPr>
            <a:stCxn xmlns:a="http://schemas.openxmlformats.org/drawingml/2006/main" id="3" idx="3"/>
            <a:endCxn xmlns:a="http://schemas.openxmlformats.org/drawingml/2006/main" id="4" idx="1"/>
          </p:cNvCxnSpPr>
          <p:nvPr/>
        </p:nvCxnSpPr>
        <p:spPr>
          <a:xfrm xmlns:a="http://schemas.openxmlformats.org/drawingml/2006/main">
            <a:off x="2781300" y="2857500"/>
            <a:ext cx="57150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4" name="title">
            <a:extLst xmlns:a="http://schemas.openxmlformats.org/drawingml/2006/main">
              <a:ext uri="{FF2B5EF4-FFF2-40B4-BE49-F238E27FC236}">
                <a16:creationId xmlns:a16="http://schemas.microsoft.com/office/drawing/2014/main" id="{C9D996C7-504C-4A85-9769-CD1EA336EB6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HNetPay dependency and decision boundaries</a:t>
            </a:r>
          </a:p>
        </p:txBody>
      </p:sp>
      <p:sp>
        <p:nvSpPr>
          <p:cNvPr id="2" name="footer">
            <a:extLst xmlns:a="http://schemas.openxmlformats.org/drawingml/2006/main">
              <a:ext uri="{FF2B5EF4-FFF2-40B4-BE49-F238E27FC236}">
                <a16:creationId xmlns:a16="http://schemas.microsoft.com/office/drawing/2014/main" id="{3759EDF1-E7EB-4731-93F7-DDE16FE2B45C}"/>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03</a:t>
            </a:r>
          </a:p>
        </p:txBody>
      </p:sp>
      <p:sp>
        <p:nvSpPr>
          <p:cNvPr id="3" name="Customer">
            <a:extLst xmlns:a="http://schemas.openxmlformats.org/drawingml/2006/main">
              <a:ext uri="{FF2B5EF4-FFF2-40B4-BE49-F238E27FC236}">
                <a16:creationId xmlns:a16="http://schemas.microsoft.com/office/drawing/2014/main" id="{3B39F237-9D9D-46A5-9007-49CD12AFE1CB}"/>
              </a:ext>
            </a:extLst>
          </p:cNvPr>
          <p:cNvSpPr>
            <a:spLocks xmlns:a="http://schemas.openxmlformats.org/drawingml/2006/main" noGrp="1"/>
          </p:cNvSpPr>
          <p:nvPr/>
        </p:nvSpPr>
        <p:spPr>
          <a:xfrm xmlns:a="http://schemas.openxmlformats.org/drawingml/2006/main">
            <a:off x="685800" y="2381250"/>
            <a:ext cx="2095500" cy="95250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Customer</a:t>
            </a:r>
          </a:p>
        </p:txBody>
      </p:sp>
      <p:sp>
        <p:nvSpPr>
          <p:cNvPr id="4" name="Edge / proxy">
            <a:extLst xmlns:a="http://schemas.openxmlformats.org/drawingml/2006/main">
              <a:ext uri="{FF2B5EF4-FFF2-40B4-BE49-F238E27FC236}">
                <a16:creationId xmlns:a16="http://schemas.microsoft.com/office/drawing/2014/main" id="{0E84562C-C683-4D8C-9475-D5C0A935B876}"/>
              </a:ext>
            </a:extLst>
          </p:cNvPr>
          <p:cNvSpPr>
            <a:spLocks xmlns:a="http://schemas.openxmlformats.org/drawingml/2006/main" noGrp="1"/>
          </p:cNvSpPr>
          <p:nvPr/>
        </p:nvSpPr>
        <p:spPr>
          <a:xfrm xmlns:a="http://schemas.openxmlformats.org/drawingml/2006/main">
            <a:off x="3352800" y="2381250"/>
            <a:ext cx="2095500" cy="95250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Edge / proxy</a:t>
            </a:r>
          </a:p>
        </p:txBody>
      </p:sp>
      <p:sp>
        <p:nvSpPr>
          <p:cNvPr id="5" name="PHP runtime">
            <a:extLst xmlns:a="http://schemas.openxmlformats.org/drawingml/2006/main">
              <a:ext uri="{FF2B5EF4-FFF2-40B4-BE49-F238E27FC236}">
                <a16:creationId xmlns:a16="http://schemas.microsoft.com/office/drawing/2014/main" id="{0C7D3E8D-F67E-41D0-8CE1-44539FB4D88A}"/>
              </a:ext>
            </a:extLst>
          </p:cNvPr>
          <p:cNvSpPr>
            <a:spLocks xmlns:a="http://schemas.openxmlformats.org/drawingml/2006/main" noGrp="1"/>
          </p:cNvSpPr>
          <p:nvPr/>
        </p:nvSpPr>
        <p:spPr>
          <a:xfrm xmlns:a="http://schemas.openxmlformats.org/drawingml/2006/main">
            <a:off x="6019800" y="2381250"/>
            <a:ext cx="2095500" cy="95250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PHP runtime</a:t>
            </a:r>
          </a:p>
        </p:txBody>
      </p:sp>
      <p:sp>
        <p:nvSpPr>
          <p:cNvPr id="6" name="HNetPay service">
            <a:extLst xmlns:a="http://schemas.openxmlformats.org/drawingml/2006/main">
              <a:ext uri="{FF2B5EF4-FFF2-40B4-BE49-F238E27FC236}">
                <a16:creationId xmlns:a16="http://schemas.microsoft.com/office/drawing/2014/main" id="{EE6E991F-2FE1-4E5F-965E-FFBCA7FFD1AD}"/>
              </a:ext>
            </a:extLst>
          </p:cNvPr>
          <p:cNvSpPr>
            <a:spLocks xmlns:a="http://schemas.openxmlformats.org/drawingml/2006/main" noGrp="1"/>
          </p:cNvSpPr>
          <p:nvPr/>
        </p:nvSpPr>
        <p:spPr>
          <a:xfrm xmlns:a="http://schemas.openxmlformats.org/drawingml/2006/main">
            <a:off x="8686800" y="2381250"/>
            <a:ext cx="2819400" cy="95250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HNetPay service</a:t>
            </a:r>
          </a:p>
        </p:txBody>
      </p:sp>
      <p:sp>
        <p:nvSpPr>
          <p:cNvPr id="10" name="Logs and authorized response">
            <a:extLst xmlns:a="http://schemas.openxmlformats.org/drawingml/2006/main">
              <a:ext uri="{FF2B5EF4-FFF2-40B4-BE49-F238E27FC236}">
                <a16:creationId xmlns:a16="http://schemas.microsoft.com/office/drawing/2014/main" id="{55CC2B24-16B8-4BED-B3CF-986E71CDFF7B}"/>
              </a:ext>
            </a:extLst>
          </p:cNvPr>
          <p:cNvSpPr>
            <a:spLocks xmlns:a="http://schemas.openxmlformats.org/drawingml/2006/main" noGrp="1"/>
          </p:cNvSpPr>
          <p:nvPr/>
        </p:nvSpPr>
        <p:spPr>
          <a:xfrm xmlns:a="http://schemas.openxmlformats.org/drawingml/2006/main">
            <a:off x="6019800" y="4333875"/>
            <a:ext cx="5486400" cy="8572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Logs and authorized response</a:t>
            </a:r>
          </a:p>
        </p:txBody>
      </p:sp>
      <p:sp>
        <p:nvSpPr>
          <p:cNvPr id="13" name="caption">
            <a:extLst xmlns:a="http://schemas.openxmlformats.org/drawingml/2006/main">
              <a:ext uri="{FF2B5EF4-FFF2-40B4-BE49-F238E27FC236}">
                <a16:creationId xmlns:a16="http://schemas.microsoft.com/office/drawing/2014/main" id="{D24D7E5A-8AE4-4084-8797-EB61B2EE0F18}"/>
              </a:ext>
            </a:extLst>
          </p:cNvPr>
          <p:cNvSpPr>
            <a:spLocks xmlns:a="http://schemas.openxmlformats.org/drawingml/2006/main" noGrp="1"/>
          </p:cNvSpPr>
          <p:nvPr/>
        </p:nvSpPr>
        <p:spPr>
          <a:xfrm xmlns:a="http://schemas.openxmlformats.org/drawingml/2006/main">
            <a:off x="685800" y="147637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F40"/>
                </a:solidFill>
                <a:latin typeface="DejaVu Sans"/>
                <a:ea typeface="DejaVu Sans"/>
                <a:cs typeface="DejaVu Sans"/>
              </a:defRPr>
            </a:defPPr>
            <a:lvl1pPr>
              <a:defRPr sz="1950" b="0">
                <a:solidFill>
                  <a:srgbClr val="102F40"/>
                </a:solidFill>
                <a:latin typeface="DejaVu Sans"/>
                <a:ea typeface="DejaVu Sans"/>
                <a:cs typeface="DejaVu Sans"/>
              </a:defRPr>
            </a:lvl1pPr>
            <a:lvl2pPr>
              <a:defRPr sz="1950" b="0">
                <a:solidFill>
                  <a:srgbClr val="102F40"/>
                </a:solidFill>
                <a:latin typeface="DejaVu Sans"/>
                <a:ea typeface="DejaVu Sans"/>
                <a:cs typeface="DejaVu Sans"/>
              </a:defRPr>
            </a:lvl2pPr>
            <a:lvl3pPr>
              <a:defRPr sz="1950" b="0">
                <a:solidFill>
                  <a:srgbClr val="102F40"/>
                </a:solidFill>
                <a:latin typeface="DejaVu Sans"/>
                <a:ea typeface="DejaVu Sans"/>
                <a:cs typeface="DejaVu Sans"/>
              </a:defRPr>
            </a:lvl3pPr>
            <a:lvl4pPr>
              <a:defRPr sz="1950" b="0">
                <a:solidFill>
                  <a:srgbClr val="102F40"/>
                </a:solidFill>
                <a:latin typeface="DejaVu Sans"/>
                <a:ea typeface="DejaVu Sans"/>
                <a:cs typeface="DejaVu Sans"/>
              </a:defRPr>
            </a:lvl4pPr>
            <a:lvl5pPr>
              <a:defRPr sz="1950" b="0">
                <a:solidFill>
                  <a:srgbClr val="102F40"/>
                </a:solidFill>
                <a:latin typeface="DejaVu Sans"/>
                <a:ea typeface="DejaVu Sans"/>
                <a:cs typeface="DejaVu Sans"/>
              </a:defRPr>
            </a:lvl5pPr>
            <a:lvl6pPr>
              <a:defRPr sz="1950" b="0">
                <a:solidFill>
                  <a:srgbClr val="102F40"/>
                </a:solidFill>
                <a:latin typeface="DejaVu Sans"/>
                <a:ea typeface="DejaVu Sans"/>
                <a:cs typeface="DejaVu Sans"/>
              </a:defRPr>
            </a:lvl6pPr>
            <a:lvl7pPr>
              <a:defRPr sz="1950" b="0">
                <a:solidFill>
                  <a:srgbClr val="102F40"/>
                </a:solidFill>
                <a:latin typeface="DejaVu Sans"/>
                <a:ea typeface="DejaVu Sans"/>
                <a:cs typeface="DejaVu Sans"/>
              </a:defRPr>
            </a:lvl7pPr>
            <a:lvl8pPr>
              <a:defRPr sz="1950" b="0">
                <a:solidFill>
                  <a:srgbClr val="102F40"/>
                </a:solidFill>
                <a:latin typeface="DejaVu Sans"/>
                <a:ea typeface="DejaVu Sans"/>
                <a:cs typeface="DejaVu Sans"/>
              </a:defRPr>
            </a:lvl8pPr>
            <a:lvl9pPr>
              <a:defRPr sz="1950" b="0">
                <a:solidFill>
                  <a:srgbClr val="102F40"/>
                </a:solidFill>
                <a:latin typeface="DejaVu Sans"/>
                <a:ea typeface="DejaVu Sans"/>
                <a:cs typeface="DejaVu Sans"/>
              </a:defRPr>
            </a:lvl9pPr>
          </a:lstStyle>
          <a:p xmlns:a="http://schemas.openxmlformats.org/drawingml/2006/main">
            <a:pPr>
              <a:defRPr sz="1950" b="0">
                <a:solidFill>
                  <a:srgbClr val="102F40"/>
                </a:solidFill>
                <a:latin typeface="DejaVu Sans"/>
                <a:ea typeface="DejaVu Sans"/>
                <a:cs typeface="DejaVu Sans"/>
              </a:defRPr>
            </a:pPr>
            <a:r>
              <a:rPr sz="1950" b="0">
                <a:solidFill>
                  <a:srgbClr val="102F40"/>
                </a:solidFill>
                <a:latin typeface="DejaVu Sans"/>
                <a:ea typeface="DejaVu Sans"/>
                <a:cs typeface="DejaVu Sans"/>
              </a:rPr>
              <a:t>Hypothetical route for the exercise HNetPay service</a:t>
            </a:r>
          </a:p>
        </p:txBody>
      </p:sp>
    </p:spTree>
    <p:extLst>
      <p:ext uri="{BB962C8B-B14F-4D97-AF65-F5344CB8AC3E}">
        <p14:creationId xmlns:p14="http://schemas.microsoft.com/office/powerpoint/2010/main" val="232944894"/>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F4F78E8-B94A-4A03-951D-602C753F9ED7}"/>
              </a:ext>
            </a:extLst>
          </p:cNvPr>
          <p:cNvCxnSpPr>
            <a:stCxn xmlns:a="http://schemas.openxmlformats.org/drawingml/2006/main" id="5" idx="3"/>
            <a:endCxn xmlns:a="http://schemas.openxmlformats.org/drawingml/2006/main" id="6" idx="1"/>
          </p:cNvCxnSpPr>
          <p:nvPr/>
        </p:nvCxnSpPr>
        <p:spPr>
          <a:xfrm xmlns:a="http://schemas.openxmlformats.org/drawingml/2006/main">
            <a:off x="8710613" y="3095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2072D3BD-2537-490B-924F-B9571A7024E5}"/>
              </a:ext>
            </a:extLst>
          </p:cNvPr>
          <p:cNvCxnSpPr>
            <a:stCxn xmlns:a="http://schemas.openxmlformats.org/drawingml/2006/main" id="4" idx="3"/>
            <a:endCxn xmlns:a="http://schemas.openxmlformats.org/drawingml/2006/main" id="5" idx="1"/>
          </p:cNvCxnSpPr>
          <p:nvPr/>
        </p:nvCxnSpPr>
        <p:spPr>
          <a:xfrm xmlns:a="http://schemas.openxmlformats.org/drawingml/2006/main">
            <a:off x="5915026" y="3095625"/>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A5709D0B-6353-4588-979C-C0D95181C9B3}"/>
              </a:ext>
            </a:extLst>
          </p:cNvPr>
          <p:cNvCxnSpPr>
            <a:stCxn xmlns:a="http://schemas.openxmlformats.org/drawingml/2006/main" id="3" idx="3"/>
            <a:endCxn xmlns:a="http://schemas.openxmlformats.org/drawingml/2006/main" id="4" idx="1"/>
          </p:cNvCxnSpPr>
          <p:nvPr/>
        </p:nvCxnSpPr>
        <p:spPr>
          <a:xfrm xmlns:a="http://schemas.openxmlformats.org/drawingml/2006/main">
            <a:off x="3119438" y="3095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1" name="title">
            <a:extLst xmlns:a="http://schemas.openxmlformats.org/drawingml/2006/main">
              <a:ext uri="{FF2B5EF4-FFF2-40B4-BE49-F238E27FC236}">
                <a16:creationId xmlns:a16="http://schemas.microsoft.com/office/drawing/2014/main" id="{4B220D99-1AFC-4169-BC21-7186E400BA3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A runtime weakness beneath application behavior</a:t>
            </a:r>
          </a:p>
        </p:txBody>
      </p:sp>
      <p:sp>
        <p:nvSpPr>
          <p:cNvPr id="2" name="footer">
            <a:extLst xmlns:a="http://schemas.openxmlformats.org/drawingml/2006/main">
              <a:ext uri="{FF2B5EF4-FFF2-40B4-BE49-F238E27FC236}">
                <a16:creationId xmlns:a16="http://schemas.microsoft.com/office/drawing/2014/main" id="{33EC80EF-4F38-4FE7-95B9-7F567645EC09}"/>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04</a:t>
            </a:r>
          </a:p>
        </p:txBody>
      </p:sp>
      <p:sp>
        <p:nvSpPr>
          <p:cNvPr id="3" name="Request starts">
            <a:extLst xmlns:a="http://schemas.openxmlformats.org/drawingml/2006/main">
              <a:ext uri="{FF2B5EF4-FFF2-40B4-BE49-F238E27FC236}">
                <a16:creationId xmlns:a16="http://schemas.microsoft.com/office/drawing/2014/main" id="{84C4F1DA-DA4E-4360-B905-53F44ED85CF5}"/>
              </a:ext>
            </a:extLst>
          </p:cNvPr>
          <p:cNvSpPr>
            <a:spLocks xmlns:a="http://schemas.openxmlformats.org/drawingml/2006/main" noGrp="1"/>
          </p:cNvSpPr>
          <p:nvPr/>
        </p:nvSpPr>
        <p:spPr>
          <a:xfrm xmlns:a="http://schemas.openxmlformats.org/drawingml/2006/main">
            <a:off x="685800" y="2571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Request starts</a:t>
            </a:r>
          </a:p>
        </p:txBody>
      </p:sp>
      <p:sp>
        <p:nvSpPr>
          <p:cNvPr id="4" name="Fatal error&#10;interrupts work">
            <a:extLst xmlns:a="http://schemas.openxmlformats.org/drawingml/2006/main">
              <a:ext uri="{FF2B5EF4-FFF2-40B4-BE49-F238E27FC236}">
                <a16:creationId xmlns:a16="http://schemas.microsoft.com/office/drawing/2014/main" id="{A4672221-74EA-433F-87A7-D5D3CEA3DBE4}"/>
              </a:ext>
            </a:extLst>
          </p:cNvPr>
          <p:cNvSpPr>
            <a:spLocks xmlns:a="http://schemas.openxmlformats.org/drawingml/2006/main" noGrp="1"/>
          </p:cNvSpPr>
          <p:nvPr/>
        </p:nvSpPr>
        <p:spPr>
          <a:xfrm xmlns:a="http://schemas.openxmlformats.org/drawingml/2006/main">
            <a:off x="3481388" y="2571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Fatal error</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interrupts work</a:t>
            </a:r>
          </a:p>
        </p:txBody>
      </p:sp>
      <p:sp>
        <p:nvSpPr>
          <p:cNvPr id="5" name="Invalid state&#10;survives">
            <a:extLst xmlns:a="http://schemas.openxmlformats.org/drawingml/2006/main">
              <a:ext uri="{FF2B5EF4-FFF2-40B4-BE49-F238E27FC236}">
                <a16:creationId xmlns:a16="http://schemas.microsoft.com/office/drawing/2014/main" id="{67461BF0-E14F-411E-9E94-655E2780A9C5}"/>
              </a:ext>
            </a:extLst>
          </p:cNvPr>
          <p:cNvSpPr>
            <a:spLocks xmlns:a="http://schemas.openxmlformats.org/drawingml/2006/main" noGrp="1"/>
          </p:cNvSpPr>
          <p:nvPr/>
        </p:nvSpPr>
        <p:spPr>
          <a:xfrm xmlns:a="http://schemas.openxmlformats.org/drawingml/2006/main">
            <a:off x="6276975" y="2571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Invalid state</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survives</a:t>
            </a:r>
          </a:p>
        </p:txBody>
      </p:sp>
      <p:sp>
        <p:nvSpPr>
          <p:cNvPr id="6" name="Later request&#10;uses stale state">
            <a:extLst xmlns:a="http://schemas.openxmlformats.org/drawingml/2006/main">
              <a:ext uri="{FF2B5EF4-FFF2-40B4-BE49-F238E27FC236}">
                <a16:creationId xmlns:a16="http://schemas.microsoft.com/office/drawing/2014/main" id="{911BAE5D-0C48-4CEB-9834-382497AD9EB6}"/>
              </a:ext>
            </a:extLst>
          </p:cNvPr>
          <p:cNvSpPr>
            <a:spLocks xmlns:a="http://schemas.openxmlformats.org/drawingml/2006/main" noGrp="1"/>
          </p:cNvSpPr>
          <p:nvPr/>
        </p:nvSpPr>
        <p:spPr>
          <a:xfrm xmlns:a="http://schemas.openxmlformats.org/drawingml/2006/main">
            <a:off x="9072563" y="2571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Later request</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uses stale state</a:t>
            </a:r>
          </a:p>
        </p:txBody>
      </p:sp>
      <p:sp>
        <p:nvSpPr>
          <p:cNvPr id="10" name="caption">
            <a:extLst xmlns:a="http://schemas.openxmlformats.org/drawingml/2006/main">
              <a:ext uri="{FF2B5EF4-FFF2-40B4-BE49-F238E27FC236}">
                <a16:creationId xmlns:a16="http://schemas.microsoft.com/office/drawing/2014/main" id="{A20DD88D-0085-400F-AB30-844218B7B58D}"/>
              </a:ext>
            </a:extLst>
          </p:cNvPr>
          <p:cNvSpPr>
            <a:spLocks xmlns:a="http://schemas.openxmlformats.org/drawingml/2006/main" noGrp="1"/>
          </p:cNvSpPr>
          <p:nvPr/>
        </p:nvSpPr>
        <p:spPr>
          <a:xfrm xmlns:a="http://schemas.openxmlformats.org/drawingml/2006/main">
            <a:off x="685800" y="44767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F40"/>
                </a:solidFill>
                <a:latin typeface="DejaVu Sans"/>
                <a:ea typeface="DejaVu Sans"/>
                <a:cs typeface="DejaVu Sans"/>
              </a:defRPr>
            </a:defPPr>
            <a:lvl1pPr>
              <a:defRPr sz="1950" b="0">
                <a:solidFill>
                  <a:srgbClr val="102F40"/>
                </a:solidFill>
                <a:latin typeface="DejaVu Sans"/>
                <a:ea typeface="DejaVu Sans"/>
                <a:cs typeface="DejaVu Sans"/>
              </a:defRPr>
            </a:lvl1pPr>
            <a:lvl2pPr>
              <a:defRPr sz="1950" b="0">
                <a:solidFill>
                  <a:srgbClr val="102F40"/>
                </a:solidFill>
                <a:latin typeface="DejaVu Sans"/>
                <a:ea typeface="DejaVu Sans"/>
                <a:cs typeface="DejaVu Sans"/>
              </a:defRPr>
            </a:lvl2pPr>
            <a:lvl3pPr>
              <a:defRPr sz="1950" b="0">
                <a:solidFill>
                  <a:srgbClr val="102F40"/>
                </a:solidFill>
                <a:latin typeface="DejaVu Sans"/>
                <a:ea typeface="DejaVu Sans"/>
                <a:cs typeface="DejaVu Sans"/>
              </a:defRPr>
            </a:lvl3pPr>
            <a:lvl4pPr>
              <a:defRPr sz="1950" b="0">
                <a:solidFill>
                  <a:srgbClr val="102F40"/>
                </a:solidFill>
                <a:latin typeface="DejaVu Sans"/>
                <a:ea typeface="DejaVu Sans"/>
                <a:cs typeface="DejaVu Sans"/>
              </a:defRPr>
            </a:lvl4pPr>
            <a:lvl5pPr>
              <a:defRPr sz="1950" b="0">
                <a:solidFill>
                  <a:srgbClr val="102F40"/>
                </a:solidFill>
                <a:latin typeface="DejaVu Sans"/>
                <a:ea typeface="DejaVu Sans"/>
                <a:cs typeface="DejaVu Sans"/>
              </a:defRPr>
            </a:lvl5pPr>
            <a:lvl6pPr>
              <a:defRPr sz="1950" b="0">
                <a:solidFill>
                  <a:srgbClr val="102F40"/>
                </a:solidFill>
                <a:latin typeface="DejaVu Sans"/>
                <a:ea typeface="DejaVu Sans"/>
                <a:cs typeface="DejaVu Sans"/>
              </a:defRPr>
            </a:lvl6pPr>
            <a:lvl7pPr>
              <a:defRPr sz="1950" b="0">
                <a:solidFill>
                  <a:srgbClr val="102F40"/>
                </a:solidFill>
                <a:latin typeface="DejaVu Sans"/>
                <a:ea typeface="DejaVu Sans"/>
                <a:cs typeface="DejaVu Sans"/>
              </a:defRPr>
            </a:lvl7pPr>
            <a:lvl8pPr>
              <a:defRPr sz="1950" b="0">
                <a:solidFill>
                  <a:srgbClr val="102F40"/>
                </a:solidFill>
                <a:latin typeface="DejaVu Sans"/>
                <a:ea typeface="DejaVu Sans"/>
                <a:cs typeface="DejaVu Sans"/>
              </a:defRPr>
            </a:lvl8pPr>
            <a:lvl9pPr>
              <a:defRPr sz="1950" b="0">
                <a:solidFill>
                  <a:srgbClr val="102F40"/>
                </a:solidFill>
                <a:latin typeface="DejaVu Sans"/>
                <a:ea typeface="DejaVu Sans"/>
                <a:cs typeface="DejaVu Sans"/>
              </a:defRPr>
            </a:lvl9pPr>
          </a:lstStyle>
          <a:p xmlns:a="http://schemas.openxmlformats.org/drawingml/2006/main">
            <a:pPr>
              <a:defRPr sz="1950" b="0">
                <a:solidFill>
                  <a:srgbClr val="102F40"/>
                </a:solidFill>
                <a:latin typeface="DejaVu Sans"/>
                <a:ea typeface="DejaVu Sans"/>
                <a:cs typeface="DejaVu Sans"/>
              </a:defRPr>
            </a:pPr>
            <a:r>
              <a:rPr sz="1950" b="0">
                <a:solidFill>
                  <a:srgbClr val="102F40"/>
                </a:solidFill>
                <a:latin typeface="DejaVu Sans"/>
                <a:ea typeface="DejaVu Sans"/>
                <a:cs typeface="DejaVu Sans"/>
              </a:rPr>
              <a:t>A dependency weakness can change the assessment scope.</a:t>
            </a:r>
          </a:p>
          <a:p xmlns:a="http://schemas.openxmlformats.org/drawingml/2006/main">
            <a:pPr>
              <a:defRPr sz="1950" b="0">
                <a:solidFill>
                  <a:srgbClr val="102F40"/>
                </a:solidFill>
                <a:latin typeface="DejaVu Sans"/>
                <a:ea typeface="DejaVu Sans"/>
                <a:cs typeface="DejaVu Sans"/>
              </a:defRPr>
            </a:pPr>
            <a:r>
              <a:rPr sz="1950" b="0">
                <a:solidFill>
                  <a:srgbClr val="102F40"/>
                </a:solidFill>
                <a:latin typeface="DejaVu Sans"/>
                <a:ea typeface="DejaVu Sans"/>
                <a:cs typeface="DejaVu Sans"/>
              </a:rPr>
              <a:t>The intern documents exposure and evidence needs.</a:t>
            </a:r>
          </a:p>
        </p:txBody>
      </p:sp>
    </p:spTree>
    <p:extLst>
      <p:ext uri="{BB962C8B-B14F-4D97-AF65-F5344CB8AC3E}">
        <p14:creationId xmlns:p14="http://schemas.microsoft.com/office/powerpoint/2010/main" val="645889917"/>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BAB84B-E316-4D9E-B376-4F2D70575FA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Layers support different risk decisions</a:t>
            </a:r>
          </a:p>
        </p:txBody>
      </p:sp>
      <p:sp>
        <p:nvSpPr>
          <p:cNvPr id="2" name="footer">
            <a:extLst xmlns:a="http://schemas.openxmlformats.org/drawingml/2006/main">
              <a:ext uri="{FF2B5EF4-FFF2-40B4-BE49-F238E27FC236}">
                <a16:creationId xmlns:a16="http://schemas.microsoft.com/office/drawing/2014/main" id="{2BA94CDE-3763-489A-9B34-5787F8D458A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05</a:t>
            </a:r>
          </a:p>
        </p:txBody>
      </p:sp>
      <p:graphicFrame>
        <p:nvGraphicFramePr>
          <p:cNvPr id="3" name="">
            <a:extLst xmlns:a="http://schemas.openxmlformats.org/drawingml/2006/main">
              <a:ext uri="{FF2B5EF4-FFF2-40B4-BE49-F238E27FC236}">
                <a16:creationId xmlns:a16="http://schemas.microsoft.com/office/drawing/2014/main" id="{0CFB53AF-E4E2-4435-8CEA-9EF29D9CE42B}"/>
              </a:ext>
            </a:extLst>
          </p:cNvPr>
          <p:cNvGraphicFramePr/>
          <p:nvPr/>
        </p:nvGraphicFramePr>
        <p:xfrm>
          <a:off xmlns:a="http://schemas.openxmlformats.org/drawingml/2006/main" x="685800" y="1762125"/>
          <a:ext xmlns:a="http://schemas.openxmlformats.org/drawingml/2006/main" cx="10820400" cy="3905250"/>
        </p:xfrm>
        <a:graphic xmlns:a="http://schemas.openxmlformats.org/drawingml/2006/main">
          <a:graphicData uri="http://schemas.openxmlformats.org/drawingml/2006/table">
            <a:tbl>
              <a:tblPr/>
              <a:tblGrid>
                <a:gridCol w="3048000"/>
                <a:gridCol w="3905250"/>
                <a:gridCol w="3867150"/>
              </a:tblGrid>
              <a:tr h="650875">
                <a:tc>
                  <a:txBody>
                    <a:bodyPr/>
                    <a:lstStyle/>
                    <a:p>
                      <a:r>
                        <a:rPr sz="1650" b="1">
                          <a:solidFill>
                            <a:srgbClr val="FFFFFF"/>
                          </a:solidFill>
                          <a:latin typeface="DejaVu Sans"/>
                          <a:ea typeface="DejaVu Sans"/>
                          <a:cs typeface="DejaVu Sans"/>
                        </a:rPr>
                        <a:t>Layer / response</a:t>
                      </a:r>
                    </a:p>
                  </a:txBody>
                  <a:tcPr marL="91440" marR="91440" marT="45720" marB="45720">
                    <a:solidFill>
                      <a:srgbClr val="102F40"/>
                    </a:solidFill>
                  </a:tcPr>
                </a:tc>
                <a:tc>
                  <a:txBody>
                    <a:bodyPr/>
                    <a:lstStyle/>
                    <a:p>
                      <a:r>
                        <a:rPr sz="1650" b="1">
                          <a:solidFill>
                            <a:srgbClr val="FFFFFF"/>
                          </a:solidFill>
                          <a:latin typeface="DejaVu Sans"/>
                          <a:ea typeface="DejaVu Sans"/>
                          <a:cs typeface="DejaVu Sans"/>
                        </a:rPr>
                        <a:t>Role</a:t>
                      </a:r>
                    </a:p>
                  </a:txBody>
                  <a:tcPr marL="91440" marR="91440" marT="45720" marB="45720">
                    <a:solidFill>
                      <a:srgbClr val="102F40"/>
                    </a:solidFill>
                  </a:tcPr>
                </a:tc>
                <a:tc>
                  <a:txBody>
                    <a:bodyPr/>
                    <a:lstStyle/>
                    <a:p>
                      <a:r>
                        <a:rPr sz="1650" b="1">
                          <a:solidFill>
                            <a:srgbClr val="FFFFFF"/>
                          </a:solidFill>
                          <a:latin typeface="DejaVu Sans"/>
                          <a:ea typeface="DejaVu Sans"/>
                          <a:cs typeface="DejaVu Sans"/>
                        </a:rPr>
                        <a:t>Evidence limit</a:t>
                      </a:r>
                    </a:p>
                  </a:txBody>
                  <a:tcPr marL="91440" marR="91440" marT="45720" marB="45720">
                    <a:solidFill>
                      <a:srgbClr val="102F40"/>
                    </a:solidFill>
                  </a:tcPr>
                </a:tc>
              </a:tr>
              <a:tr h="650875">
                <a:tc>
                  <a:txBody>
                    <a:bodyPr/>
                    <a:lstStyle/>
                    <a:p>
                      <a:r>
                        <a:rPr sz="1650" b="0">
                          <a:solidFill>
                            <a:srgbClr val="102F40"/>
                          </a:solidFill>
                          <a:latin typeface="DejaVu Sans"/>
                          <a:ea typeface="DejaVu Sans"/>
                          <a:cs typeface="DejaVu Sans"/>
                        </a:rPr>
                        <a:t>PHP runtime update</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Repair known engine flaw in scope</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Verify active serving code</a:t>
                      </a:r>
                    </a:p>
                  </a:txBody>
                  <a:tcPr marL="91440" marR="91440" marT="45720" marB="45720">
                    <a:solidFill>
                      <a:srgbClr val="E6EFED"/>
                    </a:solidFill>
                  </a:tcPr>
                </a:tc>
              </a:tr>
              <a:tr h="650875">
                <a:tc>
                  <a:txBody>
                    <a:bodyPr/>
                    <a:lstStyle/>
                    <a:p>
                      <a:r>
                        <a:rPr sz="1650" b="0">
                          <a:solidFill>
                            <a:srgbClr val="102F40"/>
                          </a:solidFill>
                          <a:latin typeface="DejaVu Sans"/>
                          <a:ea typeface="DejaVu Sans"/>
                          <a:cs typeface="DejaVu Sans"/>
                        </a:rPr>
                        <a:t>Edge restriction / filtering</a:t>
                      </a:r>
                    </a:p>
                  </a:txBody>
                  <a:tcPr marL="91440" marR="91440" marT="45720" marB="45720">
                    <a:solidFill>
                      <a:srgbClr val="F6F6F2"/>
                    </a:solidFill>
                  </a:tcPr>
                </a:tc>
                <a:tc>
                  <a:txBody>
                    <a:bodyPr/>
                    <a:lstStyle/>
                    <a:p>
                      <a:r>
                        <a:rPr sz="1650" b="0">
                          <a:solidFill>
                            <a:srgbClr val="102F40"/>
                          </a:solidFill>
                          <a:latin typeface="DejaVu Sans"/>
                          <a:ea typeface="DejaVu Sans"/>
                          <a:cs typeface="DejaVu Sans"/>
                        </a:rPr>
                        <a:t>Reduce selected exposure</a:t>
                      </a:r>
                    </a:p>
                  </a:txBody>
                  <a:tcPr marL="91440" marR="91440" marT="45720" marB="45720">
                    <a:solidFill>
                      <a:srgbClr val="F6F6F2"/>
                    </a:solidFill>
                  </a:tcPr>
                </a:tc>
                <a:tc>
                  <a:txBody>
                    <a:bodyPr/>
                    <a:lstStyle/>
                    <a:p>
                      <a:r>
                        <a:rPr sz="1650" b="0">
                          <a:solidFill>
                            <a:srgbClr val="102F40"/>
                          </a:solidFill>
                          <a:latin typeface="DejaVu Sans"/>
                          <a:ea typeface="DejaVu Sans"/>
                          <a:cs typeface="DejaVu Sans"/>
                        </a:rPr>
                        <a:t>Coverage and availability limits</a:t>
                      </a:r>
                    </a:p>
                  </a:txBody>
                  <a:tcPr marL="91440" marR="91440" marT="45720" marB="45720">
                    <a:solidFill>
                      <a:srgbClr val="F6F6F2"/>
                    </a:solidFill>
                  </a:tcPr>
                </a:tc>
              </a:tr>
              <a:tr h="650875">
                <a:tc>
                  <a:txBody>
                    <a:bodyPr/>
                    <a:lstStyle/>
                    <a:p>
                      <a:r>
                        <a:rPr sz="1650" b="0">
                          <a:solidFill>
                            <a:srgbClr val="102F40"/>
                          </a:solidFill>
                          <a:latin typeface="DejaVu Sans"/>
                          <a:ea typeface="DejaVu Sans"/>
                          <a:cs typeface="DejaVu Sans"/>
                        </a:rPr>
                        <a:t>Least privilege / separation</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Limit consequences</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Does not remove engine flaw</a:t>
                      </a:r>
                    </a:p>
                  </a:txBody>
                  <a:tcPr marL="91440" marR="91440" marT="45720" marB="45720">
                    <a:solidFill>
                      <a:srgbClr val="E6EFED"/>
                    </a:solidFill>
                  </a:tcPr>
                </a:tc>
              </a:tr>
              <a:tr h="650875">
                <a:tc>
                  <a:txBody>
                    <a:bodyPr/>
                    <a:lstStyle/>
                    <a:p>
                      <a:r>
                        <a:rPr sz="1650" b="0">
                          <a:solidFill>
                            <a:srgbClr val="102F40"/>
                          </a:solidFill>
                          <a:latin typeface="DejaVu Sans"/>
                          <a:ea typeface="DejaVu Sans"/>
                          <a:cs typeface="DejaVu Sans"/>
                        </a:rPr>
                        <a:t>Monitoring and response</a:t>
                      </a:r>
                    </a:p>
                  </a:txBody>
                  <a:tcPr marL="91440" marR="91440" marT="45720" marB="45720">
                    <a:solidFill>
                      <a:srgbClr val="F6F6F2"/>
                    </a:solidFill>
                  </a:tcPr>
                </a:tc>
                <a:tc>
                  <a:txBody>
                    <a:bodyPr/>
                    <a:lstStyle/>
                    <a:p>
                      <a:r>
                        <a:rPr sz="1650" b="0">
                          <a:solidFill>
                            <a:srgbClr val="102F40"/>
                          </a:solidFill>
                          <a:latin typeface="DejaVu Sans"/>
                          <a:ea typeface="DejaVu Sans"/>
                          <a:cs typeface="DejaVu Sans"/>
                        </a:rPr>
                        <a:t>Investigate and act</a:t>
                      </a:r>
                    </a:p>
                  </a:txBody>
                  <a:tcPr marL="91440" marR="91440" marT="45720" marB="45720">
                    <a:solidFill>
                      <a:srgbClr val="F6F6F2"/>
                    </a:solidFill>
                  </a:tcPr>
                </a:tc>
                <a:tc>
                  <a:txBody>
                    <a:bodyPr/>
                    <a:lstStyle/>
                    <a:p>
                      <a:r>
                        <a:rPr sz="1650" b="0">
                          <a:solidFill>
                            <a:srgbClr val="102F40"/>
                          </a:solidFill>
                          <a:latin typeface="DejaVu Sans"/>
                          <a:ea typeface="DejaVu Sans"/>
                          <a:cs typeface="DejaVu Sans"/>
                        </a:rPr>
                        <a:t>Alert or silence needs context</a:t>
                      </a:r>
                    </a:p>
                  </a:txBody>
                  <a:tcPr marL="91440" marR="91440" marT="45720" marB="45720">
                    <a:solidFill>
                      <a:srgbClr val="F6F6F2"/>
                    </a:solidFill>
                  </a:tcPr>
                </a:tc>
              </a:tr>
              <a:tr h="650875">
                <a:tc>
                  <a:txBody>
                    <a:bodyPr/>
                    <a:lstStyle/>
                    <a:p>
                      <a:r>
                        <a:rPr sz="1650" b="0">
                          <a:solidFill>
                            <a:srgbClr val="102F40"/>
                          </a:solidFill>
                          <a:latin typeface="DejaVu Sans"/>
                          <a:ea typeface="DejaVu Sans"/>
                          <a:cs typeface="DejaVu Sans"/>
                        </a:rPr>
                        <a:t>Tested recovery</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Restore business capability</a:t>
                      </a:r>
                    </a:p>
                  </a:txBody>
                  <a:tcPr marL="91440" marR="91440" marT="45720" marB="45720">
                    <a:solidFill>
                      <a:srgbClr val="E6EFED"/>
                    </a:solidFill>
                  </a:tcPr>
                </a:tc>
                <a:tc>
                  <a:txBody>
                    <a:bodyPr/>
                    <a:lstStyle/>
                    <a:p>
                      <a:r>
                        <a:rPr sz="1650" b="0">
                          <a:solidFill>
                            <a:srgbClr val="102F40"/>
                          </a:solidFill>
                          <a:latin typeface="DejaVu Sans"/>
                          <a:ea typeface="DejaVu Sans"/>
                          <a:cs typeface="DejaVu Sans"/>
                        </a:rPr>
                        <a:t>Does not prevent initial access</a:t>
                      </a:r>
                    </a:p>
                  </a:txBody>
                  <a:tcPr marL="91440" marR="91440" marT="45720" marB="45720">
                    <a:solidFill>
                      <a:srgbClr val="E6EFED"/>
                    </a:solidFill>
                  </a:tcPr>
                </a:tc>
              </a:tr>
            </a:tbl>
          </a:graphicData>
        </a:graphic>
      </p:graphicFrame>
    </p:spTree>
    <p:extLst>
      <p:ext uri="{BB962C8B-B14F-4D97-AF65-F5344CB8AC3E}">
        <p14:creationId xmlns:p14="http://schemas.microsoft.com/office/powerpoint/2010/main" val="425685605"/>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9156AF87-17CC-42DF-ACA0-C5F1BD4FFA62}"/>
              </a:ext>
            </a:extLst>
          </p:cNvPr>
          <p:cNvCxnSpPr>
            <a:stCxn xmlns:a="http://schemas.openxmlformats.org/drawingml/2006/main" id="12" idx="3"/>
            <a:endCxn xmlns:a="http://schemas.openxmlformats.org/drawingml/2006/main" id="13" idx="1"/>
          </p:cNvCxnSpPr>
          <p:nvPr/>
        </p:nvCxnSpPr>
        <p:spPr>
          <a:xfrm xmlns:a="http://schemas.openxmlformats.org/drawingml/2006/main">
            <a:off x="8710613" y="4238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9BE08BBC-96ED-450B-BE3C-B19CF4E7E71B}"/>
              </a:ext>
            </a:extLst>
          </p:cNvPr>
          <p:cNvCxnSpPr>
            <a:stCxn xmlns:a="http://schemas.openxmlformats.org/drawingml/2006/main" id="11" idx="3"/>
            <a:endCxn xmlns:a="http://schemas.openxmlformats.org/drawingml/2006/main" id="12" idx="1"/>
          </p:cNvCxnSpPr>
          <p:nvPr/>
        </p:nvCxnSpPr>
        <p:spPr>
          <a:xfrm xmlns:a="http://schemas.openxmlformats.org/drawingml/2006/main">
            <a:off x="5915026" y="4238625"/>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B9394238-E619-4576-B520-BE6C6E597E51}"/>
              </a:ext>
            </a:extLst>
          </p:cNvPr>
          <p:cNvCxnSpPr>
            <a:stCxn xmlns:a="http://schemas.openxmlformats.org/drawingml/2006/main" id="10" idx="3"/>
            <a:endCxn xmlns:a="http://schemas.openxmlformats.org/drawingml/2006/main" id="11" idx="1"/>
          </p:cNvCxnSpPr>
          <p:nvPr/>
        </p:nvCxnSpPr>
        <p:spPr>
          <a:xfrm xmlns:a="http://schemas.openxmlformats.org/drawingml/2006/main">
            <a:off x="3119438" y="4238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31508E1-BCE5-45F6-92ED-BBF65293A1AC}"/>
              </a:ext>
            </a:extLst>
          </p:cNvPr>
          <p:cNvCxnSpPr>
            <a:stCxn xmlns:a="http://schemas.openxmlformats.org/drawingml/2006/main" id="5" idx="3"/>
            <a:endCxn xmlns:a="http://schemas.openxmlformats.org/drawingml/2006/main" id="6" idx="1"/>
          </p:cNvCxnSpPr>
          <p:nvPr/>
        </p:nvCxnSpPr>
        <p:spPr>
          <a:xfrm xmlns:a="http://schemas.openxmlformats.org/drawingml/2006/main">
            <a:off x="8710613" y="2476500"/>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107EB6F-3107-4F5C-BBDF-5F6F35BC33C2}"/>
              </a:ext>
            </a:extLst>
          </p:cNvPr>
          <p:cNvCxnSpPr>
            <a:stCxn xmlns:a="http://schemas.openxmlformats.org/drawingml/2006/main" id="4" idx="3"/>
            <a:endCxn xmlns:a="http://schemas.openxmlformats.org/drawingml/2006/main" id="5" idx="1"/>
          </p:cNvCxnSpPr>
          <p:nvPr/>
        </p:nvCxnSpPr>
        <p:spPr>
          <a:xfrm xmlns:a="http://schemas.openxmlformats.org/drawingml/2006/main">
            <a:off x="5915026" y="2476500"/>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B1631033-99DC-46FA-B7D1-D248A3364A64}"/>
              </a:ext>
            </a:extLst>
          </p:cNvPr>
          <p:cNvCxnSpPr>
            <a:stCxn xmlns:a="http://schemas.openxmlformats.org/drawingml/2006/main" id="3" idx="3"/>
            <a:endCxn xmlns:a="http://schemas.openxmlformats.org/drawingml/2006/main" id="4" idx="1"/>
          </p:cNvCxnSpPr>
          <p:nvPr/>
        </p:nvCxnSpPr>
        <p:spPr>
          <a:xfrm xmlns:a="http://schemas.openxmlformats.org/drawingml/2006/main">
            <a:off x="3119438" y="2476500"/>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8" name="title">
            <a:extLst xmlns:a="http://schemas.openxmlformats.org/drawingml/2006/main">
              <a:ext uri="{FF2B5EF4-FFF2-40B4-BE49-F238E27FC236}">
                <a16:creationId xmlns:a16="http://schemas.microsoft.com/office/drawing/2014/main" id="{43462362-C7BE-447F-AEF6-15A4B766C3B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Eight steps produce an intern packet</a:t>
            </a:r>
          </a:p>
        </p:txBody>
      </p:sp>
      <p:sp>
        <p:nvSpPr>
          <p:cNvPr id="2" name="footer">
            <a:extLst xmlns:a="http://schemas.openxmlformats.org/drawingml/2006/main">
              <a:ext uri="{FF2B5EF4-FFF2-40B4-BE49-F238E27FC236}">
                <a16:creationId xmlns:a16="http://schemas.microsoft.com/office/drawing/2014/main" id="{F4C8306D-F230-4093-8F8E-D9CE539DBB04}"/>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06</a:t>
            </a:r>
          </a:p>
        </p:txBody>
      </p:sp>
      <p:sp>
        <p:nvSpPr>
          <p:cNvPr id="3" name="1. Prepare">
            <a:extLst xmlns:a="http://schemas.openxmlformats.org/drawingml/2006/main">
              <a:ext uri="{FF2B5EF4-FFF2-40B4-BE49-F238E27FC236}">
                <a16:creationId xmlns:a16="http://schemas.microsoft.com/office/drawing/2014/main" id="{5B680061-8263-4BAC-BDEF-03F3417288DC}"/>
              </a:ext>
            </a:extLst>
          </p:cNvPr>
          <p:cNvSpPr>
            <a:spLocks xmlns:a="http://schemas.openxmlformats.org/drawingml/2006/main" noGrp="1"/>
          </p:cNvSpPr>
          <p:nvPr/>
        </p:nvSpPr>
        <p:spPr>
          <a:xfrm xmlns:a="http://schemas.openxmlformats.org/drawingml/2006/main">
            <a:off x="685800" y="1952625"/>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1. Prepare</a:t>
            </a:r>
          </a:p>
        </p:txBody>
      </p:sp>
      <p:sp>
        <p:nvSpPr>
          <p:cNvPr id="4" name="2. Assets">
            <a:extLst xmlns:a="http://schemas.openxmlformats.org/drawingml/2006/main">
              <a:ext uri="{FF2B5EF4-FFF2-40B4-BE49-F238E27FC236}">
                <a16:creationId xmlns:a16="http://schemas.microsoft.com/office/drawing/2014/main" id="{1033CB0B-F749-4DCD-9138-AB5F32FE2ECA}"/>
              </a:ext>
            </a:extLst>
          </p:cNvPr>
          <p:cNvSpPr>
            <a:spLocks xmlns:a="http://schemas.openxmlformats.org/drawingml/2006/main" noGrp="1"/>
          </p:cNvSpPr>
          <p:nvPr/>
        </p:nvSpPr>
        <p:spPr>
          <a:xfrm xmlns:a="http://schemas.openxmlformats.org/drawingml/2006/main">
            <a:off x="3481388" y="1952625"/>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2. Assets</a:t>
            </a:r>
          </a:p>
        </p:txBody>
      </p:sp>
      <p:sp>
        <p:nvSpPr>
          <p:cNvPr id="5" name="3. Risk statement">
            <a:extLst xmlns:a="http://schemas.openxmlformats.org/drawingml/2006/main">
              <a:ext uri="{FF2B5EF4-FFF2-40B4-BE49-F238E27FC236}">
                <a16:creationId xmlns:a16="http://schemas.microsoft.com/office/drawing/2014/main" id="{124D138F-4658-4019-B2F0-5BAD7F599EAD}"/>
              </a:ext>
            </a:extLst>
          </p:cNvPr>
          <p:cNvSpPr>
            <a:spLocks xmlns:a="http://schemas.openxmlformats.org/drawingml/2006/main" noGrp="1"/>
          </p:cNvSpPr>
          <p:nvPr/>
        </p:nvSpPr>
        <p:spPr>
          <a:xfrm xmlns:a="http://schemas.openxmlformats.org/drawingml/2006/main">
            <a:off x="6276975" y="1952625"/>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3. Risk statement</a:t>
            </a:r>
          </a:p>
        </p:txBody>
      </p:sp>
      <p:sp>
        <p:nvSpPr>
          <p:cNvPr id="6" name="4. Assess">
            <a:extLst xmlns:a="http://schemas.openxmlformats.org/drawingml/2006/main">
              <a:ext uri="{FF2B5EF4-FFF2-40B4-BE49-F238E27FC236}">
                <a16:creationId xmlns:a16="http://schemas.microsoft.com/office/drawing/2014/main" id="{C299AF12-14CF-487C-B5D9-1AAFA2426099}"/>
              </a:ext>
            </a:extLst>
          </p:cNvPr>
          <p:cNvSpPr>
            <a:spLocks xmlns:a="http://schemas.openxmlformats.org/drawingml/2006/main" noGrp="1"/>
          </p:cNvSpPr>
          <p:nvPr/>
        </p:nvSpPr>
        <p:spPr>
          <a:xfrm xmlns:a="http://schemas.openxmlformats.org/drawingml/2006/main">
            <a:off x="9072563" y="1952625"/>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4. Assess</a:t>
            </a:r>
          </a:p>
        </p:txBody>
      </p:sp>
      <p:sp>
        <p:nvSpPr>
          <p:cNvPr id="10" name="5. Applicability">
            <a:extLst xmlns:a="http://schemas.openxmlformats.org/drawingml/2006/main">
              <a:ext uri="{FF2B5EF4-FFF2-40B4-BE49-F238E27FC236}">
                <a16:creationId xmlns:a16="http://schemas.microsoft.com/office/drawing/2014/main" id="{DBE5E72D-FD86-4711-AF16-04DF3ADE67DD}"/>
              </a:ext>
            </a:extLst>
          </p:cNvPr>
          <p:cNvSpPr>
            <a:spLocks xmlns:a="http://schemas.openxmlformats.org/drawingml/2006/main" noGrp="1"/>
          </p:cNvSpPr>
          <p:nvPr/>
        </p:nvSpPr>
        <p:spPr>
          <a:xfrm xmlns:a="http://schemas.openxmlformats.org/drawingml/2006/main">
            <a:off x="685800" y="3714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5. Applicability</a:t>
            </a:r>
          </a:p>
        </p:txBody>
      </p:sp>
      <p:sp>
        <p:nvSpPr>
          <p:cNvPr id="11" name="6. Treatment">
            <a:extLst xmlns:a="http://schemas.openxmlformats.org/drawingml/2006/main">
              <a:ext uri="{FF2B5EF4-FFF2-40B4-BE49-F238E27FC236}">
                <a16:creationId xmlns:a16="http://schemas.microsoft.com/office/drawing/2014/main" id="{6DEB2CDA-C51B-4D5F-BA5A-1EE03943B608}"/>
              </a:ext>
            </a:extLst>
          </p:cNvPr>
          <p:cNvSpPr>
            <a:spLocks xmlns:a="http://schemas.openxmlformats.org/drawingml/2006/main" noGrp="1"/>
          </p:cNvSpPr>
          <p:nvPr/>
        </p:nvSpPr>
        <p:spPr>
          <a:xfrm xmlns:a="http://schemas.openxmlformats.org/drawingml/2006/main">
            <a:off x="3481388" y="3714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6. Treatment</a:t>
            </a:r>
          </a:p>
        </p:txBody>
      </p:sp>
      <p:sp>
        <p:nvSpPr>
          <p:cNvPr id="12" name="7. Verify / report">
            <a:extLst xmlns:a="http://schemas.openxmlformats.org/drawingml/2006/main">
              <a:ext uri="{FF2B5EF4-FFF2-40B4-BE49-F238E27FC236}">
                <a16:creationId xmlns:a16="http://schemas.microsoft.com/office/drawing/2014/main" id="{9C47CCAC-3A4E-4A5F-8135-817DB4B92ED6}"/>
              </a:ext>
            </a:extLst>
          </p:cNvPr>
          <p:cNvSpPr>
            <a:spLocks xmlns:a="http://schemas.openxmlformats.org/drawingml/2006/main" noGrp="1"/>
          </p:cNvSpPr>
          <p:nvPr/>
        </p:nvSpPr>
        <p:spPr>
          <a:xfrm xmlns:a="http://schemas.openxmlformats.org/drawingml/2006/main">
            <a:off x="6276975" y="3714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7. Verify / report</a:t>
            </a:r>
          </a:p>
        </p:txBody>
      </p:sp>
      <p:sp>
        <p:nvSpPr>
          <p:cNvPr id="13" name="8. Maintain">
            <a:extLst xmlns:a="http://schemas.openxmlformats.org/drawingml/2006/main">
              <a:ext uri="{FF2B5EF4-FFF2-40B4-BE49-F238E27FC236}">
                <a16:creationId xmlns:a16="http://schemas.microsoft.com/office/drawing/2014/main" id="{20FE9D4C-FB3C-4F4E-BF36-4768B8189EDC}"/>
              </a:ext>
            </a:extLst>
          </p:cNvPr>
          <p:cNvSpPr>
            <a:spLocks xmlns:a="http://schemas.openxmlformats.org/drawingml/2006/main" noGrp="1"/>
          </p:cNvSpPr>
          <p:nvPr/>
        </p:nvSpPr>
        <p:spPr>
          <a:xfrm xmlns:a="http://schemas.openxmlformats.org/drawingml/2006/main">
            <a:off x="9072563" y="3714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8. Maintain</a:t>
            </a:r>
          </a:p>
        </p:txBody>
      </p:sp>
      <p:sp>
        <p:nvSpPr>
          <p:cNvPr id="17" name="caption">
            <a:extLst xmlns:a="http://schemas.openxmlformats.org/drawingml/2006/main">
              <a:ext uri="{FF2B5EF4-FFF2-40B4-BE49-F238E27FC236}">
                <a16:creationId xmlns:a16="http://schemas.microsoft.com/office/drawing/2014/main" id="{7BA33623-60A5-4E15-A344-061F94C5AC57}"/>
              </a:ext>
            </a:extLst>
          </p:cNvPr>
          <p:cNvSpPr>
            <a:spLocks xmlns:a="http://schemas.openxmlformats.org/drawingml/2006/main" noGrp="1"/>
          </p:cNvSpPr>
          <p:nvPr/>
        </p:nvSpPr>
        <p:spPr>
          <a:xfrm xmlns:a="http://schemas.openxmlformats.org/drawingml/2006/main">
            <a:off x="685800" y="52863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02F40"/>
                </a:solidFill>
                <a:latin typeface="DejaVu Sans"/>
                <a:ea typeface="DejaVu Sans"/>
                <a:cs typeface="DejaVu Sans"/>
              </a:defRPr>
            </a:defPPr>
            <a:lvl1pPr>
              <a:defRPr sz="1875" b="0">
                <a:solidFill>
                  <a:srgbClr val="102F40"/>
                </a:solidFill>
                <a:latin typeface="DejaVu Sans"/>
                <a:ea typeface="DejaVu Sans"/>
                <a:cs typeface="DejaVu Sans"/>
              </a:defRPr>
            </a:lvl1pPr>
            <a:lvl2pPr>
              <a:defRPr sz="1875" b="0">
                <a:solidFill>
                  <a:srgbClr val="102F40"/>
                </a:solidFill>
                <a:latin typeface="DejaVu Sans"/>
                <a:ea typeface="DejaVu Sans"/>
                <a:cs typeface="DejaVu Sans"/>
              </a:defRPr>
            </a:lvl2pPr>
            <a:lvl3pPr>
              <a:defRPr sz="1875" b="0">
                <a:solidFill>
                  <a:srgbClr val="102F40"/>
                </a:solidFill>
                <a:latin typeface="DejaVu Sans"/>
                <a:ea typeface="DejaVu Sans"/>
                <a:cs typeface="DejaVu Sans"/>
              </a:defRPr>
            </a:lvl3pPr>
            <a:lvl4pPr>
              <a:defRPr sz="1875" b="0">
                <a:solidFill>
                  <a:srgbClr val="102F40"/>
                </a:solidFill>
                <a:latin typeface="DejaVu Sans"/>
                <a:ea typeface="DejaVu Sans"/>
                <a:cs typeface="DejaVu Sans"/>
              </a:defRPr>
            </a:lvl4pPr>
            <a:lvl5pPr>
              <a:defRPr sz="1875" b="0">
                <a:solidFill>
                  <a:srgbClr val="102F40"/>
                </a:solidFill>
                <a:latin typeface="DejaVu Sans"/>
                <a:ea typeface="DejaVu Sans"/>
                <a:cs typeface="DejaVu Sans"/>
              </a:defRPr>
            </a:lvl5pPr>
            <a:lvl6pPr>
              <a:defRPr sz="1875" b="0">
                <a:solidFill>
                  <a:srgbClr val="102F40"/>
                </a:solidFill>
                <a:latin typeface="DejaVu Sans"/>
                <a:ea typeface="DejaVu Sans"/>
                <a:cs typeface="DejaVu Sans"/>
              </a:defRPr>
            </a:lvl6pPr>
            <a:lvl7pPr>
              <a:defRPr sz="1875" b="0">
                <a:solidFill>
                  <a:srgbClr val="102F40"/>
                </a:solidFill>
                <a:latin typeface="DejaVu Sans"/>
                <a:ea typeface="DejaVu Sans"/>
                <a:cs typeface="DejaVu Sans"/>
              </a:defRPr>
            </a:lvl7pPr>
            <a:lvl8pPr>
              <a:defRPr sz="1875" b="0">
                <a:solidFill>
                  <a:srgbClr val="102F40"/>
                </a:solidFill>
                <a:latin typeface="DejaVu Sans"/>
                <a:ea typeface="DejaVu Sans"/>
                <a:cs typeface="DejaVu Sans"/>
              </a:defRPr>
            </a:lvl8pPr>
            <a:lvl9pPr>
              <a:defRPr sz="1875" b="0">
                <a:solidFill>
                  <a:srgbClr val="102F40"/>
                </a:solidFill>
                <a:latin typeface="DejaVu Sans"/>
                <a:ea typeface="DejaVu Sans"/>
                <a:cs typeface="DejaVu Sans"/>
              </a:defRPr>
            </a:lvl9pPr>
          </a:lstStyle>
          <a:p xmlns:a="http://schemas.openxmlformats.org/drawingml/2006/main">
            <a:pPr>
              <a:defRPr sz="1875" b="0">
                <a:solidFill>
                  <a:srgbClr val="102F40"/>
                </a:solidFill>
                <a:latin typeface="DejaVu Sans"/>
                <a:ea typeface="DejaVu Sans"/>
                <a:cs typeface="DejaVu Sans"/>
              </a:defRPr>
            </a:pPr>
            <a:r>
              <a:rPr sz="1875" b="0">
                <a:solidFill>
                  <a:srgbClr val="102F40"/>
                </a:solidFill>
                <a:latin typeface="DejaVu Sans"/>
                <a:ea typeface="DejaVu Sans"/>
                <a:cs typeface="DejaVu Sans"/>
              </a:rPr>
              <a:t>Choose a decision, record reasoning, review feedback, then continue.</a:t>
            </a:r>
          </a:p>
        </p:txBody>
      </p:sp>
    </p:spTree>
    <p:extLst>
      <p:ext uri="{BB962C8B-B14F-4D97-AF65-F5344CB8AC3E}">
        <p14:creationId xmlns:p14="http://schemas.microsoft.com/office/powerpoint/2010/main" val="1023960835"/>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4C65900-CAA3-4A58-A59D-F659285AD644}"/>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A risk statement links a cause to a consequence</a:t>
            </a:r>
          </a:p>
        </p:txBody>
      </p:sp>
      <p:sp>
        <p:nvSpPr>
          <p:cNvPr id="2" name="footer">
            <a:extLst xmlns:a="http://schemas.openxmlformats.org/drawingml/2006/main">
              <a:ext uri="{FF2B5EF4-FFF2-40B4-BE49-F238E27FC236}">
                <a16:creationId xmlns:a16="http://schemas.microsoft.com/office/drawing/2014/main" id="{D98AEF3F-DB0C-4FA9-9746-B296421DAD1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07</a:t>
            </a:r>
          </a:p>
        </p:txBody>
      </p:sp>
      <p:sp>
        <p:nvSpPr>
          <p:cNvPr id="3" name="left-head">
            <a:extLst xmlns:a="http://schemas.openxmlformats.org/drawingml/2006/main">
              <a:ext uri="{FF2B5EF4-FFF2-40B4-BE49-F238E27FC236}">
                <a16:creationId xmlns:a16="http://schemas.microsoft.com/office/drawing/2014/main" id="{2D837F24-90E1-4F6A-8284-6BC3F59C217C}"/>
              </a:ext>
            </a:extLst>
          </p:cNvPr>
          <p:cNvSpPr>
            <a:spLocks xmlns:a="http://schemas.openxmlformats.org/drawingml/2006/main" noGrp="1"/>
          </p:cNvSpPr>
          <p:nvPr/>
        </p:nvSpPr>
        <p:spPr>
          <a:xfrm xmlns:a="http://schemas.openxmlformats.org/drawingml/2006/main">
            <a:off x="685800" y="18573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Supported by exercise evidence</a:t>
            </a:r>
          </a:p>
        </p:txBody>
      </p:sp>
      <p:sp>
        <p:nvSpPr>
          <p:cNvPr id="4" name="left">
            <a:extLst xmlns:a="http://schemas.openxmlformats.org/drawingml/2006/main">
              <a:ext uri="{FF2B5EF4-FFF2-40B4-BE49-F238E27FC236}">
                <a16:creationId xmlns:a16="http://schemas.microsoft.com/office/drawing/2014/main" id="{796A9C13-9351-4C3D-B095-1997500E011C}"/>
              </a:ext>
            </a:extLst>
          </p:cNvPr>
          <p:cNvSpPr>
            <a:spLocks xmlns:a="http://schemas.openxmlformats.org/drawingml/2006/main" noGrp="1"/>
          </p:cNvSpPr>
          <p:nvPr/>
        </p:nvSpPr>
        <p:spPr>
          <a:xfrm xmlns:a="http://schemas.openxmlformats.org/drawingml/2006/main">
            <a:off x="685800" y="26860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E2 confirms an affected route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Payment operations may be harmed</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E3 warrants investigation</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Other products remain unverified</a:t>
            </a:r>
          </a:p>
        </p:txBody>
      </p:sp>
      <p:sp>
        <p:nvSpPr>
          <p:cNvPr id="5" name="right-head">
            <a:extLst xmlns:a="http://schemas.openxmlformats.org/drawingml/2006/main">
              <a:ext uri="{FF2B5EF4-FFF2-40B4-BE49-F238E27FC236}">
                <a16:creationId xmlns:a16="http://schemas.microsoft.com/office/drawing/2014/main" id="{8AD21D59-7F04-4CFC-85B5-2CB68D29ABCB}"/>
              </a:ext>
            </a:extLst>
          </p:cNvPr>
          <p:cNvSpPr>
            <a:spLocks xmlns:a="http://schemas.openxmlformats.org/drawingml/2006/main" noGrp="1"/>
          </p:cNvSpPr>
          <p:nvPr/>
        </p:nvSpPr>
        <p:spPr>
          <a:xfrm xmlns:a="http://schemas.openxmlformats.org/drawingml/2006/main">
            <a:off x="6429375" y="1857375"/>
            <a:ext cx="50768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Intern record</a:t>
            </a:r>
          </a:p>
        </p:txBody>
      </p:sp>
      <p:sp>
        <p:nvSpPr>
          <p:cNvPr id="6" name="right">
            <a:extLst xmlns:a="http://schemas.openxmlformats.org/drawingml/2006/main">
              <a:ext uri="{FF2B5EF4-FFF2-40B4-BE49-F238E27FC236}">
                <a16:creationId xmlns:a16="http://schemas.microsoft.com/office/drawing/2014/main" id="{5CAA9F9B-5E4A-4FA9-A84A-8A4C92F7D9A9}"/>
              </a:ext>
            </a:extLst>
          </p:cNvPr>
          <p:cNvSpPr>
            <a:spLocks xmlns:a="http://schemas.openxmlformats.org/drawingml/2006/main" noGrp="1"/>
          </p:cNvSpPr>
          <p:nvPr/>
        </p:nvSpPr>
        <p:spPr>
          <a:xfrm xmlns:a="http://schemas.openxmlformats.org/drawingml/2006/main">
            <a:off x="6429375" y="2686050"/>
            <a:ext cx="507682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Asset and business activity</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Threat event and weakness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Potential consequence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Evidence IDs and uncertainty</a:t>
            </a:r>
          </a:p>
        </p:txBody>
      </p:sp>
    </p:spTree>
    <p:extLst>
      <p:ext uri="{BB962C8B-B14F-4D97-AF65-F5344CB8AC3E}">
        <p14:creationId xmlns:p14="http://schemas.microsoft.com/office/powerpoint/2010/main" val="25748299"/>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0584D65A-9EBF-4F0D-BDEA-A0A39A7655C3}"/>
              </a:ext>
            </a:extLst>
          </p:cNvPr>
          <p:cNvCxnSpPr>
            <a:stCxn xmlns:a="http://schemas.openxmlformats.org/drawingml/2006/main" id="5" idx="3"/>
            <a:endCxn xmlns:a="http://schemas.openxmlformats.org/drawingml/2006/main" id="6" idx="1"/>
          </p:cNvCxnSpPr>
          <p:nvPr/>
        </p:nvCxnSpPr>
        <p:spPr>
          <a:xfrm xmlns:a="http://schemas.openxmlformats.org/drawingml/2006/main">
            <a:off x="8710613" y="300037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CC62AA6-EE8B-422D-B039-E6000F3A1978}"/>
              </a:ext>
            </a:extLst>
          </p:cNvPr>
          <p:cNvCxnSpPr>
            <a:stCxn xmlns:a="http://schemas.openxmlformats.org/drawingml/2006/main" id="4" idx="3"/>
            <a:endCxn xmlns:a="http://schemas.openxmlformats.org/drawingml/2006/main" id="5" idx="1"/>
          </p:cNvCxnSpPr>
          <p:nvPr/>
        </p:nvCxnSpPr>
        <p:spPr>
          <a:xfrm xmlns:a="http://schemas.openxmlformats.org/drawingml/2006/main">
            <a:off x="5915026" y="3000375"/>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AED0FAB3-33B2-4DFD-9D9D-3C4B4B3727F3}"/>
              </a:ext>
            </a:extLst>
          </p:cNvPr>
          <p:cNvCxnSpPr>
            <a:stCxn xmlns:a="http://schemas.openxmlformats.org/drawingml/2006/main" id="3" idx="3"/>
            <a:endCxn xmlns:a="http://schemas.openxmlformats.org/drawingml/2006/main" id="4" idx="1"/>
          </p:cNvCxnSpPr>
          <p:nvPr/>
        </p:nvCxnSpPr>
        <p:spPr>
          <a:xfrm xmlns:a="http://schemas.openxmlformats.org/drawingml/2006/main">
            <a:off x="3119438" y="300037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1" name="title">
            <a:extLst xmlns:a="http://schemas.openxmlformats.org/drawingml/2006/main">
              <a:ext uri="{FF2B5EF4-FFF2-40B4-BE49-F238E27FC236}">
                <a16:creationId xmlns:a16="http://schemas.microsoft.com/office/drawing/2014/main" id="{AF2C70F6-749C-4A84-AF6D-DAB0F45B363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Verification connects a recommendation to evidence</a:t>
            </a:r>
          </a:p>
        </p:txBody>
      </p:sp>
      <p:sp>
        <p:nvSpPr>
          <p:cNvPr id="2" name="footer">
            <a:extLst xmlns:a="http://schemas.openxmlformats.org/drawingml/2006/main">
              <a:ext uri="{FF2B5EF4-FFF2-40B4-BE49-F238E27FC236}">
                <a16:creationId xmlns:a16="http://schemas.microsoft.com/office/drawing/2014/main" id="{48BDCE80-A8BB-4628-914D-14FE2622E5CB}"/>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08</a:t>
            </a:r>
          </a:p>
        </p:txBody>
      </p:sp>
      <p:sp>
        <p:nvSpPr>
          <p:cNvPr id="3" name="Scope and&#10;approval">
            <a:extLst xmlns:a="http://schemas.openxmlformats.org/drawingml/2006/main">
              <a:ext uri="{FF2B5EF4-FFF2-40B4-BE49-F238E27FC236}">
                <a16:creationId xmlns:a16="http://schemas.microsoft.com/office/drawing/2014/main" id="{0C3F3915-D6C9-402C-BC93-947B34C6AE05}"/>
              </a:ext>
            </a:extLst>
          </p:cNvPr>
          <p:cNvSpPr>
            <a:spLocks xmlns:a="http://schemas.openxmlformats.org/drawingml/2006/main" noGrp="1"/>
          </p:cNvSpPr>
          <p:nvPr/>
        </p:nvSpPr>
        <p:spPr>
          <a:xfrm xmlns:a="http://schemas.openxmlformats.org/drawingml/2006/main">
            <a:off x="685800" y="247650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Scope and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approval</a:t>
            </a:r>
          </a:p>
        </p:txBody>
      </p:sp>
      <p:sp>
        <p:nvSpPr>
          <p:cNvPr id="4" name="Applicable fix&#10;deployment">
            <a:extLst xmlns:a="http://schemas.openxmlformats.org/drawingml/2006/main">
              <a:ext uri="{FF2B5EF4-FFF2-40B4-BE49-F238E27FC236}">
                <a16:creationId xmlns:a16="http://schemas.microsoft.com/office/drawing/2014/main" id="{08DDD56B-CDF4-4845-A088-F8931BD3F9E7}"/>
              </a:ext>
            </a:extLst>
          </p:cNvPr>
          <p:cNvSpPr>
            <a:spLocks xmlns:a="http://schemas.openxmlformats.org/drawingml/2006/main" noGrp="1"/>
          </p:cNvSpPr>
          <p:nvPr/>
        </p:nvSpPr>
        <p:spPr>
          <a:xfrm xmlns:a="http://schemas.openxmlformats.org/drawingml/2006/main">
            <a:off x="3481388" y="247650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Applicable fix</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deployment</a:t>
            </a:r>
          </a:p>
        </p:txBody>
      </p:sp>
      <p:sp>
        <p:nvSpPr>
          <p:cNvPr id="5" name="Active runtime&#10;verification">
            <a:extLst xmlns:a="http://schemas.openxmlformats.org/drawingml/2006/main">
              <a:ext uri="{FF2B5EF4-FFF2-40B4-BE49-F238E27FC236}">
                <a16:creationId xmlns:a16="http://schemas.microsoft.com/office/drawing/2014/main" id="{E9A0F7AC-67C3-4E73-A122-B8D08FA432C2}"/>
              </a:ext>
            </a:extLst>
          </p:cNvPr>
          <p:cNvSpPr>
            <a:spLocks xmlns:a="http://schemas.openxmlformats.org/drawingml/2006/main" noGrp="1"/>
          </p:cNvSpPr>
          <p:nvPr/>
        </p:nvSpPr>
        <p:spPr>
          <a:xfrm xmlns:a="http://schemas.openxmlformats.org/drawingml/2006/main">
            <a:off x="6276975" y="247650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Active runtime</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verification</a:t>
            </a:r>
          </a:p>
        </p:txBody>
      </p:sp>
      <p:sp>
        <p:nvSpPr>
          <p:cNvPr id="6" name="Business test&#10;and acceptance">
            <a:extLst xmlns:a="http://schemas.openxmlformats.org/drawingml/2006/main">
              <a:ext uri="{FF2B5EF4-FFF2-40B4-BE49-F238E27FC236}">
                <a16:creationId xmlns:a16="http://schemas.microsoft.com/office/drawing/2014/main" id="{C79F2BEB-F625-42E9-B5B2-E6185B8B1461}"/>
              </a:ext>
            </a:extLst>
          </p:cNvPr>
          <p:cNvSpPr>
            <a:spLocks xmlns:a="http://schemas.openxmlformats.org/drawingml/2006/main" noGrp="1"/>
          </p:cNvSpPr>
          <p:nvPr/>
        </p:nvSpPr>
        <p:spPr>
          <a:xfrm xmlns:a="http://schemas.openxmlformats.org/drawingml/2006/main">
            <a:off x="9072563" y="247650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Business test</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and acceptance</a:t>
            </a:r>
          </a:p>
        </p:txBody>
      </p:sp>
      <p:sp>
        <p:nvSpPr>
          <p:cNvPr id="10" name="caption">
            <a:extLst xmlns:a="http://schemas.openxmlformats.org/drawingml/2006/main">
              <a:ext uri="{FF2B5EF4-FFF2-40B4-BE49-F238E27FC236}">
                <a16:creationId xmlns:a16="http://schemas.microsoft.com/office/drawing/2014/main" id="{82556B20-E1EF-4C12-A061-F6272A4E3207}"/>
              </a:ext>
            </a:extLst>
          </p:cNvPr>
          <p:cNvSpPr>
            <a:spLocks xmlns:a="http://schemas.openxmlformats.org/drawingml/2006/main" noGrp="1"/>
          </p:cNvSpPr>
          <p:nvPr/>
        </p:nvSpPr>
        <p:spPr>
          <a:xfrm xmlns:a="http://schemas.openxmlformats.org/drawingml/2006/main">
            <a:off x="685800" y="44767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02F40"/>
                </a:solidFill>
                <a:latin typeface="DejaVu Sans"/>
                <a:ea typeface="DejaVu Sans"/>
                <a:cs typeface="DejaVu Sans"/>
              </a:defRPr>
            </a:defPPr>
            <a:lvl1pPr>
              <a:defRPr sz="2100" b="0">
                <a:solidFill>
                  <a:srgbClr val="102F40"/>
                </a:solidFill>
                <a:latin typeface="DejaVu Sans"/>
                <a:ea typeface="DejaVu Sans"/>
                <a:cs typeface="DejaVu Sans"/>
              </a:defRPr>
            </a:lvl1pPr>
            <a:lvl2pPr>
              <a:defRPr sz="2100" b="0">
                <a:solidFill>
                  <a:srgbClr val="102F40"/>
                </a:solidFill>
                <a:latin typeface="DejaVu Sans"/>
                <a:ea typeface="DejaVu Sans"/>
                <a:cs typeface="DejaVu Sans"/>
              </a:defRPr>
            </a:lvl2pPr>
            <a:lvl3pPr>
              <a:defRPr sz="2100" b="0">
                <a:solidFill>
                  <a:srgbClr val="102F40"/>
                </a:solidFill>
                <a:latin typeface="DejaVu Sans"/>
                <a:ea typeface="DejaVu Sans"/>
                <a:cs typeface="DejaVu Sans"/>
              </a:defRPr>
            </a:lvl3pPr>
            <a:lvl4pPr>
              <a:defRPr sz="2100" b="0">
                <a:solidFill>
                  <a:srgbClr val="102F40"/>
                </a:solidFill>
                <a:latin typeface="DejaVu Sans"/>
                <a:ea typeface="DejaVu Sans"/>
                <a:cs typeface="DejaVu Sans"/>
              </a:defRPr>
            </a:lvl4pPr>
            <a:lvl5pPr>
              <a:defRPr sz="2100" b="0">
                <a:solidFill>
                  <a:srgbClr val="102F40"/>
                </a:solidFill>
                <a:latin typeface="DejaVu Sans"/>
                <a:ea typeface="DejaVu Sans"/>
                <a:cs typeface="DejaVu Sans"/>
              </a:defRPr>
            </a:lvl5pPr>
            <a:lvl6pPr>
              <a:defRPr sz="2100" b="0">
                <a:solidFill>
                  <a:srgbClr val="102F40"/>
                </a:solidFill>
                <a:latin typeface="DejaVu Sans"/>
                <a:ea typeface="DejaVu Sans"/>
                <a:cs typeface="DejaVu Sans"/>
              </a:defRPr>
            </a:lvl6pPr>
            <a:lvl7pPr>
              <a:defRPr sz="2100" b="0">
                <a:solidFill>
                  <a:srgbClr val="102F40"/>
                </a:solidFill>
                <a:latin typeface="DejaVu Sans"/>
                <a:ea typeface="DejaVu Sans"/>
                <a:cs typeface="DejaVu Sans"/>
              </a:defRPr>
            </a:lvl7pPr>
            <a:lvl8pPr>
              <a:defRPr sz="2100" b="0">
                <a:solidFill>
                  <a:srgbClr val="102F40"/>
                </a:solidFill>
                <a:latin typeface="DejaVu Sans"/>
                <a:ea typeface="DejaVu Sans"/>
                <a:cs typeface="DejaVu Sans"/>
              </a:defRPr>
            </a:lvl8pPr>
            <a:lvl9pPr>
              <a:defRPr sz="2100" b="0">
                <a:solidFill>
                  <a:srgbClr val="102F40"/>
                </a:solidFill>
                <a:latin typeface="DejaVu Sans"/>
                <a:ea typeface="DejaVu Sans"/>
                <a:cs typeface="DejaVu Sans"/>
              </a:defRPr>
            </a:lvl9pPr>
          </a:lstStyle>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Evidence of implementation requires active-runtime</a:t>
            </a:r>
          </a:p>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and business-function checks.</a:t>
            </a:r>
          </a:p>
        </p:txBody>
      </p:sp>
    </p:spTree>
    <p:extLst>
      <p:ext uri="{BB962C8B-B14F-4D97-AF65-F5344CB8AC3E}">
        <p14:creationId xmlns:p14="http://schemas.microsoft.com/office/powerpoint/2010/main" val="897602577"/>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C732EBD7-1DA8-4A1E-A5C4-34465CEE74B8}"/>
              </a:ext>
            </a:extLst>
          </p:cNvPr>
          <p:cNvCxnSpPr>
            <a:stCxn xmlns:a="http://schemas.openxmlformats.org/drawingml/2006/main" id="4" idx="3"/>
            <a:endCxn xmlns:a="http://schemas.openxmlformats.org/drawingml/2006/main" id="5" idx="1"/>
          </p:cNvCxnSpPr>
          <p:nvPr/>
        </p:nvCxnSpPr>
        <p:spPr>
          <a:xfrm xmlns:a="http://schemas.openxmlformats.org/drawingml/2006/main">
            <a:off x="7778750" y="29051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7031E5AC-89C3-474F-95B7-F3CFC97E9E71}"/>
              </a:ext>
            </a:extLst>
          </p:cNvPr>
          <p:cNvCxnSpPr>
            <a:stCxn xmlns:a="http://schemas.openxmlformats.org/drawingml/2006/main" id="3" idx="3"/>
            <a:endCxn xmlns:a="http://schemas.openxmlformats.org/drawingml/2006/main" id="4" idx="1"/>
          </p:cNvCxnSpPr>
          <p:nvPr/>
        </p:nvCxnSpPr>
        <p:spPr>
          <a:xfrm xmlns:a="http://schemas.openxmlformats.org/drawingml/2006/main">
            <a:off x="4051300" y="29051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9" name="title">
            <a:extLst xmlns:a="http://schemas.openxmlformats.org/drawingml/2006/main">
              <a:ext uri="{FF2B5EF4-FFF2-40B4-BE49-F238E27FC236}">
                <a16:creationId xmlns:a16="http://schemas.microsoft.com/office/drawing/2014/main" id="{BD5251C8-B629-4910-925A-54D318EC169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Qualitative priority needs an explicit rationale</a:t>
            </a:r>
          </a:p>
        </p:txBody>
      </p:sp>
      <p:sp>
        <p:nvSpPr>
          <p:cNvPr id="2" name="footer">
            <a:extLst xmlns:a="http://schemas.openxmlformats.org/drawingml/2006/main">
              <a:ext uri="{FF2B5EF4-FFF2-40B4-BE49-F238E27FC236}">
                <a16:creationId xmlns:a16="http://schemas.microsoft.com/office/drawing/2014/main" id="{58894C91-F7F7-4C5B-A788-53ACF1C2CE6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09</a:t>
            </a:r>
          </a:p>
        </p:txBody>
      </p:sp>
      <p:sp>
        <p:nvSpPr>
          <p:cNvPr id="3" name="Evidence and&#10;scope">
            <a:extLst xmlns:a="http://schemas.openxmlformats.org/drawingml/2006/main">
              <a:ext uri="{FF2B5EF4-FFF2-40B4-BE49-F238E27FC236}">
                <a16:creationId xmlns:a16="http://schemas.microsoft.com/office/drawing/2014/main" id="{E8A1CAA9-9EEC-4A4C-9F31-E64E2E9B17A9}"/>
              </a:ext>
            </a:extLst>
          </p:cNvPr>
          <p:cNvSpPr>
            <a:spLocks xmlns:a="http://schemas.openxmlformats.org/drawingml/2006/main" noGrp="1"/>
          </p:cNvSpPr>
          <p:nvPr/>
        </p:nvSpPr>
        <p:spPr>
          <a:xfrm xmlns:a="http://schemas.openxmlformats.org/drawingml/2006/main">
            <a:off x="685800" y="2381250"/>
            <a:ext cx="3365500"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Evidence and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scope</a:t>
            </a:r>
          </a:p>
        </p:txBody>
      </p:sp>
      <p:sp>
        <p:nvSpPr>
          <p:cNvPr id="4" name="Likelihood and&#10;impact">
            <a:extLst xmlns:a="http://schemas.openxmlformats.org/drawingml/2006/main">
              <a:ext uri="{FF2B5EF4-FFF2-40B4-BE49-F238E27FC236}">
                <a16:creationId xmlns:a16="http://schemas.microsoft.com/office/drawing/2014/main" id="{71460A53-BBB4-4137-918B-11A1A4B5C779}"/>
              </a:ext>
            </a:extLst>
          </p:cNvPr>
          <p:cNvSpPr>
            <a:spLocks xmlns:a="http://schemas.openxmlformats.org/drawingml/2006/main" noGrp="1"/>
          </p:cNvSpPr>
          <p:nvPr/>
        </p:nvSpPr>
        <p:spPr>
          <a:xfrm xmlns:a="http://schemas.openxmlformats.org/drawingml/2006/main">
            <a:off x="4413250" y="2381250"/>
            <a:ext cx="3365500"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Likelihood and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impact</a:t>
            </a:r>
          </a:p>
        </p:txBody>
      </p:sp>
      <p:sp>
        <p:nvSpPr>
          <p:cNvPr id="5" name="Priority and&#10;uncertainty">
            <a:extLst xmlns:a="http://schemas.openxmlformats.org/drawingml/2006/main">
              <a:ext uri="{FF2B5EF4-FFF2-40B4-BE49-F238E27FC236}">
                <a16:creationId xmlns:a16="http://schemas.microsoft.com/office/drawing/2014/main" id="{F080E200-06DF-47EE-82C0-333DD75FFEB3}"/>
              </a:ext>
            </a:extLst>
          </p:cNvPr>
          <p:cNvSpPr>
            <a:spLocks xmlns:a="http://schemas.openxmlformats.org/drawingml/2006/main" noGrp="1"/>
          </p:cNvSpPr>
          <p:nvPr/>
        </p:nvSpPr>
        <p:spPr>
          <a:xfrm xmlns:a="http://schemas.openxmlformats.org/drawingml/2006/main">
            <a:off x="8140700" y="2381250"/>
            <a:ext cx="3365500"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Priority and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uncertainty</a:t>
            </a:r>
          </a:p>
        </p:txBody>
      </p:sp>
      <p:sp>
        <p:nvSpPr>
          <p:cNvPr id="8" name="caption">
            <a:extLst xmlns:a="http://schemas.openxmlformats.org/drawingml/2006/main">
              <a:ext uri="{FF2B5EF4-FFF2-40B4-BE49-F238E27FC236}">
                <a16:creationId xmlns:a16="http://schemas.microsoft.com/office/drawing/2014/main" id="{A4712E8B-5012-497B-9395-1DDD40C696F8}"/>
              </a:ext>
            </a:extLst>
          </p:cNvPr>
          <p:cNvSpPr>
            <a:spLocks xmlns:a="http://schemas.openxmlformats.org/drawingml/2006/main" noGrp="1"/>
          </p:cNvSpPr>
          <p:nvPr/>
        </p:nvSpPr>
        <p:spPr>
          <a:xfrm xmlns:a="http://schemas.openxmlformats.org/drawingml/2006/main">
            <a:off x="685800" y="4095750"/>
            <a:ext cx="10820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02F40"/>
                </a:solidFill>
                <a:latin typeface="DejaVu Sans"/>
                <a:ea typeface="DejaVu Sans"/>
                <a:cs typeface="DejaVu Sans"/>
              </a:defRPr>
            </a:defPPr>
            <a:lvl1pPr>
              <a:defRPr sz="2100" b="0">
                <a:solidFill>
                  <a:srgbClr val="102F40"/>
                </a:solidFill>
                <a:latin typeface="DejaVu Sans"/>
                <a:ea typeface="DejaVu Sans"/>
                <a:cs typeface="DejaVu Sans"/>
              </a:defRPr>
            </a:lvl1pPr>
            <a:lvl2pPr>
              <a:defRPr sz="2100" b="0">
                <a:solidFill>
                  <a:srgbClr val="102F40"/>
                </a:solidFill>
                <a:latin typeface="DejaVu Sans"/>
                <a:ea typeface="DejaVu Sans"/>
                <a:cs typeface="DejaVu Sans"/>
              </a:defRPr>
            </a:lvl2pPr>
            <a:lvl3pPr>
              <a:defRPr sz="2100" b="0">
                <a:solidFill>
                  <a:srgbClr val="102F40"/>
                </a:solidFill>
                <a:latin typeface="DejaVu Sans"/>
                <a:ea typeface="DejaVu Sans"/>
                <a:cs typeface="DejaVu Sans"/>
              </a:defRPr>
            </a:lvl3pPr>
            <a:lvl4pPr>
              <a:defRPr sz="2100" b="0">
                <a:solidFill>
                  <a:srgbClr val="102F40"/>
                </a:solidFill>
                <a:latin typeface="DejaVu Sans"/>
                <a:ea typeface="DejaVu Sans"/>
                <a:cs typeface="DejaVu Sans"/>
              </a:defRPr>
            </a:lvl4pPr>
            <a:lvl5pPr>
              <a:defRPr sz="2100" b="0">
                <a:solidFill>
                  <a:srgbClr val="102F40"/>
                </a:solidFill>
                <a:latin typeface="DejaVu Sans"/>
                <a:ea typeface="DejaVu Sans"/>
                <a:cs typeface="DejaVu Sans"/>
              </a:defRPr>
            </a:lvl5pPr>
            <a:lvl6pPr>
              <a:defRPr sz="2100" b="0">
                <a:solidFill>
                  <a:srgbClr val="102F40"/>
                </a:solidFill>
                <a:latin typeface="DejaVu Sans"/>
                <a:ea typeface="DejaVu Sans"/>
                <a:cs typeface="DejaVu Sans"/>
              </a:defRPr>
            </a:lvl6pPr>
            <a:lvl7pPr>
              <a:defRPr sz="2100" b="0">
                <a:solidFill>
                  <a:srgbClr val="102F40"/>
                </a:solidFill>
                <a:latin typeface="DejaVu Sans"/>
                <a:ea typeface="DejaVu Sans"/>
                <a:cs typeface="DejaVu Sans"/>
              </a:defRPr>
            </a:lvl7pPr>
            <a:lvl8pPr>
              <a:defRPr sz="2100" b="0">
                <a:solidFill>
                  <a:srgbClr val="102F40"/>
                </a:solidFill>
                <a:latin typeface="DejaVu Sans"/>
                <a:ea typeface="DejaVu Sans"/>
                <a:cs typeface="DejaVu Sans"/>
              </a:defRPr>
            </a:lvl8pPr>
            <a:lvl9pPr>
              <a:defRPr sz="2100" b="0">
                <a:solidFill>
                  <a:srgbClr val="102F40"/>
                </a:solidFill>
                <a:latin typeface="DejaVu Sans"/>
                <a:ea typeface="DejaVu Sans"/>
                <a:cs typeface="DejaVu Sans"/>
              </a:defRPr>
            </a:lvl9pPr>
          </a:lstStyle>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Classroom convention: likelihood 1–3 × impact 1–3</a:t>
            </a:r>
          </a:p>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1–2 Low    3–4 Moderate    6–9 High</a:t>
            </a:r>
          </a:p>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Record assumptions. A score of 9 is not a 90% probability.</a:t>
            </a:r>
          </a:p>
        </p:txBody>
      </p:sp>
    </p:spTree>
    <p:extLst>
      <p:ext uri="{BB962C8B-B14F-4D97-AF65-F5344CB8AC3E}">
        <p14:creationId xmlns:p14="http://schemas.microsoft.com/office/powerpoint/2010/main" val="1170479587"/>
      </p:ext>
    </p:extLst>
  </p:cSld>
</p:sld>
</file>

<file path=ppt/slides/slide1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B7E56A5-1714-44D3-80F9-D253B736CEA0}"/>
              </a:ext>
            </a:extLst>
          </p:cNvPr>
          <p:cNvCxnSpPr>
            <a:stCxn xmlns:a="http://schemas.openxmlformats.org/drawingml/2006/main" id="6" idx="3"/>
            <a:endCxn xmlns:a="http://schemas.openxmlformats.org/drawingml/2006/main" id="7" idx="1"/>
          </p:cNvCxnSpPr>
          <p:nvPr/>
        </p:nvCxnSpPr>
        <p:spPr>
          <a:xfrm xmlns:a="http://schemas.openxmlformats.org/drawingml/2006/main">
            <a:off x="8710613" y="3857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8343706-2296-43B0-9840-875A76EDA7FF}"/>
              </a:ext>
            </a:extLst>
          </p:cNvPr>
          <p:cNvCxnSpPr>
            <a:stCxn xmlns:a="http://schemas.openxmlformats.org/drawingml/2006/main" id="5" idx="3"/>
            <a:endCxn xmlns:a="http://schemas.openxmlformats.org/drawingml/2006/main" id="6" idx="1"/>
          </p:cNvCxnSpPr>
          <p:nvPr/>
        </p:nvCxnSpPr>
        <p:spPr>
          <a:xfrm xmlns:a="http://schemas.openxmlformats.org/drawingml/2006/main">
            <a:off x="5915026" y="3857625"/>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7010E56-791C-4152-9124-B093F9E860FE}"/>
              </a:ext>
            </a:extLst>
          </p:cNvPr>
          <p:cNvCxnSpPr>
            <a:stCxn xmlns:a="http://schemas.openxmlformats.org/drawingml/2006/main" id="4" idx="3"/>
            <a:endCxn xmlns:a="http://schemas.openxmlformats.org/drawingml/2006/main" id="5" idx="1"/>
          </p:cNvCxnSpPr>
          <p:nvPr/>
        </p:nvCxnSpPr>
        <p:spPr>
          <a:xfrm xmlns:a="http://schemas.openxmlformats.org/drawingml/2006/main">
            <a:off x="3119438" y="38576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1" name="title">
            <a:extLst xmlns:a="http://schemas.openxmlformats.org/drawingml/2006/main">
              <a:ext uri="{FF2B5EF4-FFF2-40B4-BE49-F238E27FC236}">
                <a16:creationId xmlns:a16="http://schemas.microsoft.com/office/drawing/2014/main" id="{87595A4A-532F-4869-AE07-57BA37C1626F}"/>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The intern recommends and management decides</a:t>
            </a:r>
          </a:p>
        </p:txBody>
      </p:sp>
      <p:sp>
        <p:nvSpPr>
          <p:cNvPr id="2" name="footer">
            <a:extLst xmlns:a="http://schemas.openxmlformats.org/drawingml/2006/main">
              <a:ext uri="{FF2B5EF4-FFF2-40B4-BE49-F238E27FC236}">
                <a16:creationId xmlns:a16="http://schemas.microsoft.com/office/drawing/2014/main" id="{2CAE008A-42DC-43D7-B813-B3D00BF6515B}"/>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10</a:t>
            </a:r>
          </a:p>
        </p:txBody>
      </p:sp>
      <p:sp>
        <p:nvSpPr>
          <p:cNvPr id="3" name="claim">
            <a:extLst xmlns:a="http://schemas.openxmlformats.org/drawingml/2006/main">
              <a:ext uri="{FF2B5EF4-FFF2-40B4-BE49-F238E27FC236}">
                <a16:creationId xmlns:a16="http://schemas.microsoft.com/office/drawing/2014/main" id="{59701CAA-2AFA-4D1A-99C7-5E55C9AB6FB6}"/>
              </a:ext>
            </a:extLst>
          </p:cNvPr>
          <p:cNvSpPr>
            <a:spLocks xmlns:a="http://schemas.openxmlformats.org/drawingml/2006/main" noGrp="1"/>
          </p:cNvSpPr>
          <p:nvPr/>
        </p:nvSpPr>
        <p:spPr>
          <a:xfrm xmlns:a="http://schemas.openxmlformats.org/drawingml/2006/main">
            <a:off x="685800" y="17145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A66317"/>
                </a:solidFill>
                <a:latin typeface="DejaVu Sans"/>
                <a:ea typeface="DejaVu Sans"/>
                <a:cs typeface="DejaVu Sans"/>
              </a:defRPr>
            </a:defPPr>
            <a:lvl1pPr>
              <a:defRPr sz="2175" b="0">
                <a:solidFill>
                  <a:srgbClr val="A66317"/>
                </a:solidFill>
                <a:latin typeface="DejaVu Sans"/>
                <a:ea typeface="DejaVu Sans"/>
                <a:cs typeface="DejaVu Sans"/>
              </a:defRPr>
            </a:lvl1pPr>
            <a:lvl2pPr>
              <a:defRPr sz="2175" b="0">
                <a:solidFill>
                  <a:srgbClr val="A66317"/>
                </a:solidFill>
                <a:latin typeface="DejaVu Sans"/>
                <a:ea typeface="DejaVu Sans"/>
                <a:cs typeface="DejaVu Sans"/>
              </a:defRPr>
            </a:lvl2pPr>
            <a:lvl3pPr>
              <a:defRPr sz="2175" b="0">
                <a:solidFill>
                  <a:srgbClr val="A66317"/>
                </a:solidFill>
                <a:latin typeface="DejaVu Sans"/>
                <a:ea typeface="DejaVu Sans"/>
                <a:cs typeface="DejaVu Sans"/>
              </a:defRPr>
            </a:lvl3pPr>
            <a:lvl4pPr>
              <a:defRPr sz="2175" b="0">
                <a:solidFill>
                  <a:srgbClr val="A66317"/>
                </a:solidFill>
                <a:latin typeface="DejaVu Sans"/>
                <a:ea typeface="DejaVu Sans"/>
                <a:cs typeface="DejaVu Sans"/>
              </a:defRPr>
            </a:lvl4pPr>
            <a:lvl5pPr>
              <a:defRPr sz="2175" b="0">
                <a:solidFill>
                  <a:srgbClr val="A66317"/>
                </a:solidFill>
                <a:latin typeface="DejaVu Sans"/>
                <a:ea typeface="DejaVu Sans"/>
                <a:cs typeface="DejaVu Sans"/>
              </a:defRPr>
            </a:lvl5pPr>
            <a:lvl6pPr>
              <a:defRPr sz="2175" b="0">
                <a:solidFill>
                  <a:srgbClr val="A66317"/>
                </a:solidFill>
                <a:latin typeface="DejaVu Sans"/>
                <a:ea typeface="DejaVu Sans"/>
                <a:cs typeface="DejaVu Sans"/>
              </a:defRPr>
            </a:lvl6pPr>
            <a:lvl7pPr>
              <a:defRPr sz="2175" b="0">
                <a:solidFill>
                  <a:srgbClr val="A66317"/>
                </a:solidFill>
                <a:latin typeface="DejaVu Sans"/>
                <a:ea typeface="DejaVu Sans"/>
                <a:cs typeface="DejaVu Sans"/>
              </a:defRPr>
            </a:lvl7pPr>
            <a:lvl8pPr>
              <a:defRPr sz="2175" b="0">
                <a:solidFill>
                  <a:srgbClr val="A66317"/>
                </a:solidFill>
                <a:latin typeface="DejaVu Sans"/>
                <a:ea typeface="DejaVu Sans"/>
                <a:cs typeface="DejaVu Sans"/>
              </a:defRPr>
            </a:lvl8pPr>
            <a:lvl9pPr>
              <a:defRPr sz="2175" b="0">
                <a:solidFill>
                  <a:srgbClr val="A66317"/>
                </a:solidFill>
                <a:latin typeface="DejaVu Sans"/>
                <a:ea typeface="DejaVu Sans"/>
                <a:cs typeface="DejaVu Sans"/>
              </a:defRPr>
            </a:lvl9pPr>
          </a:lstStyle>
          <a:p xmlns:a="http://schemas.openxmlformats.org/drawingml/2006/main">
            <a:pPr>
              <a:defRPr sz="2175" b="0">
                <a:solidFill>
                  <a:srgbClr val="A66317"/>
                </a:solidFill>
                <a:latin typeface="DejaVu Sans"/>
                <a:ea typeface="DejaVu Sans"/>
                <a:cs typeface="DejaVu Sans"/>
              </a:defRPr>
            </a:pPr>
            <a:r>
              <a:rPr sz="2175" b="0">
                <a:solidFill>
                  <a:srgbClr val="A66317"/>
                </a:solidFill>
                <a:latin typeface="DejaVu Sans"/>
                <a:ea typeface="DejaVu Sans"/>
                <a:cs typeface="DejaVu Sans"/>
              </a:rPr>
              <a:t>Unsupported AI claim: “The update proves no earlier disclosure.”</a:t>
            </a:r>
          </a:p>
        </p:txBody>
      </p:sp>
      <p:sp>
        <p:nvSpPr>
          <p:cNvPr id="4" name="AI suggestion">
            <a:extLst xmlns:a="http://schemas.openxmlformats.org/drawingml/2006/main">
              <a:ext uri="{FF2B5EF4-FFF2-40B4-BE49-F238E27FC236}">
                <a16:creationId xmlns:a16="http://schemas.microsoft.com/office/drawing/2014/main" id="{51C466DE-B8DC-4B56-896E-4995B2ED86F2}"/>
              </a:ext>
            </a:extLst>
          </p:cNvPr>
          <p:cNvSpPr>
            <a:spLocks xmlns:a="http://schemas.openxmlformats.org/drawingml/2006/main" noGrp="1"/>
          </p:cNvSpPr>
          <p:nvPr/>
        </p:nvSpPr>
        <p:spPr>
          <a:xfrm xmlns:a="http://schemas.openxmlformats.org/drawingml/2006/main">
            <a:off x="685800" y="3333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AI suggestion</a:t>
            </a:r>
          </a:p>
        </p:txBody>
      </p:sp>
      <p:sp>
        <p:nvSpPr>
          <p:cNvPr id="5" name="Evidence and&#10;source check">
            <a:extLst xmlns:a="http://schemas.openxmlformats.org/drawingml/2006/main">
              <a:ext uri="{FF2B5EF4-FFF2-40B4-BE49-F238E27FC236}">
                <a16:creationId xmlns:a16="http://schemas.microsoft.com/office/drawing/2014/main" id="{567A167E-F3ED-4370-AB8A-EAF97CFE8871}"/>
              </a:ext>
            </a:extLst>
          </p:cNvPr>
          <p:cNvSpPr>
            <a:spLocks xmlns:a="http://schemas.openxmlformats.org/drawingml/2006/main" noGrp="1"/>
          </p:cNvSpPr>
          <p:nvPr/>
        </p:nvSpPr>
        <p:spPr>
          <a:xfrm xmlns:a="http://schemas.openxmlformats.org/drawingml/2006/main">
            <a:off x="3481388" y="3333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Evidence and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source check</a:t>
            </a:r>
          </a:p>
        </p:txBody>
      </p:sp>
      <p:sp>
        <p:nvSpPr>
          <p:cNvPr id="6" name="Authorized&#10;human decision">
            <a:extLst xmlns:a="http://schemas.openxmlformats.org/drawingml/2006/main">
              <a:ext uri="{FF2B5EF4-FFF2-40B4-BE49-F238E27FC236}">
                <a16:creationId xmlns:a16="http://schemas.microsoft.com/office/drawing/2014/main" id="{CCA35E40-388D-4179-BA26-6900DE1EF295}"/>
              </a:ext>
            </a:extLst>
          </p:cNvPr>
          <p:cNvSpPr>
            <a:spLocks xmlns:a="http://schemas.openxmlformats.org/drawingml/2006/main" noGrp="1"/>
          </p:cNvSpPr>
          <p:nvPr/>
        </p:nvSpPr>
        <p:spPr>
          <a:xfrm xmlns:a="http://schemas.openxmlformats.org/drawingml/2006/main">
            <a:off x="6276975" y="3333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Authorized</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human decision</a:t>
            </a:r>
          </a:p>
        </p:txBody>
      </p:sp>
      <p:sp>
        <p:nvSpPr>
          <p:cNvPr id="7" name="Scoped action&#10;and review">
            <a:extLst xmlns:a="http://schemas.openxmlformats.org/drawingml/2006/main">
              <a:ext uri="{FF2B5EF4-FFF2-40B4-BE49-F238E27FC236}">
                <a16:creationId xmlns:a16="http://schemas.microsoft.com/office/drawing/2014/main" id="{2969E14A-00AC-4296-982B-A32572BA316D}"/>
              </a:ext>
            </a:extLst>
          </p:cNvPr>
          <p:cNvSpPr>
            <a:spLocks xmlns:a="http://schemas.openxmlformats.org/drawingml/2006/main" noGrp="1"/>
          </p:cNvSpPr>
          <p:nvPr/>
        </p:nvSpPr>
        <p:spPr>
          <a:xfrm xmlns:a="http://schemas.openxmlformats.org/drawingml/2006/main">
            <a:off x="9072563" y="33337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Scoped action</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and review</a:t>
            </a:r>
          </a:p>
        </p:txBody>
      </p:sp>
    </p:spTree>
    <p:extLst>
      <p:ext uri="{BB962C8B-B14F-4D97-AF65-F5344CB8AC3E}">
        <p14:creationId xmlns:p14="http://schemas.microsoft.com/office/powerpoint/2010/main" val="35536100"/>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4AC29A1-1A76-4225-999E-92B5D63923FB}"/>
              </a:ext>
            </a:extLst>
          </p:cNvPr>
          <p:cNvCxnSpPr>
            <a:stCxn xmlns:a="http://schemas.openxmlformats.org/drawingml/2006/main" id="6" idx="3"/>
            <a:endCxn xmlns:a="http://schemas.openxmlformats.org/drawingml/2006/main" id="7" idx="1"/>
          </p:cNvCxnSpPr>
          <p:nvPr/>
        </p:nvCxnSpPr>
        <p:spPr>
          <a:xfrm xmlns:a="http://schemas.openxmlformats.org/drawingml/2006/main">
            <a:off x="8710613" y="32861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93680D3-91A9-4748-B6DD-9EE9D7A854A5}"/>
              </a:ext>
            </a:extLst>
          </p:cNvPr>
          <p:cNvCxnSpPr>
            <a:stCxn xmlns:a="http://schemas.openxmlformats.org/drawingml/2006/main" id="5" idx="3"/>
            <a:endCxn xmlns:a="http://schemas.openxmlformats.org/drawingml/2006/main" id="6" idx="1"/>
          </p:cNvCxnSpPr>
          <p:nvPr/>
        </p:nvCxnSpPr>
        <p:spPr>
          <a:xfrm xmlns:a="http://schemas.openxmlformats.org/drawingml/2006/main">
            <a:off x="5915026" y="3286125"/>
            <a:ext cx="361949"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5D17316-142F-4160-A43F-485571147459}"/>
              </a:ext>
            </a:extLst>
          </p:cNvPr>
          <p:cNvCxnSpPr>
            <a:stCxn xmlns:a="http://schemas.openxmlformats.org/drawingml/2006/main" id="4" idx="3"/>
            <a:endCxn xmlns:a="http://schemas.openxmlformats.org/drawingml/2006/main" id="5" idx="1"/>
          </p:cNvCxnSpPr>
          <p:nvPr/>
        </p:nvCxnSpPr>
        <p:spPr>
          <a:xfrm xmlns:a="http://schemas.openxmlformats.org/drawingml/2006/main">
            <a:off x="3119438" y="3286125"/>
            <a:ext cx="361950" cy="0"/>
          </a:xfrm>
          <a:prstGeom xmlns:a="http://schemas.openxmlformats.org/drawingml/2006/main" prst="straightConnector1">
            <a:avLst/>
          </a:prstGeom>
          <a:ln xmlns:a="http://schemas.openxmlformats.org/drawingml/2006/main" w="28575">
            <a:solidFill>
              <a:srgbClr val="156C68"/>
            </a:solidFill>
            <a:prstDash val="solid"/>
            <a:tailEnd type="arrow" w="med" len="med"/>
          </a:ln>
        </p:spPr>
      </p:cxnSp>
      <p:sp>
        <p:nvSpPr>
          <p:cNvPr id="13" name="title">
            <a:extLst xmlns:a="http://schemas.openxmlformats.org/drawingml/2006/main">
              <a:ext uri="{FF2B5EF4-FFF2-40B4-BE49-F238E27FC236}">
                <a16:creationId xmlns:a16="http://schemas.microsoft.com/office/drawing/2014/main" id="{922E47D6-C981-4A73-A10A-CC6553E5A57B}"/>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Recovery tests must measure the business function</a:t>
            </a:r>
          </a:p>
        </p:txBody>
      </p:sp>
      <p:sp>
        <p:nvSpPr>
          <p:cNvPr id="2" name="footer">
            <a:extLst xmlns:a="http://schemas.openxmlformats.org/drawingml/2006/main">
              <a:ext uri="{FF2B5EF4-FFF2-40B4-BE49-F238E27FC236}">
                <a16:creationId xmlns:a16="http://schemas.microsoft.com/office/drawing/2014/main" id="{18BE292F-B185-4E9B-AB51-C47855E25500}"/>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11</a:t>
            </a:r>
          </a:p>
        </p:txBody>
      </p:sp>
      <p:sp>
        <p:nvSpPr>
          <p:cNvPr id="3" name="rto">
            <a:extLst xmlns:a="http://schemas.openxmlformats.org/drawingml/2006/main">
              <a:ext uri="{FF2B5EF4-FFF2-40B4-BE49-F238E27FC236}">
                <a16:creationId xmlns:a16="http://schemas.microsoft.com/office/drawing/2014/main" id="{0602D305-FDDB-416B-9A3C-7E3FBAA94B09}"/>
              </a:ext>
            </a:extLst>
          </p:cNvPr>
          <p:cNvSpPr>
            <a:spLocks xmlns:a="http://schemas.openxmlformats.org/drawingml/2006/main" noGrp="1"/>
          </p:cNvSpPr>
          <p:nvPr/>
        </p:nvSpPr>
        <p:spPr>
          <a:xfrm xmlns:a="http://schemas.openxmlformats.org/drawingml/2006/main">
            <a:off x="685800" y="1905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02F40"/>
                </a:solidFill>
                <a:latin typeface="DejaVu Sans"/>
                <a:ea typeface="DejaVu Sans"/>
                <a:cs typeface="DejaVu Sans"/>
              </a:defRPr>
            </a:defPPr>
            <a:lvl1pPr>
              <a:defRPr sz="2100" b="0">
                <a:solidFill>
                  <a:srgbClr val="102F40"/>
                </a:solidFill>
                <a:latin typeface="DejaVu Sans"/>
                <a:ea typeface="DejaVu Sans"/>
                <a:cs typeface="DejaVu Sans"/>
              </a:defRPr>
            </a:lvl1pPr>
            <a:lvl2pPr>
              <a:defRPr sz="2100" b="0">
                <a:solidFill>
                  <a:srgbClr val="102F40"/>
                </a:solidFill>
                <a:latin typeface="DejaVu Sans"/>
                <a:ea typeface="DejaVu Sans"/>
                <a:cs typeface="DejaVu Sans"/>
              </a:defRPr>
            </a:lvl2pPr>
            <a:lvl3pPr>
              <a:defRPr sz="2100" b="0">
                <a:solidFill>
                  <a:srgbClr val="102F40"/>
                </a:solidFill>
                <a:latin typeface="DejaVu Sans"/>
                <a:ea typeface="DejaVu Sans"/>
                <a:cs typeface="DejaVu Sans"/>
              </a:defRPr>
            </a:lvl3pPr>
            <a:lvl4pPr>
              <a:defRPr sz="2100" b="0">
                <a:solidFill>
                  <a:srgbClr val="102F40"/>
                </a:solidFill>
                <a:latin typeface="DejaVu Sans"/>
                <a:ea typeface="DejaVu Sans"/>
                <a:cs typeface="DejaVu Sans"/>
              </a:defRPr>
            </a:lvl4pPr>
            <a:lvl5pPr>
              <a:defRPr sz="2100" b="0">
                <a:solidFill>
                  <a:srgbClr val="102F40"/>
                </a:solidFill>
                <a:latin typeface="DejaVu Sans"/>
                <a:ea typeface="DejaVu Sans"/>
                <a:cs typeface="DejaVu Sans"/>
              </a:defRPr>
            </a:lvl5pPr>
            <a:lvl6pPr>
              <a:defRPr sz="2100" b="0">
                <a:solidFill>
                  <a:srgbClr val="102F40"/>
                </a:solidFill>
                <a:latin typeface="DejaVu Sans"/>
                <a:ea typeface="DejaVu Sans"/>
                <a:cs typeface="DejaVu Sans"/>
              </a:defRPr>
            </a:lvl6pPr>
            <a:lvl7pPr>
              <a:defRPr sz="2100" b="0">
                <a:solidFill>
                  <a:srgbClr val="102F40"/>
                </a:solidFill>
                <a:latin typeface="DejaVu Sans"/>
                <a:ea typeface="DejaVu Sans"/>
                <a:cs typeface="DejaVu Sans"/>
              </a:defRPr>
            </a:lvl7pPr>
            <a:lvl8pPr>
              <a:defRPr sz="2100" b="0">
                <a:solidFill>
                  <a:srgbClr val="102F40"/>
                </a:solidFill>
                <a:latin typeface="DejaVu Sans"/>
                <a:ea typeface="DejaVu Sans"/>
                <a:cs typeface="DejaVu Sans"/>
              </a:defRPr>
            </a:lvl8pPr>
            <a:lvl9pPr>
              <a:defRPr sz="2100" b="0">
                <a:solidFill>
                  <a:srgbClr val="102F40"/>
                </a:solidFill>
                <a:latin typeface="DejaVu Sans"/>
                <a:ea typeface="DejaVu Sans"/>
                <a:cs typeface="DejaVu Sans"/>
              </a:defRPr>
            </a:lvl9pPr>
          </a:lstStyle>
          <a:p xmlns:a="http://schemas.openxmlformats.org/drawingml/2006/main">
            <a:pPr>
              <a:defRPr sz="2100" b="0">
                <a:solidFill>
                  <a:srgbClr val="102F40"/>
                </a:solidFill>
                <a:latin typeface="DejaVu Sans"/>
                <a:ea typeface="DejaVu Sans"/>
                <a:cs typeface="DejaVu Sans"/>
              </a:defRPr>
            </a:pPr>
            <a:r>
              <a:rPr sz="2100" b="0">
                <a:solidFill>
                  <a:srgbClr val="102F40"/>
                </a:solidFill>
                <a:latin typeface="DejaVu Sans"/>
                <a:ea typeface="DejaVu Sans"/>
                <a:cs typeface="DejaVu Sans"/>
              </a:rPr>
              <a:t>Service time: target 4 hours, usable HNetPay at 5 hours</a:t>
            </a:r>
          </a:p>
        </p:txBody>
      </p:sp>
      <p:sp>
        <p:nvSpPr>
          <p:cNvPr id="4" name="Disruption">
            <a:extLst xmlns:a="http://schemas.openxmlformats.org/drawingml/2006/main">
              <a:ext uri="{FF2B5EF4-FFF2-40B4-BE49-F238E27FC236}">
                <a16:creationId xmlns:a16="http://schemas.microsoft.com/office/drawing/2014/main" id="{EAD2CB38-9BF3-4EF3-B797-04FEEEFC6548}"/>
              </a:ext>
            </a:extLst>
          </p:cNvPr>
          <p:cNvSpPr>
            <a:spLocks xmlns:a="http://schemas.openxmlformats.org/drawingml/2006/main" noGrp="1"/>
          </p:cNvSpPr>
          <p:nvPr/>
        </p:nvSpPr>
        <p:spPr>
          <a:xfrm xmlns:a="http://schemas.openxmlformats.org/drawingml/2006/main">
            <a:off x="685800" y="27622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Disruption</a:t>
            </a:r>
          </a:p>
        </p:txBody>
      </p:sp>
      <p:sp>
        <p:nvSpPr>
          <p:cNvPr id="5" name="Login at 2 h">
            <a:extLst xmlns:a="http://schemas.openxmlformats.org/drawingml/2006/main">
              <a:ext uri="{FF2B5EF4-FFF2-40B4-BE49-F238E27FC236}">
                <a16:creationId xmlns:a16="http://schemas.microsoft.com/office/drawing/2014/main" id="{C440E9A4-7D78-4B44-B4A7-6A2E7B6137F0}"/>
              </a:ext>
            </a:extLst>
          </p:cNvPr>
          <p:cNvSpPr>
            <a:spLocks xmlns:a="http://schemas.openxmlformats.org/drawingml/2006/main" noGrp="1"/>
          </p:cNvSpPr>
          <p:nvPr/>
        </p:nvSpPr>
        <p:spPr>
          <a:xfrm xmlns:a="http://schemas.openxmlformats.org/drawingml/2006/main">
            <a:off x="3481388" y="27622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Login at 2 h</a:t>
            </a:r>
          </a:p>
        </p:txBody>
      </p:sp>
      <p:sp>
        <p:nvSpPr>
          <p:cNvPr id="6" name="RTO at 4 h">
            <a:extLst xmlns:a="http://schemas.openxmlformats.org/drawingml/2006/main">
              <a:ext uri="{FF2B5EF4-FFF2-40B4-BE49-F238E27FC236}">
                <a16:creationId xmlns:a16="http://schemas.microsoft.com/office/drawing/2014/main" id="{82E112DD-1B0A-4FDB-8614-7CF853A0274E}"/>
              </a:ext>
            </a:extLst>
          </p:cNvPr>
          <p:cNvSpPr>
            <a:spLocks xmlns:a="http://schemas.openxmlformats.org/drawingml/2006/main" noGrp="1"/>
          </p:cNvSpPr>
          <p:nvPr/>
        </p:nvSpPr>
        <p:spPr>
          <a:xfrm xmlns:a="http://schemas.openxmlformats.org/drawingml/2006/main">
            <a:off x="6276975" y="27622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RTO at 4 h</a:t>
            </a:r>
          </a:p>
        </p:txBody>
      </p:sp>
      <p:sp>
        <p:nvSpPr>
          <p:cNvPr id="7" name="Usable payments&#10;at 5 h">
            <a:extLst xmlns:a="http://schemas.openxmlformats.org/drawingml/2006/main">
              <a:ext uri="{FF2B5EF4-FFF2-40B4-BE49-F238E27FC236}">
                <a16:creationId xmlns:a16="http://schemas.microsoft.com/office/drawing/2014/main" id="{7191A49E-CA11-4145-BCF0-1701942CA409}"/>
              </a:ext>
            </a:extLst>
          </p:cNvPr>
          <p:cNvSpPr>
            <a:spLocks xmlns:a="http://schemas.openxmlformats.org/drawingml/2006/main" noGrp="1"/>
          </p:cNvSpPr>
          <p:nvPr/>
        </p:nvSpPr>
        <p:spPr>
          <a:xfrm xmlns:a="http://schemas.openxmlformats.org/drawingml/2006/main">
            <a:off x="9072563" y="2762250"/>
            <a:ext cx="2433638" cy="1047750"/>
          </a:xfrm>
          <a:prstGeom xmlns:a="http://schemas.openxmlformats.org/drawingml/2006/main" prst="rect">
            <a:avLst/>
          </a:prstGeom>
          <a:solidFill xmlns:a="http://schemas.openxmlformats.org/drawingml/2006/main">
            <a:srgbClr val="E6EFED"/>
          </a:solidFill>
          <a:ln xmlns:a="http://schemas.openxmlformats.org/drawingml/2006/main" w="19050">
            <a:solidFill>
              <a:srgbClr val="156C68"/>
            </a:solidFill>
            <a:prstDash val="solid"/>
          </a:ln>
        </p:spPr>
        <p:txBody>
          <a:bodyPr xmlns:a="http://schemas.openxmlformats.org/drawingml/2006/main" anchor="ctr"/>
          <a:lstStyle xmlns:a="http://schemas.openxmlformats.org/drawingml/2006/main">
            <a:defPPr algn="ctr">
              <a:defRPr sz="1875">
                <a:solidFill>
                  <a:srgbClr val="102F40"/>
                </a:solidFill>
                <a:latin typeface="DejaVu Sans"/>
                <a:ea typeface="DejaVu Sans"/>
                <a:cs typeface="DejaVu Sans"/>
              </a:defRPr>
            </a:defPPr>
            <a:lvl1pPr algn="ctr">
              <a:defRPr sz="1875">
                <a:solidFill>
                  <a:srgbClr val="102F40"/>
                </a:solidFill>
                <a:latin typeface="DejaVu Sans"/>
                <a:ea typeface="DejaVu Sans"/>
                <a:cs typeface="DejaVu Sans"/>
              </a:defRPr>
            </a:lvl1pPr>
            <a:lvl2pPr algn="ctr">
              <a:defRPr sz="1875">
                <a:solidFill>
                  <a:srgbClr val="102F40"/>
                </a:solidFill>
                <a:latin typeface="DejaVu Sans"/>
                <a:ea typeface="DejaVu Sans"/>
                <a:cs typeface="DejaVu Sans"/>
              </a:defRPr>
            </a:lvl2pPr>
            <a:lvl3pPr algn="ctr">
              <a:defRPr sz="1875">
                <a:solidFill>
                  <a:srgbClr val="102F40"/>
                </a:solidFill>
                <a:latin typeface="DejaVu Sans"/>
                <a:ea typeface="DejaVu Sans"/>
                <a:cs typeface="DejaVu Sans"/>
              </a:defRPr>
            </a:lvl3pPr>
            <a:lvl4pPr algn="ctr">
              <a:defRPr sz="1875">
                <a:solidFill>
                  <a:srgbClr val="102F40"/>
                </a:solidFill>
                <a:latin typeface="DejaVu Sans"/>
                <a:ea typeface="DejaVu Sans"/>
                <a:cs typeface="DejaVu Sans"/>
              </a:defRPr>
            </a:lvl4pPr>
            <a:lvl5pPr algn="ctr">
              <a:defRPr sz="1875">
                <a:solidFill>
                  <a:srgbClr val="102F40"/>
                </a:solidFill>
                <a:latin typeface="DejaVu Sans"/>
                <a:ea typeface="DejaVu Sans"/>
                <a:cs typeface="DejaVu Sans"/>
              </a:defRPr>
            </a:lvl5pPr>
            <a:lvl6pPr algn="ctr">
              <a:defRPr sz="1875">
                <a:solidFill>
                  <a:srgbClr val="102F40"/>
                </a:solidFill>
                <a:latin typeface="DejaVu Sans"/>
                <a:ea typeface="DejaVu Sans"/>
                <a:cs typeface="DejaVu Sans"/>
              </a:defRPr>
            </a:lvl6pPr>
            <a:lvl7pPr algn="ctr">
              <a:defRPr sz="1875">
                <a:solidFill>
                  <a:srgbClr val="102F40"/>
                </a:solidFill>
                <a:latin typeface="DejaVu Sans"/>
                <a:ea typeface="DejaVu Sans"/>
                <a:cs typeface="DejaVu Sans"/>
              </a:defRPr>
            </a:lvl7pPr>
            <a:lvl8pPr algn="ctr">
              <a:defRPr sz="1875">
                <a:solidFill>
                  <a:srgbClr val="102F40"/>
                </a:solidFill>
                <a:latin typeface="DejaVu Sans"/>
                <a:ea typeface="DejaVu Sans"/>
                <a:cs typeface="DejaVu Sans"/>
              </a:defRPr>
            </a:lvl8pPr>
            <a:lvl9pPr algn="ctr">
              <a:defRPr sz="1875">
                <a:solidFill>
                  <a:srgbClr val="102F40"/>
                </a:solidFill>
                <a:latin typeface="DejaVu Sans"/>
                <a:ea typeface="DejaVu Sans"/>
                <a:cs typeface="DejaVu Sans"/>
              </a:defRPr>
            </a:lvl9pPr>
          </a:lstStyle>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Usable payments</a:t>
            </a:r>
          </a:p>
          <a:p xmlns:a="http://schemas.openxmlformats.org/drawingml/2006/main">
            <a:pPr algn="ctr">
              <a:defRPr sz="1875">
                <a:solidFill>
                  <a:srgbClr val="102F40"/>
                </a:solidFill>
                <a:latin typeface="DejaVu Sans"/>
                <a:ea typeface="DejaVu Sans"/>
                <a:cs typeface="DejaVu Sans"/>
              </a:defRPr>
            </a:pPr>
            <a:r>
              <a:rPr sz="1875">
                <a:solidFill>
                  <a:srgbClr val="102F40"/>
                </a:solidFill>
                <a:latin typeface="DejaVu Sans"/>
                <a:ea typeface="DejaVu Sans"/>
                <a:cs typeface="DejaVu Sans"/>
              </a:rPr>
              <a:t>at 5 h</a:t>
            </a:r>
          </a:p>
        </p:txBody>
      </p:sp>
      <p:sp>
        <p:nvSpPr>
          <p:cNvPr id="11" name="rpo">
            <a:extLst xmlns:a="http://schemas.openxmlformats.org/drawingml/2006/main">
              <a:ext uri="{FF2B5EF4-FFF2-40B4-BE49-F238E27FC236}">
                <a16:creationId xmlns:a16="http://schemas.microsoft.com/office/drawing/2014/main" id="{35CA95CD-4855-4367-A191-F3C5168786B9}"/>
              </a:ext>
            </a:extLst>
          </p:cNvPr>
          <p:cNvSpPr>
            <a:spLocks xmlns:a="http://schemas.openxmlformats.org/drawingml/2006/main" noGrp="1"/>
          </p:cNvSpPr>
          <p:nvPr/>
        </p:nvSpPr>
        <p:spPr>
          <a:xfrm xmlns:a="http://schemas.openxmlformats.org/drawingml/2006/main">
            <a:off x="685800" y="442912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Data age: 20 minutes within a 60-minute RPO</a:t>
            </a:r>
          </a:p>
        </p:txBody>
      </p:sp>
      <p:sp>
        <p:nvSpPr>
          <p:cNvPr id="12" name="caption">
            <a:extLst xmlns:a="http://schemas.openxmlformats.org/drawingml/2006/main">
              <a:ext uri="{FF2B5EF4-FFF2-40B4-BE49-F238E27FC236}">
                <a16:creationId xmlns:a16="http://schemas.microsoft.com/office/drawing/2014/main" id="{10FF7E85-AFAC-4A0F-8B3A-DE3F46BFFC37}"/>
              </a:ext>
            </a:extLst>
          </p:cNvPr>
          <p:cNvSpPr>
            <a:spLocks xmlns:a="http://schemas.openxmlformats.org/drawingml/2006/main" noGrp="1"/>
          </p:cNvSpPr>
          <p:nvPr/>
        </p:nvSpPr>
        <p:spPr>
          <a:xfrm xmlns:a="http://schemas.openxmlformats.org/drawingml/2006/main">
            <a:off x="685800" y="52863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A66317"/>
                </a:solidFill>
                <a:latin typeface="DejaVu Sans"/>
                <a:ea typeface="DejaVu Sans"/>
                <a:cs typeface="DejaVu Sans"/>
              </a:defRPr>
            </a:defPPr>
            <a:lvl1pPr>
              <a:defRPr sz="2400" b="1">
                <a:solidFill>
                  <a:srgbClr val="A66317"/>
                </a:solidFill>
                <a:latin typeface="DejaVu Sans"/>
                <a:ea typeface="DejaVu Sans"/>
                <a:cs typeface="DejaVu Sans"/>
              </a:defRPr>
            </a:lvl1pPr>
            <a:lvl2pPr>
              <a:defRPr sz="2400" b="1">
                <a:solidFill>
                  <a:srgbClr val="A66317"/>
                </a:solidFill>
                <a:latin typeface="DejaVu Sans"/>
                <a:ea typeface="DejaVu Sans"/>
                <a:cs typeface="DejaVu Sans"/>
              </a:defRPr>
            </a:lvl2pPr>
            <a:lvl3pPr>
              <a:defRPr sz="2400" b="1">
                <a:solidFill>
                  <a:srgbClr val="A66317"/>
                </a:solidFill>
                <a:latin typeface="DejaVu Sans"/>
                <a:ea typeface="DejaVu Sans"/>
                <a:cs typeface="DejaVu Sans"/>
              </a:defRPr>
            </a:lvl3pPr>
            <a:lvl4pPr>
              <a:defRPr sz="2400" b="1">
                <a:solidFill>
                  <a:srgbClr val="A66317"/>
                </a:solidFill>
                <a:latin typeface="DejaVu Sans"/>
                <a:ea typeface="DejaVu Sans"/>
                <a:cs typeface="DejaVu Sans"/>
              </a:defRPr>
            </a:lvl4pPr>
            <a:lvl5pPr>
              <a:defRPr sz="2400" b="1">
                <a:solidFill>
                  <a:srgbClr val="A66317"/>
                </a:solidFill>
                <a:latin typeface="DejaVu Sans"/>
                <a:ea typeface="DejaVu Sans"/>
                <a:cs typeface="DejaVu Sans"/>
              </a:defRPr>
            </a:lvl5pPr>
            <a:lvl6pPr>
              <a:defRPr sz="2400" b="1">
                <a:solidFill>
                  <a:srgbClr val="A66317"/>
                </a:solidFill>
                <a:latin typeface="DejaVu Sans"/>
                <a:ea typeface="DejaVu Sans"/>
                <a:cs typeface="DejaVu Sans"/>
              </a:defRPr>
            </a:lvl6pPr>
            <a:lvl7pPr>
              <a:defRPr sz="2400" b="1">
                <a:solidFill>
                  <a:srgbClr val="A66317"/>
                </a:solidFill>
                <a:latin typeface="DejaVu Sans"/>
                <a:ea typeface="DejaVu Sans"/>
                <a:cs typeface="DejaVu Sans"/>
              </a:defRPr>
            </a:lvl7pPr>
            <a:lvl8pPr>
              <a:defRPr sz="2400" b="1">
                <a:solidFill>
                  <a:srgbClr val="A66317"/>
                </a:solidFill>
                <a:latin typeface="DejaVu Sans"/>
                <a:ea typeface="DejaVu Sans"/>
                <a:cs typeface="DejaVu Sans"/>
              </a:defRPr>
            </a:lvl8pPr>
            <a:lvl9pPr>
              <a:defRPr sz="2400" b="1">
                <a:solidFill>
                  <a:srgbClr val="A66317"/>
                </a:solidFill>
                <a:latin typeface="DejaVu Sans"/>
                <a:ea typeface="DejaVu Sans"/>
                <a:cs typeface="DejaVu Sans"/>
              </a:defRPr>
            </a:lvl9pPr>
          </a:lstStyle>
          <a:p xmlns:a="http://schemas.openxmlformats.org/drawingml/2006/main">
            <a:pPr>
              <a:defRPr sz="2400" b="1">
                <a:solidFill>
                  <a:srgbClr val="A66317"/>
                </a:solidFill>
                <a:latin typeface="DejaVu Sans"/>
                <a:ea typeface="DejaVu Sans"/>
                <a:cs typeface="DejaVu Sans"/>
              </a:defRPr>
            </a:pPr>
            <a:r>
              <a:rPr sz="2400" b="1">
                <a:solidFill>
                  <a:srgbClr val="A66317"/>
                </a:solidFill>
                <a:latin typeface="DejaVu Sans"/>
                <a:ea typeface="DejaVu Sans"/>
                <a:cs typeface="DejaVu Sans"/>
              </a:rPr>
              <a:t>RTO missed. RPO met. MTD unknown.</a:t>
            </a:r>
          </a:p>
        </p:txBody>
      </p:sp>
    </p:spTree>
    <p:extLst>
      <p:ext uri="{BB962C8B-B14F-4D97-AF65-F5344CB8AC3E}">
        <p14:creationId xmlns:p14="http://schemas.microsoft.com/office/powerpoint/2010/main" val="1667163720"/>
      </p:ext>
    </p:extLst>
  </p:cSld>
</p:sld>
</file>

<file path=ppt/slides/slide1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B60D7F7-4228-4FAC-8068-F22C26F7824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Each project uses a different part of the record</a:t>
            </a:r>
          </a:p>
        </p:txBody>
      </p:sp>
      <p:sp>
        <p:nvSpPr>
          <p:cNvPr id="2" name="footer">
            <a:extLst xmlns:a="http://schemas.openxmlformats.org/drawingml/2006/main">
              <a:ext uri="{FF2B5EF4-FFF2-40B4-BE49-F238E27FC236}">
                <a16:creationId xmlns:a16="http://schemas.microsoft.com/office/drawing/2014/main" id="{1C14B9EB-D0FD-48D4-95C3-EB23D8811743}"/>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12</a:t>
            </a:r>
          </a:p>
        </p:txBody>
      </p:sp>
      <p:sp>
        <p:nvSpPr>
          <p:cNvPr id="3" name="left-head">
            <a:extLst xmlns:a="http://schemas.openxmlformats.org/drawingml/2006/main">
              <a:ext uri="{FF2B5EF4-FFF2-40B4-BE49-F238E27FC236}">
                <a16:creationId xmlns:a16="http://schemas.microsoft.com/office/drawing/2014/main" id="{6396E0AD-D26A-418E-BE3F-7C64891B9657}"/>
              </a:ext>
            </a:extLst>
          </p:cNvPr>
          <p:cNvSpPr>
            <a:spLocks xmlns:a="http://schemas.openxmlformats.org/drawingml/2006/main" noGrp="1"/>
          </p:cNvSpPr>
          <p:nvPr/>
        </p:nvSpPr>
        <p:spPr>
          <a:xfrm xmlns:a="http://schemas.openxmlformats.org/drawingml/2006/main">
            <a:off x="685800" y="18573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Planning and assessment</a:t>
            </a:r>
          </a:p>
        </p:txBody>
      </p:sp>
      <p:sp>
        <p:nvSpPr>
          <p:cNvPr id="4" name="left">
            <a:extLst xmlns:a="http://schemas.openxmlformats.org/drawingml/2006/main">
              <a:ext uri="{FF2B5EF4-FFF2-40B4-BE49-F238E27FC236}">
                <a16:creationId xmlns:a16="http://schemas.microsoft.com/office/drawing/2014/main" id="{409F64C4-EB02-4306-86A4-11599BC87D53}"/>
              </a:ext>
            </a:extLst>
          </p:cNvPr>
          <p:cNvSpPr>
            <a:spLocks xmlns:a="http://schemas.openxmlformats.org/drawingml/2006/main" noGrp="1"/>
          </p:cNvSpPr>
          <p:nvPr/>
        </p:nvSpPr>
        <p:spPr>
          <a:xfrm xmlns:a="http://schemas.openxmlformats.org/drawingml/2006/main">
            <a:off x="685800" y="26860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P1: scope, roles and schedule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P2: approach and evidence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Assigned SP 800-30 reading</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Canvas project task documents</a:t>
            </a:r>
          </a:p>
        </p:txBody>
      </p:sp>
      <p:sp>
        <p:nvSpPr>
          <p:cNvPr id="5" name="right-head">
            <a:extLst xmlns:a="http://schemas.openxmlformats.org/drawingml/2006/main">
              <a:ext uri="{FF2B5EF4-FFF2-40B4-BE49-F238E27FC236}">
                <a16:creationId xmlns:a16="http://schemas.microsoft.com/office/drawing/2014/main" id="{4C828EA8-4EF8-48AC-8DE1-7790D0950367}"/>
              </a:ext>
            </a:extLst>
          </p:cNvPr>
          <p:cNvSpPr>
            <a:spLocks xmlns:a="http://schemas.openxmlformats.org/drawingml/2006/main" noGrp="1"/>
          </p:cNvSpPr>
          <p:nvPr/>
        </p:nvSpPr>
        <p:spPr>
          <a:xfrm xmlns:a="http://schemas.openxmlformats.org/drawingml/2006/main">
            <a:off x="6429375" y="1857375"/>
            <a:ext cx="50768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Treatment and continuity</a:t>
            </a:r>
          </a:p>
        </p:txBody>
      </p:sp>
      <p:sp>
        <p:nvSpPr>
          <p:cNvPr id="6" name="right">
            <a:extLst xmlns:a="http://schemas.openxmlformats.org/drawingml/2006/main">
              <a:ext uri="{FF2B5EF4-FFF2-40B4-BE49-F238E27FC236}">
                <a16:creationId xmlns:a16="http://schemas.microsoft.com/office/drawing/2014/main" id="{5B66FCEE-D297-4C7A-9AC0-EE06A7DE4B68}"/>
              </a:ext>
            </a:extLst>
          </p:cNvPr>
          <p:cNvSpPr>
            <a:spLocks xmlns:a="http://schemas.openxmlformats.org/drawingml/2006/main" noGrp="1"/>
          </p:cNvSpPr>
          <p:nvPr/>
        </p:nvSpPr>
        <p:spPr>
          <a:xfrm xmlns:a="http://schemas.openxmlformats.org/drawingml/2006/main">
            <a:off x="6429375" y="2686050"/>
            <a:ext cx="507682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P3: actions and monitoring</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P4: impact and continuity</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CIS Controls v8 Guide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Assigned BIA bulletin and templates</a:t>
            </a:r>
          </a:p>
        </p:txBody>
      </p:sp>
    </p:spTree>
    <p:extLst>
      <p:ext uri="{BB962C8B-B14F-4D97-AF65-F5344CB8AC3E}">
        <p14:creationId xmlns:p14="http://schemas.microsoft.com/office/powerpoint/2010/main" val="1849702941"/>
      </p:ext>
    </p:extLst>
  </p:cSld>
</p:sld>
</file>

<file path=ppt/slides/slide1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845C285-90D5-426F-B379-9243646D13A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The intern handoff makes the next decision clear</a:t>
            </a:r>
          </a:p>
        </p:txBody>
      </p:sp>
      <p:sp>
        <p:nvSpPr>
          <p:cNvPr id="2" name="footer">
            <a:extLst xmlns:a="http://schemas.openxmlformats.org/drawingml/2006/main">
              <a:ext uri="{FF2B5EF4-FFF2-40B4-BE49-F238E27FC236}">
                <a16:creationId xmlns:a16="http://schemas.microsoft.com/office/drawing/2014/main" id="{0DD5A398-E64C-4D6B-9583-7F192713470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13</a:t>
            </a:r>
          </a:p>
        </p:txBody>
      </p:sp>
      <p:sp>
        <p:nvSpPr>
          <p:cNvPr id="3" name="left-head">
            <a:extLst xmlns:a="http://schemas.openxmlformats.org/drawingml/2006/main">
              <a:ext uri="{FF2B5EF4-FFF2-40B4-BE49-F238E27FC236}">
                <a16:creationId xmlns:a16="http://schemas.microsoft.com/office/drawing/2014/main" id="{6D8BB14E-A276-4704-B238-8A2346F4C994}"/>
              </a:ext>
            </a:extLst>
          </p:cNvPr>
          <p:cNvSpPr>
            <a:spLocks xmlns:a="http://schemas.openxmlformats.org/drawingml/2006/main" noGrp="1"/>
          </p:cNvSpPr>
          <p:nvPr/>
        </p:nvSpPr>
        <p:spPr>
          <a:xfrm xmlns:a="http://schemas.openxmlformats.org/drawingml/2006/main">
            <a:off x="685800" y="18573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Before management review</a:t>
            </a:r>
          </a:p>
        </p:txBody>
      </p:sp>
      <p:sp>
        <p:nvSpPr>
          <p:cNvPr id="4" name="left">
            <a:extLst xmlns:a="http://schemas.openxmlformats.org/drawingml/2006/main">
              <a:ext uri="{FF2B5EF4-FFF2-40B4-BE49-F238E27FC236}">
                <a16:creationId xmlns:a16="http://schemas.microsoft.com/office/drawing/2014/main" id="{F7C3F3E0-427F-4124-BD17-F74A15882817}"/>
              </a:ext>
            </a:extLst>
          </p:cNvPr>
          <p:cNvSpPr>
            <a:spLocks xmlns:a="http://schemas.openxmlformats.org/drawingml/2006/main" noGrp="1"/>
          </p:cNvSpPr>
          <p:nvPr/>
        </p:nvSpPr>
        <p:spPr>
          <a:xfrm xmlns:a="http://schemas.openxmlformats.org/drawingml/2006/main">
            <a:off x="685800" y="26860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Scope and evidence references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Risk and priority rationale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Treatment and owner</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Approval needs and uncertainty</a:t>
            </a:r>
          </a:p>
        </p:txBody>
      </p:sp>
      <p:sp>
        <p:nvSpPr>
          <p:cNvPr id="5" name="right-head">
            <a:extLst xmlns:a="http://schemas.openxmlformats.org/drawingml/2006/main">
              <a:ext uri="{FF2B5EF4-FFF2-40B4-BE49-F238E27FC236}">
                <a16:creationId xmlns:a16="http://schemas.microsoft.com/office/drawing/2014/main" id="{6670FE87-B6FD-441A-81B2-A9A6B1B987F6}"/>
              </a:ext>
            </a:extLst>
          </p:cNvPr>
          <p:cNvSpPr>
            <a:spLocks xmlns:a="http://schemas.openxmlformats.org/drawingml/2006/main" noGrp="1"/>
          </p:cNvSpPr>
          <p:nvPr/>
        </p:nvSpPr>
        <p:spPr>
          <a:xfrm xmlns:a="http://schemas.openxmlformats.org/drawingml/2006/main">
            <a:off x="6429375" y="1857375"/>
            <a:ext cx="50768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56C68"/>
                </a:solidFill>
                <a:latin typeface="DejaVu Sans"/>
                <a:ea typeface="DejaVu Sans"/>
                <a:cs typeface="DejaVu Sans"/>
              </a:defRPr>
            </a:defPPr>
            <a:lvl1pPr>
              <a:defRPr sz="2250" b="1">
                <a:solidFill>
                  <a:srgbClr val="156C68"/>
                </a:solidFill>
                <a:latin typeface="DejaVu Sans"/>
                <a:ea typeface="DejaVu Sans"/>
                <a:cs typeface="DejaVu Sans"/>
              </a:defRPr>
            </a:lvl1pPr>
            <a:lvl2pPr>
              <a:defRPr sz="2250" b="1">
                <a:solidFill>
                  <a:srgbClr val="156C68"/>
                </a:solidFill>
                <a:latin typeface="DejaVu Sans"/>
                <a:ea typeface="DejaVu Sans"/>
                <a:cs typeface="DejaVu Sans"/>
              </a:defRPr>
            </a:lvl2pPr>
            <a:lvl3pPr>
              <a:defRPr sz="2250" b="1">
                <a:solidFill>
                  <a:srgbClr val="156C68"/>
                </a:solidFill>
                <a:latin typeface="DejaVu Sans"/>
                <a:ea typeface="DejaVu Sans"/>
                <a:cs typeface="DejaVu Sans"/>
              </a:defRPr>
            </a:lvl3pPr>
            <a:lvl4pPr>
              <a:defRPr sz="2250" b="1">
                <a:solidFill>
                  <a:srgbClr val="156C68"/>
                </a:solidFill>
                <a:latin typeface="DejaVu Sans"/>
                <a:ea typeface="DejaVu Sans"/>
                <a:cs typeface="DejaVu Sans"/>
              </a:defRPr>
            </a:lvl4pPr>
            <a:lvl5pPr>
              <a:defRPr sz="2250" b="1">
                <a:solidFill>
                  <a:srgbClr val="156C68"/>
                </a:solidFill>
                <a:latin typeface="DejaVu Sans"/>
                <a:ea typeface="DejaVu Sans"/>
                <a:cs typeface="DejaVu Sans"/>
              </a:defRPr>
            </a:lvl5pPr>
            <a:lvl6pPr>
              <a:defRPr sz="2250" b="1">
                <a:solidFill>
                  <a:srgbClr val="156C68"/>
                </a:solidFill>
                <a:latin typeface="DejaVu Sans"/>
                <a:ea typeface="DejaVu Sans"/>
                <a:cs typeface="DejaVu Sans"/>
              </a:defRPr>
            </a:lvl6pPr>
            <a:lvl7pPr>
              <a:defRPr sz="2250" b="1">
                <a:solidFill>
                  <a:srgbClr val="156C68"/>
                </a:solidFill>
                <a:latin typeface="DejaVu Sans"/>
                <a:ea typeface="DejaVu Sans"/>
                <a:cs typeface="DejaVu Sans"/>
              </a:defRPr>
            </a:lvl7pPr>
            <a:lvl8pPr>
              <a:defRPr sz="2250" b="1">
                <a:solidFill>
                  <a:srgbClr val="156C68"/>
                </a:solidFill>
                <a:latin typeface="DejaVu Sans"/>
                <a:ea typeface="DejaVu Sans"/>
                <a:cs typeface="DejaVu Sans"/>
              </a:defRPr>
            </a:lvl8pPr>
            <a:lvl9pPr>
              <a:defRPr sz="2250" b="1">
                <a:solidFill>
                  <a:srgbClr val="156C68"/>
                </a:solidFill>
                <a:latin typeface="DejaVu Sans"/>
                <a:ea typeface="DejaVu Sans"/>
                <a:cs typeface="DejaVu Sans"/>
              </a:defRPr>
            </a:lvl9pPr>
          </a:lstStyle>
          <a:p xmlns:a="http://schemas.openxmlformats.org/drawingml/2006/main">
            <a:pPr>
              <a:defRPr sz="2250" b="1">
                <a:solidFill>
                  <a:srgbClr val="156C68"/>
                </a:solidFill>
                <a:latin typeface="DejaVu Sans"/>
                <a:ea typeface="DejaVu Sans"/>
                <a:cs typeface="DejaVu Sans"/>
              </a:defRPr>
            </a:pPr>
            <a:r>
              <a:rPr sz="2250" b="1">
                <a:solidFill>
                  <a:srgbClr val="156C68"/>
                </a:solidFill>
                <a:latin typeface="DejaVu Sans"/>
                <a:ea typeface="DejaVu Sans"/>
                <a:cs typeface="DejaVu Sans"/>
              </a:rPr>
              <a:t>After the decision</a:t>
            </a:r>
          </a:p>
        </p:txBody>
      </p:sp>
      <p:sp>
        <p:nvSpPr>
          <p:cNvPr id="6" name="right">
            <a:extLst xmlns:a="http://schemas.openxmlformats.org/drawingml/2006/main">
              <a:ext uri="{FF2B5EF4-FFF2-40B4-BE49-F238E27FC236}">
                <a16:creationId xmlns:a16="http://schemas.microsoft.com/office/drawing/2014/main" id="{2949F56B-D2B4-4926-8719-7668CD25ABB8}"/>
              </a:ext>
            </a:extLst>
          </p:cNvPr>
          <p:cNvSpPr>
            <a:spLocks xmlns:a="http://schemas.openxmlformats.org/drawingml/2006/main" noGrp="1"/>
          </p:cNvSpPr>
          <p:nvPr/>
        </p:nvSpPr>
        <p:spPr>
          <a:xfrm xmlns:a="http://schemas.openxmlformats.org/drawingml/2006/main">
            <a:off x="6429375" y="2686050"/>
            <a:ext cx="5076825"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Verification and business checks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Residual-risk review</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Monitoring owner and triggers</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Updated assessment record</a:t>
            </a:r>
          </a:p>
        </p:txBody>
      </p:sp>
    </p:spTree>
    <p:extLst>
      <p:ext uri="{BB962C8B-B14F-4D97-AF65-F5344CB8AC3E}">
        <p14:creationId xmlns:p14="http://schemas.microsoft.com/office/powerpoint/2010/main" val="1744494036"/>
      </p:ext>
    </p:extLst>
  </p:cSld>
</p:sld>
</file>

<file path=ppt/slides/slide1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00958F-2170-4A9C-A65F-91BE27FC051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02F40"/>
                </a:solidFill>
                <a:latin typeface="DejaVu Sans"/>
                <a:ea typeface="DejaVu Sans"/>
                <a:cs typeface="DejaVu Sans"/>
              </a:defRPr>
            </a:defPPr>
            <a:lvl1pPr>
              <a:defRPr sz="3150" b="1">
                <a:solidFill>
                  <a:srgbClr val="102F40"/>
                </a:solidFill>
                <a:latin typeface="DejaVu Sans"/>
                <a:ea typeface="DejaVu Sans"/>
                <a:cs typeface="DejaVu Sans"/>
              </a:defRPr>
            </a:lvl1pPr>
            <a:lvl2pPr>
              <a:defRPr sz="3150" b="1">
                <a:solidFill>
                  <a:srgbClr val="102F40"/>
                </a:solidFill>
                <a:latin typeface="DejaVu Sans"/>
                <a:ea typeface="DejaVu Sans"/>
                <a:cs typeface="DejaVu Sans"/>
              </a:defRPr>
            </a:lvl2pPr>
            <a:lvl3pPr>
              <a:defRPr sz="3150" b="1">
                <a:solidFill>
                  <a:srgbClr val="102F40"/>
                </a:solidFill>
                <a:latin typeface="DejaVu Sans"/>
                <a:ea typeface="DejaVu Sans"/>
                <a:cs typeface="DejaVu Sans"/>
              </a:defRPr>
            </a:lvl3pPr>
            <a:lvl4pPr>
              <a:defRPr sz="3150" b="1">
                <a:solidFill>
                  <a:srgbClr val="102F40"/>
                </a:solidFill>
                <a:latin typeface="DejaVu Sans"/>
                <a:ea typeface="DejaVu Sans"/>
                <a:cs typeface="DejaVu Sans"/>
              </a:defRPr>
            </a:lvl4pPr>
            <a:lvl5pPr>
              <a:defRPr sz="3150" b="1">
                <a:solidFill>
                  <a:srgbClr val="102F40"/>
                </a:solidFill>
                <a:latin typeface="DejaVu Sans"/>
                <a:ea typeface="DejaVu Sans"/>
                <a:cs typeface="DejaVu Sans"/>
              </a:defRPr>
            </a:lvl5pPr>
            <a:lvl6pPr>
              <a:defRPr sz="3150" b="1">
                <a:solidFill>
                  <a:srgbClr val="102F40"/>
                </a:solidFill>
                <a:latin typeface="DejaVu Sans"/>
                <a:ea typeface="DejaVu Sans"/>
                <a:cs typeface="DejaVu Sans"/>
              </a:defRPr>
            </a:lvl6pPr>
            <a:lvl7pPr>
              <a:defRPr sz="3150" b="1">
                <a:solidFill>
                  <a:srgbClr val="102F40"/>
                </a:solidFill>
                <a:latin typeface="DejaVu Sans"/>
                <a:ea typeface="DejaVu Sans"/>
                <a:cs typeface="DejaVu Sans"/>
              </a:defRPr>
            </a:lvl7pPr>
            <a:lvl8pPr>
              <a:defRPr sz="3150" b="1">
                <a:solidFill>
                  <a:srgbClr val="102F40"/>
                </a:solidFill>
                <a:latin typeface="DejaVu Sans"/>
                <a:ea typeface="DejaVu Sans"/>
                <a:cs typeface="DejaVu Sans"/>
              </a:defRPr>
            </a:lvl8pPr>
            <a:lvl9pPr>
              <a:defRPr sz="3150" b="1">
                <a:solidFill>
                  <a:srgbClr val="102F40"/>
                </a:solidFill>
                <a:latin typeface="DejaVu Sans"/>
                <a:ea typeface="DejaVu Sans"/>
                <a:cs typeface="DejaVu Sans"/>
              </a:defRPr>
            </a:lvl9pPr>
          </a:lstStyle>
          <a:p xmlns:a="http://schemas.openxmlformats.org/drawingml/2006/main">
            <a:pPr>
              <a:defRPr sz="3150" b="1">
                <a:solidFill>
                  <a:srgbClr val="102F40"/>
                </a:solidFill>
                <a:latin typeface="DejaVu Sans"/>
                <a:ea typeface="DejaVu Sans"/>
                <a:cs typeface="DejaVu Sans"/>
              </a:defRPr>
            </a:pPr>
            <a:r>
              <a:rPr sz="3150" b="1">
                <a:solidFill>
                  <a:srgbClr val="102F40"/>
                </a:solidFill>
                <a:latin typeface="DejaVu Sans"/>
                <a:ea typeface="DejaVu Sans"/>
                <a:cs typeface="DejaVu Sans"/>
              </a:rPr>
              <a:t>Sources and classroom use</a:t>
            </a:r>
          </a:p>
        </p:txBody>
      </p:sp>
      <p:sp>
        <p:nvSpPr>
          <p:cNvPr id="2" name="footer">
            <a:extLst xmlns:a="http://schemas.openxmlformats.org/drawingml/2006/main">
              <a:ext uri="{FF2B5EF4-FFF2-40B4-BE49-F238E27FC236}">
                <a16:creationId xmlns:a16="http://schemas.microsoft.com/office/drawing/2014/main" id="{7F7D8B1E-80C0-4202-BC2A-0536594E7CCA}"/>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56C68"/>
                </a:solidFill>
                <a:latin typeface="DejaVu Sans"/>
                <a:ea typeface="DejaVu Sans"/>
                <a:cs typeface="DejaVu Sans"/>
              </a:defRPr>
            </a:defPPr>
            <a:lvl1pPr>
              <a:defRPr sz="1125" b="0">
                <a:solidFill>
                  <a:srgbClr val="156C68"/>
                </a:solidFill>
                <a:latin typeface="DejaVu Sans"/>
                <a:ea typeface="DejaVu Sans"/>
                <a:cs typeface="DejaVu Sans"/>
              </a:defRPr>
            </a:lvl1pPr>
            <a:lvl2pPr>
              <a:defRPr sz="1125" b="0">
                <a:solidFill>
                  <a:srgbClr val="156C68"/>
                </a:solidFill>
                <a:latin typeface="DejaVu Sans"/>
                <a:ea typeface="DejaVu Sans"/>
                <a:cs typeface="DejaVu Sans"/>
              </a:defRPr>
            </a:lvl2pPr>
            <a:lvl3pPr>
              <a:defRPr sz="1125" b="0">
                <a:solidFill>
                  <a:srgbClr val="156C68"/>
                </a:solidFill>
                <a:latin typeface="DejaVu Sans"/>
                <a:ea typeface="DejaVu Sans"/>
                <a:cs typeface="DejaVu Sans"/>
              </a:defRPr>
            </a:lvl3pPr>
            <a:lvl4pPr>
              <a:defRPr sz="1125" b="0">
                <a:solidFill>
                  <a:srgbClr val="156C68"/>
                </a:solidFill>
                <a:latin typeface="DejaVu Sans"/>
                <a:ea typeface="DejaVu Sans"/>
                <a:cs typeface="DejaVu Sans"/>
              </a:defRPr>
            </a:lvl4pPr>
            <a:lvl5pPr>
              <a:defRPr sz="1125" b="0">
                <a:solidFill>
                  <a:srgbClr val="156C68"/>
                </a:solidFill>
                <a:latin typeface="DejaVu Sans"/>
                <a:ea typeface="DejaVu Sans"/>
                <a:cs typeface="DejaVu Sans"/>
              </a:defRPr>
            </a:lvl5pPr>
            <a:lvl6pPr>
              <a:defRPr sz="1125" b="0">
                <a:solidFill>
                  <a:srgbClr val="156C68"/>
                </a:solidFill>
                <a:latin typeface="DejaVu Sans"/>
                <a:ea typeface="DejaVu Sans"/>
                <a:cs typeface="DejaVu Sans"/>
              </a:defRPr>
            </a:lvl6pPr>
            <a:lvl7pPr>
              <a:defRPr sz="1125" b="0">
                <a:solidFill>
                  <a:srgbClr val="156C68"/>
                </a:solidFill>
                <a:latin typeface="DejaVu Sans"/>
                <a:ea typeface="DejaVu Sans"/>
                <a:cs typeface="DejaVu Sans"/>
              </a:defRPr>
            </a:lvl7pPr>
            <a:lvl8pPr>
              <a:defRPr sz="1125" b="0">
                <a:solidFill>
                  <a:srgbClr val="156C68"/>
                </a:solidFill>
                <a:latin typeface="DejaVu Sans"/>
                <a:ea typeface="DejaVu Sans"/>
                <a:cs typeface="DejaVu Sans"/>
              </a:defRPr>
            </a:lvl8pPr>
            <a:lvl9pPr>
              <a:defRPr sz="1125" b="0">
                <a:solidFill>
                  <a:srgbClr val="156C68"/>
                </a:solidFill>
                <a:latin typeface="DejaVu Sans"/>
                <a:ea typeface="DejaVu Sans"/>
                <a:cs typeface="DejaVu Sans"/>
              </a:defRPr>
            </a:lvl9pPr>
          </a:lstStyle>
          <a:p xmlns:a="http://schemas.openxmlformats.org/drawingml/2006/main">
            <a:pPr>
              <a:defRPr sz="1125" b="0">
                <a:solidFill>
                  <a:srgbClr val="156C68"/>
                </a:solidFill>
                <a:latin typeface="DejaVu Sans"/>
                <a:ea typeface="DejaVu Sans"/>
                <a:cs typeface="DejaVu Sans"/>
              </a:defRPr>
            </a:pPr>
            <a:r>
              <a:rPr sz="1125" b="0">
                <a:solidFill>
                  <a:srgbClr val="156C68"/>
                </a:solidFill>
                <a:latin typeface="DejaVu Sans"/>
                <a:ea typeface="DejaVu Sans"/>
                <a:cs typeface="DejaVu Sans"/>
              </a:rPr>
              <a:t>ISM 310   /   Health Network intern risk lab   /   14</a:t>
            </a:r>
          </a:p>
        </p:txBody>
      </p:sp>
      <p:sp>
        <p:nvSpPr>
          <p:cNvPr id="3" name="sources">
            <a:extLst xmlns:a="http://schemas.openxmlformats.org/drawingml/2006/main">
              <a:ext uri="{FF2B5EF4-FFF2-40B4-BE49-F238E27FC236}">
                <a16:creationId xmlns:a16="http://schemas.microsoft.com/office/drawing/2014/main" id="{A44852BB-A74B-464F-A4DA-CDE649AC051A}"/>
              </a:ext>
            </a:extLst>
          </p:cNvPr>
          <p:cNvSpPr>
            <a:spLocks xmlns:a="http://schemas.openxmlformats.org/drawingml/2006/main" noGrp="1"/>
          </p:cNvSpPr>
          <p:nvPr/>
        </p:nvSpPr>
        <p:spPr>
          <a:xfrm xmlns:a="http://schemas.openxmlformats.org/drawingml/2006/main">
            <a:off x="685800" y="1905000"/>
            <a:ext cx="108204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F40"/>
                </a:solidFill>
                <a:latin typeface="DejaVu Sans"/>
                <a:ea typeface="DejaVu Sans"/>
                <a:cs typeface="DejaVu Sans"/>
              </a:defRPr>
            </a:defPPr>
            <a:lvl1pPr>
              <a:defRPr sz="2025" b="0">
                <a:solidFill>
                  <a:srgbClr val="102F40"/>
                </a:solidFill>
                <a:latin typeface="DejaVu Sans"/>
                <a:ea typeface="DejaVu Sans"/>
                <a:cs typeface="DejaVu Sans"/>
              </a:defRPr>
            </a:lvl1pPr>
            <a:lvl2pPr>
              <a:defRPr sz="2025" b="0">
                <a:solidFill>
                  <a:srgbClr val="102F40"/>
                </a:solidFill>
                <a:latin typeface="DejaVu Sans"/>
                <a:ea typeface="DejaVu Sans"/>
                <a:cs typeface="DejaVu Sans"/>
              </a:defRPr>
            </a:lvl2pPr>
            <a:lvl3pPr>
              <a:defRPr sz="2025" b="0">
                <a:solidFill>
                  <a:srgbClr val="102F40"/>
                </a:solidFill>
                <a:latin typeface="DejaVu Sans"/>
                <a:ea typeface="DejaVu Sans"/>
                <a:cs typeface="DejaVu Sans"/>
              </a:defRPr>
            </a:lvl3pPr>
            <a:lvl4pPr>
              <a:defRPr sz="2025" b="0">
                <a:solidFill>
                  <a:srgbClr val="102F40"/>
                </a:solidFill>
                <a:latin typeface="DejaVu Sans"/>
                <a:ea typeface="DejaVu Sans"/>
                <a:cs typeface="DejaVu Sans"/>
              </a:defRPr>
            </a:lvl4pPr>
            <a:lvl5pPr>
              <a:defRPr sz="2025" b="0">
                <a:solidFill>
                  <a:srgbClr val="102F40"/>
                </a:solidFill>
                <a:latin typeface="DejaVu Sans"/>
                <a:ea typeface="DejaVu Sans"/>
                <a:cs typeface="DejaVu Sans"/>
              </a:defRPr>
            </a:lvl5pPr>
            <a:lvl6pPr>
              <a:defRPr sz="2025" b="0">
                <a:solidFill>
                  <a:srgbClr val="102F40"/>
                </a:solidFill>
                <a:latin typeface="DejaVu Sans"/>
                <a:ea typeface="DejaVu Sans"/>
                <a:cs typeface="DejaVu Sans"/>
              </a:defRPr>
            </a:lvl6pPr>
            <a:lvl7pPr>
              <a:defRPr sz="2025" b="0">
                <a:solidFill>
                  <a:srgbClr val="102F40"/>
                </a:solidFill>
                <a:latin typeface="DejaVu Sans"/>
                <a:ea typeface="DejaVu Sans"/>
                <a:cs typeface="DejaVu Sans"/>
              </a:defRPr>
            </a:lvl7pPr>
            <a:lvl8pPr>
              <a:defRPr sz="2025" b="0">
                <a:solidFill>
                  <a:srgbClr val="102F40"/>
                </a:solidFill>
                <a:latin typeface="DejaVu Sans"/>
                <a:ea typeface="DejaVu Sans"/>
                <a:cs typeface="DejaVu Sans"/>
              </a:defRPr>
            </a:lvl8pPr>
            <a:lvl9pPr>
              <a:defRPr sz="2025" b="0">
                <a:solidFill>
                  <a:srgbClr val="102F40"/>
                </a:solidFill>
                <a:latin typeface="DejaVu Sans"/>
                <a:ea typeface="DejaVu Sans"/>
                <a:cs typeface="DejaVu Sans"/>
              </a:defRPr>
            </a:lvl9pPr>
          </a:lstStyle>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Wiz PHP2Shell research report</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www.wiz.io/blog/php2shell-php-rce</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PHP security advisory dated October 21, 2026</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www.php.net/archive/2026.php#2026-10-21-5</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NIST SP 800-30 Revision 1</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csrc.nist.gov/pubs/sp/800/30/r1/final</a:t>
            </a:r>
          </a:p>
          <a:p xmlns:a="http://schemas.openxmlformats.org/drawingml/2006/main">
            <a:pPr>
              <a:defRPr sz="2025" b="0">
                <a:solidFill>
                  <a:srgbClr val="102F40"/>
                </a:solidFill>
                <a:latin typeface="DejaVu Sans"/>
                <a:ea typeface="DejaVu Sans"/>
                <a:cs typeface="DejaVu Sans"/>
              </a:defRPr>
            </a:pPr>
            <a:r>
              <a:rPr sz="2025" b="0">
                <a:solidFill>
                  <a:srgbClr val="102F40"/>
                </a:solidFill>
                <a:latin typeface="DejaVu Sans"/>
                <a:ea typeface="DejaVu Sans"/>
                <a:cs typeface="DejaVu Sans"/>
              </a:rPr>
              <a:t>Professor-provided video linked in the activity</a:t>
            </a:r>
          </a:p>
        </p:txBody>
      </p:sp>
    </p:spTree>
    <p:extLst>
      <p:ext uri="{BB962C8B-B14F-4D97-AF65-F5344CB8AC3E}">
        <p14:creationId xmlns:p14="http://schemas.microsoft.com/office/powerpoint/2010/main" val="889670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2026-10-22T17:15:55.2450000Z</dcterms:created>
  <dcterms:modified xsi:type="dcterms:W3CDTF">2026-10-22T17:15:55.2460000Z</dcterms:modified>
</coreProperties>
</file>