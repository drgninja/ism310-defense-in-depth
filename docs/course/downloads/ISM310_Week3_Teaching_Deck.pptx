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f3c699ffcd4888" /><Relationship Type="http://schemas.openxmlformats.org/officeDocument/2006/relationships/extended-properties" Target="/docProps/app.xml" Id="Rd3bae6ad338d4c63" /><Relationship Type="http://schemas.openxmlformats.org/officeDocument/2006/relationships/officeDocument" Target="/ppt/presentation.xml" Id="Rc137372410524f13" /></Relationships>
</file>

<file path=ppt/presentation.xml><?xml version="1.0" encoding="utf-8"?>
<p:presentation xmlns:p="http://schemas.openxmlformats.org/presentationml/2006/main">
  <p:sldMasterIdLst>
    <p:sldMasterId xmlns:r="http://schemas.openxmlformats.org/officeDocument/2006/relationships" id="2147483648" r:id="R08b9fa92359c463d"/>
  </p:sldMasterIdLst>
  <p:notesMasterIdLst>
    <p:notesMasterId xmlns:r="http://schemas.openxmlformats.org/officeDocument/2006/relationships" r:id="R0d106f7e6c8a4c92"/>
  </p:notesMasterIdLst>
  <p:sldIdLst>
    <p:sldId xmlns:r="http://schemas.openxmlformats.org/officeDocument/2006/relationships" id="256" r:id="R4bdf635b38cb49f0"/>
    <p:sldId xmlns:r="http://schemas.openxmlformats.org/officeDocument/2006/relationships" id="257" r:id="R954b99a201a74733"/>
    <p:sldId xmlns:r="http://schemas.openxmlformats.org/officeDocument/2006/relationships" id="258" r:id="Rbd8b6014ecdd4390"/>
    <p:sldId xmlns:r="http://schemas.openxmlformats.org/officeDocument/2006/relationships" id="259" r:id="R8988baa357cf42cb"/>
    <p:sldId xmlns:r="http://schemas.openxmlformats.org/officeDocument/2006/relationships" id="260" r:id="R948a3ef8a6bb4946"/>
    <p:sldId xmlns:r="http://schemas.openxmlformats.org/officeDocument/2006/relationships" id="261" r:id="R9058da8e26494237"/>
    <p:sldId xmlns:r="http://schemas.openxmlformats.org/officeDocument/2006/relationships" id="262" r:id="Re9f80312d3404cfd"/>
    <p:sldId xmlns:r="http://schemas.openxmlformats.org/officeDocument/2006/relationships" id="263" r:id="R1e9065b1e0e94676"/>
    <p:sldId xmlns:r="http://schemas.openxmlformats.org/officeDocument/2006/relationships" id="264" r:id="Rba097b8da9c74a1f"/>
    <p:sldId xmlns:r="http://schemas.openxmlformats.org/officeDocument/2006/relationships" id="265" r:id="Ra78c964c34d2466b"/>
    <p:sldId xmlns:r="http://schemas.openxmlformats.org/officeDocument/2006/relationships" id="266" r:id="R8c6a793fd5be4e02"/>
    <p:sldId xmlns:r="http://schemas.openxmlformats.org/officeDocument/2006/relationships" id="267" r:id="Rd63852ed109943f0"/>
    <p:sldId xmlns:r="http://schemas.openxmlformats.org/officeDocument/2006/relationships" id="268" r:id="R56e647edbe3e48ba"/>
    <p:sldId xmlns:r="http://schemas.openxmlformats.org/officeDocument/2006/relationships" id="269" r:id="R60f3ba13a5ce4c13"/>
    <p:sldId xmlns:r="http://schemas.openxmlformats.org/officeDocument/2006/relationships" id="270" r:id="R3455afca54bb476a"/>
    <p:sldId xmlns:r="http://schemas.openxmlformats.org/officeDocument/2006/relationships" id="271" r:id="R697ce969f1774097"/>
    <p:sldId xmlns:r="http://schemas.openxmlformats.org/officeDocument/2006/relationships" id="272" r:id="R66445fbef945437d"/>
    <p:sldId xmlns:r="http://schemas.openxmlformats.org/officeDocument/2006/relationships" id="273" r:id="Rddd4ac0b8e3440a7"/>
    <p:sldId xmlns:r="http://schemas.openxmlformats.org/officeDocument/2006/relationships" id="274" r:id="R6fdb19fe7e4d4bd0"/>
    <p:sldId xmlns:r="http://schemas.openxmlformats.org/officeDocument/2006/relationships" id="275" r:id="R004f340b08664fec"/>
    <p:sldId xmlns:r="http://schemas.openxmlformats.org/officeDocument/2006/relationships" id="276" r:id="Raf57044e35c34e88"/>
    <p:sldId xmlns:r="http://schemas.openxmlformats.org/officeDocument/2006/relationships" id="277" r:id="R9b34338640874ad8"/>
    <p:sldId xmlns:r="http://schemas.openxmlformats.org/officeDocument/2006/relationships" id="278" r:id="R5deb56aebbf944a3"/>
    <p:sldId xmlns:r="http://schemas.openxmlformats.org/officeDocument/2006/relationships" id="279" r:id="Rfa52218d8139416e"/>
    <p:sldId xmlns:r="http://schemas.openxmlformats.org/officeDocument/2006/relationships" id="280" r:id="Rd200f091c6d44e0b"/>
    <p:sldId xmlns:r="http://schemas.openxmlformats.org/officeDocument/2006/relationships" id="281" r:id="R4a13df63fcf34094"/>
    <p:sldId xmlns:r="http://schemas.openxmlformats.org/officeDocument/2006/relationships" id="282" r:id="Raa252b8625874754"/>
    <p:sldId xmlns:r="http://schemas.openxmlformats.org/officeDocument/2006/relationships" id="283" r:id="Ra580a0ede1aa4cf7"/>
    <p:sldId xmlns:r="http://schemas.openxmlformats.org/officeDocument/2006/relationships" id="284" r:id="R00f98e5500ed4563"/>
    <p:sldId xmlns:r="http://schemas.openxmlformats.org/officeDocument/2006/relationships" id="285" r:id="R91b5273ffcd843c2"/>
    <p:sldId xmlns:r="http://schemas.openxmlformats.org/officeDocument/2006/relationships" id="286" r:id="R8cfa1f3cc1a047f2"/>
    <p:sldId xmlns:r="http://schemas.openxmlformats.org/officeDocument/2006/relationships" id="287" r:id="R1a4e0639eba54257"/>
    <p:sldId xmlns:r="http://schemas.openxmlformats.org/officeDocument/2006/relationships" id="288" r:id="R5ae4f3e977c549cf"/>
    <p:sldId xmlns:r="http://schemas.openxmlformats.org/officeDocument/2006/relationships" id="289" r:id="Ra0cd4b92fbe14cd6"/>
    <p:sldId xmlns:r="http://schemas.openxmlformats.org/officeDocument/2006/relationships" id="290" r:id="Rd6a862f3a2014383"/>
    <p:sldId xmlns:r="http://schemas.openxmlformats.org/officeDocument/2006/relationships" id="291" r:id="Rd4d523ee9edb4c40"/>
    <p:sldId xmlns:r="http://schemas.openxmlformats.org/officeDocument/2006/relationships" id="292" r:id="R3d9f7d7a46e24c80"/>
    <p:sldId xmlns:r="http://schemas.openxmlformats.org/officeDocument/2006/relationships" id="293" r:id="R529dd89ad74c4de5"/>
    <p:sldId xmlns:r="http://schemas.openxmlformats.org/officeDocument/2006/relationships" id="294" r:id="R698dff3c9531434d"/>
    <p:sldId xmlns:r="http://schemas.openxmlformats.org/officeDocument/2006/relationships" id="295" r:id="R6c8de1ff13384e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f34769c4904814" /><Relationship Type="http://schemas.openxmlformats.org/officeDocument/2006/relationships/slideMaster" Target="/ppt/slideMasters/slideMaster1.xml" Id="R08b9fa92359c463d" /><Relationship Type="http://schemas.openxmlformats.org/officeDocument/2006/relationships/notesMaster" Target="/ppt/notesMasters/notesMaster1.xml" Id="R0d106f7e6c8a4c92" /><Relationship Type="http://schemas.openxmlformats.org/officeDocument/2006/relationships/presProps" Target="/ppt/presProps.xml" Id="R77171c1786864a27" /><Relationship Type="http://schemas.openxmlformats.org/officeDocument/2006/relationships/tableStyles" Target="/ppt/tableStyles.xml" Id="Rbb6e2e7c2b6c42e3" /><Relationship Type="http://schemas.openxmlformats.org/officeDocument/2006/relationships/slide" Target="/ppt/slides/slide1.xml" Id="R4bdf635b38cb49f0" /><Relationship Type="http://schemas.openxmlformats.org/officeDocument/2006/relationships/slide" Target="/ppt/slides/slide2.xml" Id="R954b99a201a74733" /><Relationship Type="http://schemas.openxmlformats.org/officeDocument/2006/relationships/slide" Target="/ppt/slides/slide3.xml" Id="Rbd8b6014ecdd4390" /><Relationship Type="http://schemas.openxmlformats.org/officeDocument/2006/relationships/slide" Target="/ppt/slides/slide4.xml" Id="R8988baa357cf42cb" /><Relationship Type="http://schemas.openxmlformats.org/officeDocument/2006/relationships/slide" Target="/ppt/slides/slide5.xml" Id="R948a3ef8a6bb4946" /><Relationship Type="http://schemas.openxmlformats.org/officeDocument/2006/relationships/slide" Target="/ppt/slides/slide6.xml" Id="R9058da8e26494237" /><Relationship Type="http://schemas.openxmlformats.org/officeDocument/2006/relationships/slide" Target="/ppt/slides/slide7.xml" Id="Re9f80312d3404cfd" /><Relationship Type="http://schemas.openxmlformats.org/officeDocument/2006/relationships/slide" Target="/ppt/slides/slide8.xml" Id="R1e9065b1e0e94676" /><Relationship Type="http://schemas.openxmlformats.org/officeDocument/2006/relationships/slide" Target="/ppt/slides/slide9.xml" Id="Rba097b8da9c74a1f" /><Relationship Type="http://schemas.openxmlformats.org/officeDocument/2006/relationships/slide" Target="/ppt/slides/slide10.xml" Id="Ra78c964c34d2466b" /><Relationship Type="http://schemas.openxmlformats.org/officeDocument/2006/relationships/slide" Target="/ppt/slides/slide11.xml" Id="R8c6a793fd5be4e02" /><Relationship Type="http://schemas.openxmlformats.org/officeDocument/2006/relationships/slide" Target="/ppt/slides/slide12.xml" Id="Rd63852ed109943f0" /><Relationship Type="http://schemas.openxmlformats.org/officeDocument/2006/relationships/slide" Target="/ppt/slides/slide13.xml" Id="R56e647edbe3e48ba" /><Relationship Type="http://schemas.openxmlformats.org/officeDocument/2006/relationships/slide" Target="/ppt/slides/slide14.xml" Id="R60f3ba13a5ce4c13" /><Relationship Type="http://schemas.openxmlformats.org/officeDocument/2006/relationships/slide" Target="/ppt/slides/slide15.xml" Id="R3455afca54bb476a" /><Relationship Type="http://schemas.openxmlformats.org/officeDocument/2006/relationships/slide" Target="/ppt/slides/slide16.xml" Id="R697ce969f1774097" /><Relationship Type="http://schemas.openxmlformats.org/officeDocument/2006/relationships/slide" Target="/ppt/slides/slide17.xml" Id="R66445fbef945437d" /><Relationship Type="http://schemas.openxmlformats.org/officeDocument/2006/relationships/slide" Target="/ppt/slides/slide18.xml" Id="Rddd4ac0b8e3440a7" /><Relationship Type="http://schemas.openxmlformats.org/officeDocument/2006/relationships/slide" Target="/ppt/slides/slide19.xml" Id="R6fdb19fe7e4d4bd0" /><Relationship Type="http://schemas.openxmlformats.org/officeDocument/2006/relationships/slide" Target="/ppt/slides/slide20.xml" Id="R004f340b08664fec" /><Relationship Type="http://schemas.openxmlformats.org/officeDocument/2006/relationships/slide" Target="/ppt/slides/slide21.xml" Id="Raf57044e35c34e88" /><Relationship Type="http://schemas.openxmlformats.org/officeDocument/2006/relationships/slide" Target="/ppt/slides/slide22.xml" Id="R9b34338640874ad8" /><Relationship Type="http://schemas.openxmlformats.org/officeDocument/2006/relationships/slide" Target="/ppt/slides/slide23.xml" Id="R5deb56aebbf944a3" /><Relationship Type="http://schemas.openxmlformats.org/officeDocument/2006/relationships/slide" Target="/ppt/slides/slide24.xml" Id="Rfa52218d8139416e" /><Relationship Type="http://schemas.openxmlformats.org/officeDocument/2006/relationships/slide" Target="/ppt/slides/slide25.xml" Id="Rd200f091c6d44e0b" /><Relationship Type="http://schemas.openxmlformats.org/officeDocument/2006/relationships/slide" Target="/ppt/slides/slide26.xml" Id="R4a13df63fcf34094" /><Relationship Type="http://schemas.openxmlformats.org/officeDocument/2006/relationships/slide" Target="/ppt/slides/slide27.xml" Id="Raa252b8625874754" /><Relationship Type="http://schemas.openxmlformats.org/officeDocument/2006/relationships/slide" Target="/ppt/slides/slide28.xml" Id="Ra580a0ede1aa4cf7" /><Relationship Type="http://schemas.openxmlformats.org/officeDocument/2006/relationships/slide" Target="/ppt/slides/slide29.xml" Id="R00f98e5500ed4563" /><Relationship Type="http://schemas.openxmlformats.org/officeDocument/2006/relationships/slide" Target="/ppt/slides/slide30.xml" Id="R91b5273ffcd843c2" /><Relationship Type="http://schemas.openxmlformats.org/officeDocument/2006/relationships/slide" Target="/ppt/slides/slide31.xml" Id="R8cfa1f3cc1a047f2" /><Relationship Type="http://schemas.openxmlformats.org/officeDocument/2006/relationships/slide" Target="/ppt/slides/slide32.xml" Id="R1a4e0639eba54257" /><Relationship Type="http://schemas.openxmlformats.org/officeDocument/2006/relationships/slide" Target="/ppt/slides/slide33.xml" Id="R5ae4f3e977c549cf" /><Relationship Type="http://schemas.openxmlformats.org/officeDocument/2006/relationships/slide" Target="/ppt/slides/slide34.xml" Id="Ra0cd4b92fbe14cd6" /><Relationship Type="http://schemas.openxmlformats.org/officeDocument/2006/relationships/slide" Target="/ppt/slides/slide35.xml" Id="Rd6a862f3a2014383" /><Relationship Type="http://schemas.openxmlformats.org/officeDocument/2006/relationships/slide" Target="/ppt/slides/slide36.xml" Id="Rd4d523ee9edb4c40" /><Relationship Type="http://schemas.openxmlformats.org/officeDocument/2006/relationships/slide" Target="/ppt/slides/slide37.xml" Id="R3d9f7d7a46e24c80" /><Relationship Type="http://schemas.openxmlformats.org/officeDocument/2006/relationships/slide" Target="/ppt/slides/slide38.xml" Id="R529dd89ad74c4de5" /><Relationship Type="http://schemas.openxmlformats.org/officeDocument/2006/relationships/slide" Target="/ppt/slides/slide39.xml" Id="R698dff3c9531434d" /><Relationship Type="http://schemas.openxmlformats.org/officeDocument/2006/relationships/slide" Target="/ppt/slides/slide40.xml" Id="R6c8de1ff13384e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f98fa62a7c4f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fca03722b74a4a" /><Relationship Type="http://schemas.openxmlformats.org/officeDocument/2006/relationships/notesMaster" Target="/ppt/notesMasters/notesMaster1.xml" Id="R39f25e18528b49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c014a6445d45f7" /><Relationship Type="http://schemas.openxmlformats.org/officeDocument/2006/relationships/notesMaster" Target="/ppt/notesMasters/notesMaster1.xml" Id="R106c8e6bab3648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939eb44ff84fd7" /><Relationship Type="http://schemas.openxmlformats.org/officeDocument/2006/relationships/notesMaster" Target="/ppt/notesMasters/notesMaster1.xml" Id="R08bcd16e14d740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39140398ca4058" /><Relationship Type="http://schemas.openxmlformats.org/officeDocument/2006/relationships/notesMaster" Target="/ppt/notesMasters/notesMaster1.xml" Id="R7397e97745184a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0d5377322e494f" /><Relationship Type="http://schemas.openxmlformats.org/officeDocument/2006/relationships/notesMaster" Target="/ppt/notesMasters/notesMaster1.xml" Id="R291973b7a7914b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0bed95199643e9" /><Relationship Type="http://schemas.openxmlformats.org/officeDocument/2006/relationships/notesMaster" Target="/ppt/notesMasters/notesMaster1.xml" Id="Ra40b864d66904e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82adfa1d7f4c7a" /><Relationship Type="http://schemas.openxmlformats.org/officeDocument/2006/relationships/notesMaster" Target="/ppt/notesMasters/notesMaster1.xml" Id="R16dbd3b8f9c844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e77d4ec0e54035" /><Relationship Type="http://schemas.openxmlformats.org/officeDocument/2006/relationships/notesMaster" Target="/ppt/notesMasters/notesMaster1.xml" Id="R5ef519ebc19448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df826dd2ad4480" /><Relationship Type="http://schemas.openxmlformats.org/officeDocument/2006/relationships/notesMaster" Target="/ppt/notesMasters/notesMaster1.xml" Id="R4649eaea94534b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a95bd295a84ba0" /><Relationship Type="http://schemas.openxmlformats.org/officeDocument/2006/relationships/notesMaster" Target="/ppt/notesMasters/notesMaster1.xml" Id="R8ad2b9454fee45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7283898aac4854" /><Relationship Type="http://schemas.openxmlformats.org/officeDocument/2006/relationships/notesMaster" Target="/ppt/notesMasters/notesMaster1.xml" Id="R712fdadb7e6c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d0a6889560480a" /><Relationship Type="http://schemas.openxmlformats.org/officeDocument/2006/relationships/notesMaster" Target="/ppt/notesMasters/notesMaster1.xml" Id="R58f30f1a20df4b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dc7e436e3c4490" /><Relationship Type="http://schemas.openxmlformats.org/officeDocument/2006/relationships/notesMaster" Target="/ppt/notesMasters/notesMaster1.xml" Id="R33aebac53dc34c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f6676cf5474e67" /><Relationship Type="http://schemas.openxmlformats.org/officeDocument/2006/relationships/notesMaster" Target="/ppt/notesMasters/notesMaster1.xml" Id="Rb0b993a353c147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3368e2f87a4da7" /><Relationship Type="http://schemas.openxmlformats.org/officeDocument/2006/relationships/notesMaster" Target="/ppt/notesMasters/notesMaster1.xml" Id="Rd8c8aab452e842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c97fe1296c4b3d" /><Relationship Type="http://schemas.openxmlformats.org/officeDocument/2006/relationships/notesMaster" Target="/ppt/notesMasters/notesMaster1.xml" Id="R52fa1ad290fd4b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88251ae9374706" /><Relationship Type="http://schemas.openxmlformats.org/officeDocument/2006/relationships/notesMaster" Target="/ppt/notesMasters/notesMaster1.xml" Id="R6a706533381842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8619e400ef4503" /><Relationship Type="http://schemas.openxmlformats.org/officeDocument/2006/relationships/notesMaster" Target="/ppt/notesMasters/notesMaster1.xml" Id="Rafd0004228074a1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0595c4ac0d4475" /><Relationship Type="http://schemas.openxmlformats.org/officeDocument/2006/relationships/notesMaster" Target="/ppt/notesMasters/notesMaster1.xml" Id="Rbca61a04849746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9ac9ec4497419d" /><Relationship Type="http://schemas.openxmlformats.org/officeDocument/2006/relationships/notesMaster" Target="/ppt/notesMasters/notesMaster1.xml" Id="R53441a859acb4f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2a0e27fb8846da" /><Relationship Type="http://schemas.openxmlformats.org/officeDocument/2006/relationships/notesMaster" Target="/ppt/notesMasters/notesMaster1.xml" Id="Rfabdeffe6f294b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a87e7b3aa7842a0" /><Relationship Type="http://schemas.openxmlformats.org/officeDocument/2006/relationships/notesMaster" Target="/ppt/notesMasters/notesMaster1.xml" Id="Rbec22130b64445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86ff2c5e2a44cb" /><Relationship Type="http://schemas.openxmlformats.org/officeDocument/2006/relationships/notesMaster" Target="/ppt/notesMasters/notesMaster1.xml" Id="R736c4e57380949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4cfcb354e74652" /><Relationship Type="http://schemas.openxmlformats.org/officeDocument/2006/relationships/notesMaster" Target="/ppt/notesMasters/notesMaster1.xml" Id="R0a19c4b4a6a24a6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1bdb2a68274217" /><Relationship Type="http://schemas.openxmlformats.org/officeDocument/2006/relationships/notesMaster" Target="/ppt/notesMasters/notesMaster1.xml" Id="R3863bbe3daa845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36909ece35422f" /><Relationship Type="http://schemas.openxmlformats.org/officeDocument/2006/relationships/notesMaster" Target="/ppt/notesMasters/notesMaster1.xml" Id="R73111a9549164f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ca1d7d207f4808" /><Relationship Type="http://schemas.openxmlformats.org/officeDocument/2006/relationships/notesMaster" Target="/ppt/notesMasters/notesMaster1.xml" Id="R4bac8d66b1064f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8c98ad5aa34a86" /><Relationship Type="http://schemas.openxmlformats.org/officeDocument/2006/relationships/notesMaster" Target="/ppt/notesMasters/notesMaster1.xml" Id="R78c642d26e304a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9c1365f4f748ed" /><Relationship Type="http://schemas.openxmlformats.org/officeDocument/2006/relationships/notesMaster" Target="/ppt/notesMasters/notesMaster1.xml" Id="Rff926cf011a5466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dc0d9f61b3f467a" /><Relationship Type="http://schemas.openxmlformats.org/officeDocument/2006/relationships/notesMaster" Target="/ppt/notesMasters/notesMaster1.xml" Id="R14e36960d511420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48a615ec3594d20" /><Relationship Type="http://schemas.openxmlformats.org/officeDocument/2006/relationships/notesMaster" Target="/ppt/notesMasters/notesMaster1.xml" Id="Rfdd11aec90c043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7ebc0e8de404d5d" /><Relationship Type="http://schemas.openxmlformats.org/officeDocument/2006/relationships/notesMaster" Target="/ppt/notesMasters/notesMaster1.xml" Id="Raa343a914e51472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b740eb96b3f406e" /><Relationship Type="http://schemas.openxmlformats.org/officeDocument/2006/relationships/notesMaster" Target="/ppt/notesMasters/notesMaster1.xml" Id="Rdd3224b33eed40b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999473f57f148ab" /><Relationship Type="http://schemas.openxmlformats.org/officeDocument/2006/relationships/notesMaster" Target="/ppt/notesMasters/notesMaster1.xml" Id="Re7be98b8ad3441c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f4f2aa7e0b24fdf" /><Relationship Type="http://schemas.openxmlformats.org/officeDocument/2006/relationships/notesMaster" Target="/ppt/notesMasters/notesMaster1.xml" Id="Re4931f22b49344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20079ee4b284578" /><Relationship Type="http://schemas.openxmlformats.org/officeDocument/2006/relationships/notesMaster" Target="/ppt/notesMasters/notesMaster1.xml" Id="R76ed2e144de04c1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e03d9ee49444367" /><Relationship Type="http://schemas.openxmlformats.org/officeDocument/2006/relationships/notesMaster" Target="/ppt/notesMasters/notesMaster1.xml" Id="Re9fbbffee1bb41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efdec9de8b845e6" /><Relationship Type="http://schemas.openxmlformats.org/officeDocument/2006/relationships/notesMaster" Target="/ppt/notesMasters/notesMaster1.xml" Id="R1c7d62b1336e4a8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a2fdc4f1a964dde" /><Relationship Type="http://schemas.openxmlformats.org/officeDocument/2006/relationships/notesMaster" Target="/ppt/notesMasters/notesMaster1.xml" Id="R76b79a1ba7c2462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513b4723384560" /><Relationship Type="http://schemas.openxmlformats.org/officeDocument/2006/relationships/notesMaster" Target="/ppt/notesMasters/notesMaster1.xml" Id="R49752998f5e3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150-minute class meetings, 3:00–5:30 p.m. Eastern, IBC 211. Matches the previous weekly package format. Original practice uses fictional Harbor Books.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syllabus listing order for teaching. Existing Canvas module order differs and is not modified: controls, planning, turning assessment, BIA. Checklist chapters verify each named topic.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O1 CYB1.4, O2 CYB1.1, O3/O4 CYB1.5, O5 CYB1.2/1.5. SLO13.1/13.4/13.5/13.6 through ethics, reasoning, speaking, and writing. Eight ungraded activities, two daily, plus individual exit tickets.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150-minute agenda. Retrieve Week 2 plan versus finding and proposed versus operating controls. All C activities are original ungraded practice.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choices in a stated business context. These are conceptual responses, not an instruction to buy a product or a finding of legal compliance. Sources S2 Chapter 10 and S5.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manager and external IT provider as possible roles. Scope and authority need confirmation. A named risk owner does not imply that person configures every control. Sources S1, S2, S5.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supply a submission paragraph. Accept defensible treatment choices with limitations. Remote misuse does not require physical entry. Control effectiveness depends on scope and operation. Original practice C1.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low-cost control is not automatically the best response. Account cleanup may precede MFA enrollment in this exercise. Any legal applicability claim requires evidence about scope.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all figures as invented one-time practice estimates. The budget is $3,000. Identity cleanup is a stipulated MFA prerequisite for this exercise, not a universal technical rule. Original practice 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grade choices by matching one preferred list. Identity plus MFA plus restore test totals $2,600. Adding the lock makes $3,100. Ask about recurring costs and staff time excluded from the toy figures. Original practice 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recommendation, approval, implementation, and operating evidence. A purchased license does not demonstrate enforcement. Monday establishes planning concepts, Tuesday examines control details.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exit prompts. Project 3 continues earlier work as a Risk Mitigation Plan. Current Canvas provides exact sections and rubric. Do not draft introductions.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 Monday planned work and operating evidence. Classroom choices support understanding rather than create additional rubric criteria.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teaching dimensions, not a claim that all frameworks use identical taxonomies. A control may have multiple effects depending on implementation. Sources S1, S2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 SP 800-53 Rev. 5 lists families such as Awareness and Training, Identification and Authentication, Audit and Accountability, and Contingency Planning. Avoid counts or treating a crosswalk as proof of equivalence. Source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workbook response fields. Primary types and functions: administrative preventive; technical preventive; technical detective; physical preventive. Allow justified nuance, not arbitrary category equivalence. Original practice C3.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 claim 100 percent protection from one record. Demonstrate configuration, coverage, exceptions, behavior, and evidence freshness as separate questions. Source S1 and original practice 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records are original classroom inventions. A configuration export and a test complement each other. They retain limits on scope and time. Original practice 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equate an exception with certain compromise. Ask who owns exception approval and compensating safeguards. No numerical effectiveness estimate is supplied. Original practice 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DQ8 asks about threats, infrastructure domains, documentation, and gap/remediation planning. Retrieve Week 2 seven-domain discussion as needed. Explain that a scanner’s findings require validation and context. Do not run real scans.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three exit prompts. Wednesday deepens business impact and priorities without creating a full Project 4 submission.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Week 2 RTO concerns service time, RPO concerns recoverable data point. BIA deepens activity priorities; it does not replace risk assessment. Sources S1, S2, S4.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BIA as analysis of business consequences and priorities. Do not invent business tolerances for the base case. A restored machine alone does not demonstrate order fulfillment. Sources S1, S2 Chapter 12, S4.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concise teaching distinctions. Definitions and planning context depend on the consulted publication. Use the labeled exercise values only. Source S4 and original practice C5.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Toy usable recovery occurs at five hours with data twenty minutes old. Targets RTO four hours RPO one hour MTD eight hours. RTO missed, RPO met, MTD not yet exceeded. Do not claim the organization accepts any real target. Original practice C5.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 simple annual expected-value comparison. This teaching arithmetic is not a universal mandatory formula or a substitute for obligations and risk tolerance. Avoid counting the same avoided loss twice. Sources S1 Chapter 12 objectives and original C6.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number is a hypothetical practice estimate in dollars per year. No measured control efficacy is asserted. Original practice C6.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benefit $7,000/year and net $3,000/year. Alternative benefit $3,000/year and net minus $1,000/year. Positive mean benefit does not establish compliance or eliminate rare severe outcomes. Original practice C6.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Progress Report asks NIST assessment methodology comparison with PCI, COBIT, and related frameworks. Do not treat them as interchangeable or require a newly invented source count. Its abstract instruction is course-specific and differs from a conventional short abstract. Ask the professor about ambiguous wording.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three exit questions. Prepare to connect findings, actions, evidence, and review decisions on Thursday. No Week 4 assignment answer is supplied.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original practice instead of writing Health Network submission text. Retrieve BIA priorities and the limits of estimated benefits.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plan links findings and priorities to intended action. Recommendations remain planned until evidence supports completion. Avoid invented execution results in a student plan. Sources S1 Project 3 and S2 Chapter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conceptual planning steps for a fictional change. Do not alter real accounts in this course activity. Adapt order and authority to actual context. Original practice C7 and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 justified overlapping preparation. Broad deployment before verifying the pilot and recovery paths requires challenge. No completed outcome is stipulated. Original practice C7.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alert counts, and incident outcomes answer different questions. Do not turn enrollment percentages into causal risk-reduction percentages. Explain how a review trigger leads to a named decision. Sources S1, S2 and original 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2026 NIST study claim is intentionally fabricated for verification practice and is not a real citation. Do not repeat it as factual. Original practice 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supports 80% of the scoped identity list at a time. M2 does not prove absence of attacks. M3 is pending. M4 must not become a citation without verification. Original practice C8.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3 rubric is 10,15,25,15,10,10,5,5,3,2 points in the current export. Progress Report rubric is 15,10,20,30,10,7,5,3. Do not substitute prior chatbot lists. Current Canvas controls. Student authorship and accurate AI disclosure remain required.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graded items remain unchanged. November 8 is after the Eastern daylight-saving transition; Canvas export UTC is November 9 at 04:59, matching 11:59 p.m. Eastern. Week 4 develops continuity, recovery, and response.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Course authority — Instructor-supplied updated Canvas export dated October 16 2026. Week 3 syllabus; four chapter checklists; Project 3; Progress Report; DQ6, DQ7, and DQ8. Current Canvas and professor-approved changes control graded work.</a:t>
            </a:r>
          </a:p>
          <a:p xmlns:a="http://schemas.openxmlformats.org/drawingml/2006/main">
            <a:r>
              <a:t>S2: Assigned textbook — Gibson, D. (2015). Managing Risk in Information Systems (2nd ed.). Week 3 checklists: Chapter 10 Planning Risk Mitigation Throughout Your Organization; Chapter 9 Identifying and Analyzing Risk Mitigation Security Controls; Chapter 12 Mitigating Risk with a Business Impact Analysis; Chapter 11 Turning Your Risk Assessment into a Risk Mitigation Plan. No textbook chapters are reproduced.</a:t>
            </a:r>
          </a:p>
          <a:p xmlns:a="http://schemas.openxmlformats.org/drawingml/2006/main">
            <a:r>
              <a:t>S3: Control catalog and edition — NIST SP 800-53 Rev. 5, Security and Privacy Controls for Information Systems and Organizations. https://csrc.nist.gov/pubs/sp/800/53/r5/upd1/final . Flexible catalog of controls. Select relevant controls and identify the revision. Course overviews retain older 18-family wording; do not present it as the current catalog structure.</a:t>
            </a:r>
          </a:p>
          <a:p xmlns:a="http://schemas.openxmlformats.org/drawingml/2006/main">
            <a:r>
              <a:t>S4: BIA and contingency context — NIST SP 800-34 Rev. 1, Contingency Planning Guide for Federal Information Systems (2010, updated November 11). https://csrc.nist.gov/pubs/sp/800/34/r1/upd1/final . Use its planning context with care about scope. Bookstore objectives and exercise decisions are original practice assumptions.</a:t>
            </a:r>
          </a:p>
          <a:p xmlns:a="http://schemas.openxmlformats.org/drawingml/2006/main">
            <a:r>
              <a:t>S5: Organization-wide risk context — NIST SP 800-39, Managing Information Security Risk: Organization, Mission, and Information System View (2011). https://csrc.nist.gov/pubs/sp/800/39/final . Reference for organization-wide risk context, not a new mandatory assignment source.</a:t>
            </a:r>
          </a:p>
          <a:p xmlns:a="http://schemas.openxmlformats.org/drawingml/2006/main">
            <a:r>
              <a:t>S6: Publishing reference — GitHub Pages documentation. https://docs.github.com/en/pages/getting-started-with-github-pages/what-is-github-pages . Publishing is optional; Canvas remains the submission venue.</a:t>
            </a:r>
          </a:p>
          <a:p xmlns:a="http://schemas.openxmlformats.org/drawingml/2006/main">
            <a:r>
              <a:t>All exercise numbers and records are original fictional inputs. No new graded requirements or sources are imposed.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fe6c69f01745f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5b56c246bd49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5830f72dba4d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f21cd9fbbe40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cbb02b2a4c47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b1c03071484f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7BC016-6683-40EB-92CC-174237602C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1F89CF-DC71-4A49-A27C-14BB51F8F0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579BCF-E4E1-4020-976C-1947478D8E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9554C1-A215-4D37-9924-0C953295D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654459-8F0B-4209-BF1B-08FC63FC7D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F0A26E-ED74-4751-8F0F-B94145D043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E93322-3686-4646-89BC-483A2AF2C0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B9C5D6-C3AD-4034-AB4B-5F8C7867AB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20DB84-0A3C-43F5-8F3E-70F6E41AF8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075980-A7EB-41B9-B9A6-7FCC755224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a06beacda140b1" /><Relationship Type="http://schemas.openxmlformats.org/officeDocument/2006/relationships/slideLayout" Target="/ppt/slideLayouts/slideLayout1.xml" Id="R10175e71f83f4dc5" /><Relationship Type="http://schemas.openxmlformats.org/officeDocument/2006/relationships/slideLayout" Target="/ppt/slideLayouts/slideLayout2.xml" Id="Re5594db197ec4b80" /><Relationship Type="http://schemas.openxmlformats.org/officeDocument/2006/relationships/slideLayout" Target="/ppt/slideLayouts/slideLayout3.xml" Id="R9f2735c1bab94cfc" /><Relationship Type="http://schemas.openxmlformats.org/officeDocument/2006/relationships/slideLayout" Target="/ppt/slideLayouts/slideLayout4.xml" Id="R4b0d412701f84872" /><Relationship Type="http://schemas.openxmlformats.org/officeDocument/2006/relationships/slideLayout" Target="/ppt/slideLayouts/slideLayout5.xml" Id="R1c9dddf6d5f34df7" /><Relationship Type="http://schemas.openxmlformats.org/officeDocument/2006/relationships/slideLayout" Target="/ppt/slideLayouts/slideLayout6.xml" Id="R98f498af675e4a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175e71f83f4dc5"/>
    <p:sldLayoutId xmlns:r="http://schemas.openxmlformats.org/officeDocument/2006/relationships" id="2147483650" r:id="Re5594db197ec4b80"/>
    <p:sldLayoutId xmlns:r="http://schemas.openxmlformats.org/officeDocument/2006/relationships" id="2147483651" r:id="R9f2735c1bab94cfc"/>
    <p:sldLayoutId xmlns:r="http://schemas.openxmlformats.org/officeDocument/2006/relationships" id="2147483652" r:id="R4b0d412701f84872"/>
    <p:sldLayoutId xmlns:r="http://schemas.openxmlformats.org/officeDocument/2006/relationships" id="2147483653" r:id="R1c9dddf6d5f34df7"/>
    <p:sldLayoutId xmlns:r="http://schemas.openxmlformats.org/officeDocument/2006/relationships" id="2147483654" r:id="R98f498af675e4a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307eea9b65415c" /><Relationship Type="http://schemas.openxmlformats.org/officeDocument/2006/relationships/notesSlide" Target="/ppt/notesSlides/notesSlide1.xml" Id="Ra65eff1289c34f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fcc96625fc47cd" /><Relationship Type="http://schemas.openxmlformats.org/officeDocument/2006/relationships/notesSlide" Target="/ppt/notesSlides/notesSlide2.xml" Id="R70899c79bf674e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634ce77ed54b4f" /><Relationship Type="http://schemas.openxmlformats.org/officeDocument/2006/relationships/notesSlide" Target="/ppt/notesSlides/notesSlide3.xml" Id="R2742d372da044a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ba97115cd44be6" /><Relationship Type="http://schemas.openxmlformats.org/officeDocument/2006/relationships/notesSlide" Target="/ppt/notesSlides/notesSlide4.xml" Id="R1e5af2a0602e40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a164a2fa864441" /><Relationship Type="http://schemas.openxmlformats.org/officeDocument/2006/relationships/notesSlide" Target="/ppt/notesSlides/notesSlide5.xml" Id="R0417cb16b1ae43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2d3931fb674403" /><Relationship Type="http://schemas.openxmlformats.org/officeDocument/2006/relationships/notesSlide" Target="/ppt/notesSlides/notesSlide6.xml" Id="Rff3c8824807b46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7d7032be85490f" /><Relationship Type="http://schemas.openxmlformats.org/officeDocument/2006/relationships/notesSlide" Target="/ppt/notesSlides/notesSlide7.xml" Id="Rb4057892ae2344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9a8241c8194ed4" /><Relationship Type="http://schemas.openxmlformats.org/officeDocument/2006/relationships/notesSlide" Target="/ppt/notesSlides/notesSlide8.xml" Id="R6d43b9244d694a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584502bd5245e7" /><Relationship Type="http://schemas.openxmlformats.org/officeDocument/2006/relationships/notesSlide" Target="/ppt/notesSlides/notesSlide9.xml" Id="R53b41e40ba7946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6f6f99619a3452d" /><Relationship Type="http://schemas.openxmlformats.org/officeDocument/2006/relationships/notesSlide" Target="/ppt/notesSlides/notesSlide10.xml" Id="Rd56af1c7cdc54d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b7303a93424c9f" /><Relationship Type="http://schemas.openxmlformats.org/officeDocument/2006/relationships/notesSlide" Target="/ppt/notesSlides/notesSlide11.xml" Id="R90cbfee9cdb04e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0d21230a7942b7" /><Relationship Type="http://schemas.openxmlformats.org/officeDocument/2006/relationships/notesSlide" Target="/ppt/notesSlides/notesSlide12.xml" Id="Rbf6b752644e34d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8af4046b9e482d" /><Relationship Type="http://schemas.openxmlformats.org/officeDocument/2006/relationships/notesSlide" Target="/ppt/notesSlides/notesSlide13.xml" Id="Rb9e4493e6b324e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a8da8c4a1c41a7" /><Relationship Type="http://schemas.openxmlformats.org/officeDocument/2006/relationships/notesSlide" Target="/ppt/notesSlides/notesSlide14.xml" Id="R7a9ac676c58e4a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e3bfb44edc54244" /><Relationship Type="http://schemas.openxmlformats.org/officeDocument/2006/relationships/notesSlide" Target="/ppt/notesSlides/notesSlide15.xml" Id="Rb41ee6cfc9d34d4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4e96ee99204125" /><Relationship Type="http://schemas.openxmlformats.org/officeDocument/2006/relationships/notesSlide" Target="/ppt/notesSlides/notesSlide16.xml" Id="R0a69120306a742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c92924a7f64b96" /><Relationship Type="http://schemas.openxmlformats.org/officeDocument/2006/relationships/notesSlide" Target="/ppt/notesSlides/notesSlide17.xml" Id="R6981c9f4fe3e49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c157cbb5eaa458b" /><Relationship Type="http://schemas.openxmlformats.org/officeDocument/2006/relationships/notesSlide" Target="/ppt/notesSlides/notesSlide18.xml" Id="R661d6f36d3524d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58c2062b3544047" /><Relationship Type="http://schemas.openxmlformats.org/officeDocument/2006/relationships/notesSlide" Target="/ppt/notesSlides/notesSlide19.xml" Id="R370b319480c842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8ade518d4d94ad2" /><Relationship Type="http://schemas.openxmlformats.org/officeDocument/2006/relationships/notesSlide" Target="/ppt/notesSlides/notesSlide20.xml" Id="R0bbf0a8c60b44a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e44ed1143ea455f" /><Relationship Type="http://schemas.openxmlformats.org/officeDocument/2006/relationships/notesSlide" Target="/ppt/notesSlides/notesSlide21.xml" Id="Rd32587da17604ef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3525a92b6604d53" /><Relationship Type="http://schemas.openxmlformats.org/officeDocument/2006/relationships/notesSlide" Target="/ppt/notesSlides/notesSlide22.xml" Id="R40a646a561e44a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51264ae420347ee" /><Relationship Type="http://schemas.openxmlformats.org/officeDocument/2006/relationships/notesSlide" Target="/ppt/notesSlides/notesSlide23.xml" Id="Ra0bf04b5a2ee43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a68990b9114a00" /><Relationship Type="http://schemas.openxmlformats.org/officeDocument/2006/relationships/notesSlide" Target="/ppt/notesSlides/notesSlide24.xml" Id="R2d0936aca39d41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528a93f8bbe42a3" /><Relationship Type="http://schemas.openxmlformats.org/officeDocument/2006/relationships/notesSlide" Target="/ppt/notesSlides/notesSlide25.xml" Id="R85ac401b416440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f52a18585bd4955" /><Relationship Type="http://schemas.openxmlformats.org/officeDocument/2006/relationships/notesSlide" Target="/ppt/notesSlides/notesSlide26.xml" Id="R24f89e5b9c6941f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d0d8dc224ea496b" /><Relationship Type="http://schemas.openxmlformats.org/officeDocument/2006/relationships/notesSlide" Target="/ppt/notesSlides/notesSlide27.xml" Id="Re1e5b43586774d4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c8cb52784a84107" /><Relationship Type="http://schemas.openxmlformats.org/officeDocument/2006/relationships/notesSlide" Target="/ppt/notesSlides/notesSlide28.xml" Id="Rb715f49eb5124c1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6a477dd63814f00" /><Relationship Type="http://schemas.openxmlformats.org/officeDocument/2006/relationships/notesSlide" Target="/ppt/notesSlides/notesSlide29.xml" Id="R72853e75f7d04c0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93d3badf7004716" /><Relationship Type="http://schemas.openxmlformats.org/officeDocument/2006/relationships/notesSlide" Target="/ppt/notesSlides/notesSlide30.xml" Id="R79f778fadf3a477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5e1128f8f3c4505" /><Relationship Type="http://schemas.openxmlformats.org/officeDocument/2006/relationships/notesSlide" Target="/ppt/notesSlides/notesSlide31.xml" Id="R09b6ad56bf58489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98ea043127a4108" /><Relationship Type="http://schemas.openxmlformats.org/officeDocument/2006/relationships/notesSlide" Target="/ppt/notesSlides/notesSlide32.xml" Id="Rfa2a53fd68b54d0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630b5795fef4da0" /><Relationship Type="http://schemas.openxmlformats.org/officeDocument/2006/relationships/notesSlide" Target="/ppt/notesSlides/notesSlide33.xml" Id="R8f0d588d2b7e450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d8c0f6d480540be" /><Relationship Type="http://schemas.openxmlformats.org/officeDocument/2006/relationships/notesSlide" Target="/ppt/notesSlides/notesSlide34.xml" Id="R2cd8a811cb9a4c1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ff6ab5d6d334ba1" /><Relationship Type="http://schemas.openxmlformats.org/officeDocument/2006/relationships/notesSlide" Target="/ppt/notesSlides/notesSlide35.xml" Id="R24b0ea89e2c64e5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3e5d7796bf544c5" /><Relationship Type="http://schemas.openxmlformats.org/officeDocument/2006/relationships/notesSlide" Target="/ppt/notesSlides/notesSlide36.xml" Id="Rf5b845b216d148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fd8a20008d44c93" /><Relationship Type="http://schemas.openxmlformats.org/officeDocument/2006/relationships/notesSlide" Target="/ppt/notesSlides/notesSlide37.xml" Id="R1a161e5c878241e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6fc32fa81054cd2" /><Relationship Type="http://schemas.openxmlformats.org/officeDocument/2006/relationships/notesSlide" Target="/ppt/notesSlides/notesSlide38.xml" Id="R64b23911a69d462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0e6538720fe4c8e" /><Relationship Type="http://schemas.openxmlformats.org/officeDocument/2006/relationships/notesSlide" Target="/ppt/notesSlides/notesSlide39.xml" Id="Rd5c69341e4e34ab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a0c38f2c8fc4564" /><Relationship Type="http://schemas.openxmlformats.org/officeDocument/2006/relationships/notesSlide" Target="/ppt/notesSlides/notesSlide40.xml" Id="R4290e995e4c1448a" /></Relationships>
</file>

<file path=ppt/slides/slide1.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506A4088-080A-4FEA-AB80-ABBDC638D33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WEEK 3</a:t>
            </a:r>
          </a:p>
        </p:txBody>
      </p:sp>
      <p:sp>
        <p:nvSpPr>
          <p:cNvPr id="2" name="heading">
            <a:extLst xmlns:a="http://schemas.openxmlformats.org/drawingml/2006/main">
              <a:ext uri="{FF2B5EF4-FFF2-40B4-BE49-F238E27FC236}">
                <a16:creationId xmlns:a16="http://schemas.microsoft.com/office/drawing/2014/main" id="{60C79411-48DB-4976-89F1-5DE950A57A86}"/>
              </a:ext>
            </a:extLst>
          </p:cNvPr>
          <p:cNvSpPr>
            <a:spLocks xmlns:a="http://schemas.openxmlformats.org/drawingml/2006/main" noGrp="1"/>
          </p:cNvSpPr>
          <p:nvPr/>
        </p:nvSpPr>
        <p:spPr>
          <a:xfrm xmlns:a="http://schemas.openxmlformats.org/drawingml/2006/main">
            <a:off x="609600" y="1257300"/>
            <a:ext cx="1095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ISM 310 Week 3</a:t>
            </a:r>
          </a:p>
        </p:txBody>
      </p:sp>
      <p:sp>
        <p:nvSpPr>
          <p:cNvPr id="3" name="body-0">
            <a:extLst xmlns:a="http://schemas.openxmlformats.org/drawingml/2006/main">
              <a:ext uri="{FF2B5EF4-FFF2-40B4-BE49-F238E27FC236}">
                <a16:creationId xmlns:a16="http://schemas.microsoft.com/office/drawing/2014/main" id="{36D8F3BF-203E-452D-A77B-0FB20C078726}"/>
              </a:ext>
            </a:extLst>
          </p:cNvPr>
          <p:cNvSpPr>
            <a:spLocks xmlns:a="http://schemas.openxmlformats.org/drawingml/2006/main" noGrp="1"/>
          </p:cNvSpPr>
          <p:nvPr/>
        </p:nvSpPr>
        <p:spPr>
          <a:xfrm xmlns:a="http://schemas.openxmlformats.org/drawingml/2006/main">
            <a:off x="609600" y="31432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Risk mitigation planning</a:t>
            </a:r>
          </a:p>
        </p:txBody>
      </p:sp>
      <p:sp>
        <p:nvSpPr>
          <p:cNvPr id="4" name="body-1">
            <a:extLst xmlns:a="http://schemas.openxmlformats.org/drawingml/2006/main">
              <a:ext uri="{FF2B5EF4-FFF2-40B4-BE49-F238E27FC236}">
                <a16:creationId xmlns:a16="http://schemas.microsoft.com/office/drawing/2014/main" id="{1DAFB15A-63AC-4238-A917-436050B0BE09}"/>
              </a:ext>
            </a:extLst>
          </p:cNvPr>
          <p:cNvSpPr>
            <a:spLocks xmlns:a="http://schemas.openxmlformats.org/drawingml/2006/main" noGrp="1"/>
          </p:cNvSpPr>
          <p:nvPr/>
        </p:nvSpPr>
        <p:spPr>
          <a:xfrm xmlns:a="http://schemas.openxmlformats.org/drawingml/2006/main">
            <a:off x="609600" y="37623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November 2–5 2026</a:t>
            </a:r>
          </a:p>
        </p:txBody>
      </p:sp>
      <p:sp>
        <p:nvSpPr>
          <p:cNvPr id="5" name="body-2">
            <a:extLst xmlns:a="http://schemas.openxmlformats.org/drawingml/2006/main">
              <a:ext uri="{FF2B5EF4-FFF2-40B4-BE49-F238E27FC236}">
                <a16:creationId xmlns:a16="http://schemas.microsoft.com/office/drawing/2014/main" id="{2641B69B-639F-44E2-8061-F67D4E6AD142}"/>
              </a:ext>
            </a:extLst>
          </p:cNvPr>
          <p:cNvSpPr>
            <a:spLocks xmlns:a="http://schemas.openxmlformats.org/drawingml/2006/main" noGrp="1"/>
          </p:cNvSpPr>
          <p:nvPr/>
        </p:nvSpPr>
        <p:spPr>
          <a:xfrm xmlns:a="http://schemas.openxmlformats.org/drawingml/2006/main">
            <a:off x="609600" y="43815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Dr. George Antoniou</a:t>
            </a:r>
          </a:p>
        </p:txBody>
      </p:sp>
      <p:sp>
        <p:nvSpPr>
          <p:cNvPr id="6" name="footer">
            <a:extLst xmlns:a="http://schemas.openxmlformats.org/drawingml/2006/main">
              <a:ext uri="{FF2B5EF4-FFF2-40B4-BE49-F238E27FC236}">
                <a16:creationId xmlns:a16="http://schemas.microsoft.com/office/drawing/2014/main" id="{D3BFC808-5E95-4A92-AAEE-B938784A009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7" name="page">
            <a:extLst xmlns:a="http://schemas.openxmlformats.org/drawingml/2006/main">
              <a:ext uri="{FF2B5EF4-FFF2-40B4-BE49-F238E27FC236}">
                <a16:creationId xmlns:a16="http://schemas.microsoft.com/office/drawing/2014/main" id="{70132D50-B5AE-439A-BAFE-F597C06C99B3}"/>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01</a:t>
            </a:r>
          </a:p>
        </p:txBody>
      </p:sp>
    </p:spTree>
    <p:extLst>
      <p:ext uri="{BB962C8B-B14F-4D97-AF65-F5344CB8AC3E}">
        <p14:creationId xmlns:p14="http://schemas.microsoft.com/office/powerpoint/2010/main" val="782803371"/>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C04D3D98-971F-45D3-ABDD-373BCACA4E4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3</a:t>
            </a:r>
          </a:p>
        </p:txBody>
      </p:sp>
      <p:sp>
        <p:nvSpPr>
          <p:cNvPr id="2" name="heading">
            <a:extLst xmlns:a="http://schemas.openxmlformats.org/drawingml/2006/main">
              <a:ext uri="{FF2B5EF4-FFF2-40B4-BE49-F238E27FC236}">
                <a16:creationId xmlns:a16="http://schemas.microsoft.com/office/drawing/2014/main" id="{2EF03FE7-E808-47B1-879A-BBC2333D399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3 daily sequence</a:t>
            </a:r>
          </a:p>
        </p:txBody>
      </p:sp>
      <p:graphicFrame>
        <p:nvGraphicFramePr>
          <p:cNvPr id="3" name="">
            <a:extLst xmlns:a="http://schemas.openxmlformats.org/drawingml/2006/main">
              <a:ext uri="{FF2B5EF4-FFF2-40B4-BE49-F238E27FC236}">
                <a16:creationId xmlns:a16="http://schemas.microsoft.com/office/drawing/2014/main" id="{032D4DCF-27E8-4101-A717-60F5D1DB0A25}"/>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Day</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Module focus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Reading</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Mon Nov 2</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Organization-wide mitigation planning</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Chapter 10</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Tue Nov 3</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Risk mitigation security controls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Chapter 9</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Wed Nov 4</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Business Impact Analysis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Chapter 12</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Thu Nov 5</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Assessment to mitigation plan</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Chapter 11</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4490AA90-A80A-497D-8AAC-340676204C2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1B238CF4-5652-4A73-9BA5-7F38EDC8C5B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02</a:t>
            </a:r>
          </a:p>
        </p:txBody>
      </p:sp>
    </p:spTree>
    <p:extLst>
      <p:ext uri="{BB962C8B-B14F-4D97-AF65-F5344CB8AC3E}">
        <p14:creationId xmlns:p14="http://schemas.microsoft.com/office/powerpoint/2010/main" val="1318288700"/>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FC6E766-F636-4B45-96E1-84171D813D5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3</a:t>
            </a:r>
          </a:p>
        </p:txBody>
      </p:sp>
      <p:sp>
        <p:nvSpPr>
          <p:cNvPr id="2" name="heading">
            <a:extLst xmlns:a="http://schemas.openxmlformats.org/drawingml/2006/main">
              <a:ext uri="{FF2B5EF4-FFF2-40B4-BE49-F238E27FC236}">
                <a16:creationId xmlns:a16="http://schemas.microsoft.com/office/drawing/2014/main" id="{1340FCEA-FFF0-4D2B-AB16-B29527BB0563}"/>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3 outcomes and practice</a:t>
            </a:r>
          </a:p>
        </p:txBody>
      </p:sp>
      <p:sp>
        <p:nvSpPr>
          <p:cNvPr id="3" name="index-0">
            <a:extLst xmlns:a="http://schemas.openxmlformats.org/drawingml/2006/main">
              <a:ext uri="{FF2B5EF4-FFF2-40B4-BE49-F238E27FC236}">
                <a16:creationId xmlns:a16="http://schemas.microsoft.com/office/drawing/2014/main" id="{2AA76C9A-9D72-4506-80DD-B5B0039F18A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2AEEA30-1204-4814-BC4D-49462BC93D3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Justify treatments and accountable decisions</a:t>
            </a:r>
          </a:p>
        </p:txBody>
      </p:sp>
      <p:sp>
        <p:nvSpPr>
          <p:cNvPr id="5" name="index-1">
            <a:extLst xmlns:a="http://schemas.openxmlformats.org/drawingml/2006/main">
              <a:ext uri="{FF2B5EF4-FFF2-40B4-BE49-F238E27FC236}">
                <a16:creationId xmlns:a16="http://schemas.microsoft.com/office/drawing/2014/main" id="{DE2508B9-EE64-41FD-8850-F0906BE3B7E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C0F0627-6A79-48C8-A998-8C331FA0866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Classify controls and verify operation</a:t>
            </a:r>
          </a:p>
        </p:txBody>
      </p:sp>
      <p:sp>
        <p:nvSpPr>
          <p:cNvPr id="7" name="index-2">
            <a:extLst xmlns:a="http://schemas.openxmlformats.org/drawingml/2006/main">
              <a:ext uri="{FF2B5EF4-FFF2-40B4-BE49-F238E27FC236}">
                <a16:creationId xmlns:a16="http://schemas.microsoft.com/office/drawing/2014/main" id="{ED620CB6-A3B6-48F1-AEDD-29D92E250624}"/>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F093423-B22B-41FC-B332-C81894C957B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Analyze business impacts and assumptions</a:t>
            </a:r>
          </a:p>
        </p:txBody>
      </p:sp>
      <p:sp>
        <p:nvSpPr>
          <p:cNvPr id="9" name="index-3">
            <a:extLst xmlns:a="http://schemas.openxmlformats.org/drawingml/2006/main">
              <a:ext uri="{FF2B5EF4-FFF2-40B4-BE49-F238E27FC236}">
                <a16:creationId xmlns:a16="http://schemas.microsoft.com/office/drawing/2014/main" id="{C61DCE12-3DEC-4D3D-8286-DC41C706A58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9ACD259-4FCE-4933-8D7A-D728D8D3DEA7}"/>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Sequence actions and monitor evidence</a:t>
            </a:r>
          </a:p>
        </p:txBody>
      </p:sp>
      <p:sp>
        <p:nvSpPr>
          <p:cNvPr id="11" name="footer">
            <a:extLst xmlns:a="http://schemas.openxmlformats.org/drawingml/2006/main">
              <a:ext uri="{FF2B5EF4-FFF2-40B4-BE49-F238E27FC236}">
                <a16:creationId xmlns:a16="http://schemas.microsoft.com/office/drawing/2014/main" id="{0F6C803D-D339-4765-B957-093C7B34127E}"/>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D32AC9EE-3C44-42D2-86BF-BA26891DF78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03</a:t>
            </a:r>
          </a:p>
        </p:txBody>
      </p:sp>
    </p:spTree>
    <p:extLst>
      <p:ext uri="{BB962C8B-B14F-4D97-AF65-F5344CB8AC3E}">
        <p14:creationId xmlns:p14="http://schemas.microsoft.com/office/powerpoint/2010/main" val="607797127"/>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303E5C4-672B-4F2D-A55E-98918D77BCC7}"/>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4997ABEE-44F3-4313-88D9-0084F00CDB1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learning route</a:t>
            </a:r>
          </a:p>
        </p:txBody>
      </p:sp>
      <p:sp>
        <p:nvSpPr>
          <p:cNvPr id="3" name="index-0">
            <a:extLst xmlns:a="http://schemas.openxmlformats.org/drawingml/2006/main">
              <a:ext uri="{FF2B5EF4-FFF2-40B4-BE49-F238E27FC236}">
                <a16:creationId xmlns:a16="http://schemas.microsoft.com/office/drawing/2014/main" id="{3E16B9A7-D4B9-45F4-902D-4732F22BBC2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E8B653C-9BD7-43A2-B8C5-4DE77A046714}"/>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Assessment findings and treatment decisions</a:t>
            </a:r>
          </a:p>
        </p:txBody>
      </p:sp>
      <p:sp>
        <p:nvSpPr>
          <p:cNvPr id="5" name="index-1">
            <a:extLst xmlns:a="http://schemas.openxmlformats.org/drawingml/2006/main">
              <a:ext uri="{FF2B5EF4-FFF2-40B4-BE49-F238E27FC236}">
                <a16:creationId xmlns:a16="http://schemas.microsoft.com/office/drawing/2014/main" id="{11EB0FE0-4AD7-4F7A-9D92-F704A26152F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A692C5F-573C-419E-9845-5BA2508EC4E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C1 treatment decision clinic</a:t>
            </a:r>
          </a:p>
        </p:txBody>
      </p:sp>
      <p:sp>
        <p:nvSpPr>
          <p:cNvPr id="7" name="index-2">
            <a:extLst xmlns:a="http://schemas.openxmlformats.org/drawingml/2006/main">
              <a:ext uri="{FF2B5EF4-FFF2-40B4-BE49-F238E27FC236}">
                <a16:creationId xmlns:a16="http://schemas.microsoft.com/office/drawing/2014/main" id="{3B28F5E0-95BC-4E04-AC41-B9DF09DE258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9CEEE75-34A9-4914-8B59-C3ECAF98ED0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C2 constrained prioritization</a:t>
            </a:r>
          </a:p>
        </p:txBody>
      </p:sp>
      <p:sp>
        <p:nvSpPr>
          <p:cNvPr id="9" name="index-3">
            <a:extLst xmlns:a="http://schemas.openxmlformats.org/drawingml/2006/main">
              <a:ext uri="{FF2B5EF4-FFF2-40B4-BE49-F238E27FC236}">
                <a16:creationId xmlns:a16="http://schemas.microsoft.com/office/drawing/2014/main" id="{DE59E183-ED6F-477E-9DC3-4767B97BF10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1056D57-5B5B-4616-AD69-3162D7068AD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Project 3 and DQ6 requirements navigation</a:t>
            </a:r>
          </a:p>
        </p:txBody>
      </p:sp>
      <p:sp>
        <p:nvSpPr>
          <p:cNvPr id="11" name="footer">
            <a:extLst xmlns:a="http://schemas.openxmlformats.org/drawingml/2006/main">
              <a:ext uri="{FF2B5EF4-FFF2-40B4-BE49-F238E27FC236}">
                <a16:creationId xmlns:a16="http://schemas.microsoft.com/office/drawing/2014/main" id="{2242C4F4-3039-4B3D-B02F-FB05F416673E}"/>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C3370A0C-3157-4C0E-B828-6235F86AD0B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04</a:t>
            </a:r>
          </a:p>
        </p:txBody>
      </p:sp>
    </p:spTree>
    <p:extLst>
      <p:ext uri="{BB962C8B-B14F-4D97-AF65-F5344CB8AC3E}">
        <p14:creationId xmlns:p14="http://schemas.microsoft.com/office/powerpoint/2010/main" val="177224384"/>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DB6143EE-0DC2-406B-82A6-B113006E5943}"/>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CE07FFD7-6443-4695-B3C4-2AC35DDBE91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Risk treatment choices</a:t>
            </a:r>
          </a:p>
        </p:txBody>
      </p:sp>
      <p:graphicFrame>
        <p:nvGraphicFramePr>
          <p:cNvPr id="3" name="">
            <a:extLst xmlns:a="http://schemas.openxmlformats.org/drawingml/2006/main">
              <a:ext uri="{FF2B5EF4-FFF2-40B4-BE49-F238E27FC236}">
                <a16:creationId xmlns:a16="http://schemas.microsoft.com/office/drawing/2014/main" id="{8D1E890C-A5AE-4DE1-840B-13EAB6C9726C}"/>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Response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Possible action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Decision issue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Mitigate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Reduce likelihood or impact</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Verify the control mechanism</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Avoid</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Stop or change an activity</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Consider business consequences</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Share or transfer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Allocate some exposure by agreement</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Retain remaining responsibilities</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Accept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Authorize exposure with a rationale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Use the proper decision authority</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EEEAE97B-7693-42B5-9C93-9742377A20B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3838612F-3075-4D6E-83BF-FE23A2326BD7}"/>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05</a:t>
            </a:r>
          </a:p>
        </p:txBody>
      </p:sp>
    </p:spTree>
    <p:extLst>
      <p:ext uri="{BB962C8B-B14F-4D97-AF65-F5344CB8AC3E}">
        <p14:creationId xmlns:p14="http://schemas.microsoft.com/office/powerpoint/2010/main" val="1763724430"/>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1337EDE-CEBB-4B8C-B928-0CAFAFA3A77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8D8744F4-64B6-499E-A30A-1EF7E079BF9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Risk decisions and operating roles</a:t>
            </a:r>
          </a:p>
        </p:txBody>
      </p:sp>
      <p:sp>
        <p:nvSpPr>
          <p:cNvPr id="3" name="index-0">
            <a:extLst xmlns:a="http://schemas.openxmlformats.org/drawingml/2006/main">
              <a:ext uri="{FF2B5EF4-FFF2-40B4-BE49-F238E27FC236}">
                <a16:creationId xmlns:a16="http://schemas.microsoft.com/office/drawing/2014/main" id="{54494464-A9DB-492D-9931-C7013E0E5A3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7E8E78BC-E97D-401A-AF43-BAAE5822649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Risk owners track exposure and decisions</a:t>
            </a:r>
          </a:p>
        </p:txBody>
      </p:sp>
      <p:sp>
        <p:nvSpPr>
          <p:cNvPr id="5" name="index-1">
            <a:extLst xmlns:a="http://schemas.openxmlformats.org/drawingml/2006/main">
              <a:ext uri="{FF2B5EF4-FFF2-40B4-BE49-F238E27FC236}">
                <a16:creationId xmlns:a16="http://schemas.microsoft.com/office/drawing/2014/main" id="{491A3DC8-2133-437E-BC9E-0293585C073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EACE4E7-F8F2-4B85-B0D3-DC253CBBB659}"/>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Operators implement and maintain controls</a:t>
            </a:r>
          </a:p>
        </p:txBody>
      </p:sp>
      <p:sp>
        <p:nvSpPr>
          <p:cNvPr id="7" name="index-2">
            <a:extLst xmlns:a="http://schemas.openxmlformats.org/drawingml/2006/main">
              <a:ext uri="{FF2B5EF4-FFF2-40B4-BE49-F238E27FC236}">
                <a16:creationId xmlns:a16="http://schemas.microsoft.com/office/drawing/2014/main" id="{E076B486-96DD-4093-A138-54FC7CF05095}"/>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310C2461-594F-47A1-B40D-17289432E0C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Authorized management approves acceptance</a:t>
            </a:r>
          </a:p>
        </p:txBody>
      </p:sp>
      <p:sp>
        <p:nvSpPr>
          <p:cNvPr id="9" name="index-3">
            <a:extLst xmlns:a="http://schemas.openxmlformats.org/drawingml/2006/main">
              <a:ext uri="{FF2B5EF4-FFF2-40B4-BE49-F238E27FC236}">
                <a16:creationId xmlns:a16="http://schemas.microsoft.com/office/drawing/2014/main" id="{A55A77AF-FB09-4B07-A65E-FB39C8FE575C}"/>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C263415-6847-4166-B3E2-602D872CF8B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Evidence supports review and escalation</a:t>
            </a:r>
          </a:p>
        </p:txBody>
      </p:sp>
      <p:sp>
        <p:nvSpPr>
          <p:cNvPr id="11" name="footer">
            <a:extLst xmlns:a="http://schemas.openxmlformats.org/drawingml/2006/main">
              <a:ext uri="{FF2B5EF4-FFF2-40B4-BE49-F238E27FC236}">
                <a16:creationId xmlns:a16="http://schemas.microsoft.com/office/drawing/2014/main" id="{CE5EC9B8-004C-4AB7-98CC-319D1FF46B5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40D03615-6271-46CF-8653-3C1478367825}"/>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06</a:t>
            </a:r>
          </a:p>
        </p:txBody>
      </p:sp>
    </p:spTree>
    <p:extLst>
      <p:ext uri="{BB962C8B-B14F-4D97-AF65-F5344CB8AC3E}">
        <p14:creationId xmlns:p14="http://schemas.microsoft.com/office/powerpoint/2010/main" val="279461606"/>
      </p:ext>
    </p:extLst>
  </p:cSld>
</p:sld>
</file>

<file path=ppt/slides/slide7.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673DA20-DCE0-40E6-BF7B-AAB46BE18BC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6F16D6A6-3DC7-4EB9-AE8E-1272ED4B873B}"/>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C1 treatment decision clinic</a:t>
            </a:r>
          </a:p>
        </p:txBody>
      </p:sp>
      <p:sp>
        <p:nvSpPr>
          <p:cNvPr id="3" name="index-0">
            <a:extLst xmlns:a="http://schemas.openxmlformats.org/drawingml/2006/main">
              <a:ext uri="{FF2B5EF4-FFF2-40B4-BE49-F238E27FC236}">
                <a16:creationId xmlns:a16="http://schemas.microsoft.com/office/drawing/2014/main" id="{26A21400-BEC0-453F-9A7D-E0298382498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0E28C50D-B53A-456F-ABA0-876A9F117534}"/>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Use the shared administrator condition</a:t>
            </a:r>
          </a:p>
        </p:txBody>
      </p:sp>
      <p:sp>
        <p:nvSpPr>
          <p:cNvPr id="5" name="index-1">
            <a:extLst xmlns:a="http://schemas.openxmlformats.org/drawingml/2006/main">
              <a:ext uri="{FF2B5EF4-FFF2-40B4-BE49-F238E27FC236}">
                <a16:creationId xmlns:a16="http://schemas.microsoft.com/office/drawing/2014/main" id="{545A7D5C-A098-454C-B4ED-9A65996842A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20DB279-FBFA-431E-BD69-93A1E590446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Explain how the response changes exposure</a:t>
            </a:r>
          </a:p>
        </p:txBody>
      </p:sp>
      <p:sp>
        <p:nvSpPr>
          <p:cNvPr id="7" name="index-2">
            <a:extLst xmlns:a="http://schemas.openxmlformats.org/drawingml/2006/main">
              <a:ext uri="{FF2B5EF4-FFF2-40B4-BE49-F238E27FC236}">
                <a16:creationId xmlns:a16="http://schemas.microsoft.com/office/drawing/2014/main" id="{5DC2A935-560E-40F9-AB27-CA812601694C}"/>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A2DCBCA-B9E1-4BCE-B9C3-2A2BE789DF2C}"/>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Name decision and operating roles</a:t>
            </a:r>
          </a:p>
        </p:txBody>
      </p:sp>
      <p:sp>
        <p:nvSpPr>
          <p:cNvPr id="9" name="index-3">
            <a:extLst xmlns:a="http://schemas.openxmlformats.org/drawingml/2006/main">
              <a:ext uri="{FF2B5EF4-FFF2-40B4-BE49-F238E27FC236}">
                <a16:creationId xmlns:a16="http://schemas.microsoft.com/office/drawing/2014/main" id="{2A50F43F-6A3D-4554-AA51-F3523B4183B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0042AA7D-CC2E-4287-8DFC-DB96FFFA561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including peer challenge</a:t>
            </a:r>
          </a:p>
        </p:txBody>
      </p:sp>
      <p:sp>
        <p:nvSpPr>
          <p:cNvPr id="11" name="footer">
            <a:extLst xmlns:a="http://schemas.openxmlformats.org/drawingml/2006/main">
              <a:ext uri="{FF2B5EF4-FFF2-40B4-BE49-F238E27FC236}">
                <a16:creationId xmlns:a16="http://schemas.microsoft.com/office/drawing/2014/main" id="{BBE04ABB-38ED-446B-9088-888877AA532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81C867AD-EA06-47CB-8382-9DEC4E1E11D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07</a:t>
            </a:r>
          </a:p>
        </p:txBody>
      </p:sp>
    </p:spTree>
    <p:extLst>
      <p:ext uri="{BB962C8B-B14F-4D97-AF65-F5344CB8AC3E}">
        <p14:creationId xmlns:p14="http://schemas.microsoft.com/office/powerpoint/2010/main" val="46396333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0089D28-63D5-4469-A694-B82815C59B4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77A21C8C-9CC8-431B-A2FA-1E9959BAD39B}"/>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Prioritization and dependencies</a:t>
            </a:r>
          </a:p>
        </p:txBody>
      </p:sp>
      <p:sp>
        <p:nvSpPr>
          <p:cNvPr id="3" name="index-0">
            <a:extLst xmlns:a="http://schemas.openxmlformats.org/drawingml/2006/main">
              <a:ext uri="{FF2B5EF4-FFF2-40B4-BE49-F238E27FC236}">
                <a16:creationId xmlns:a16="http://schemas.microsoft.com/office/drawing/2014/main" id="{616352DB-7602-4EA6-B774-F6C2830F771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8F4D5C50-CFCD-4C27-8820-2DE28474DAB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Consider business consequences and obligations</a:t>
            </a:r>
          </a:p>
        </p:txBody>
      </p:sp>
      <p:sp>
        <p:nvSpPr>
          <p:cNvPr id="5" name="index-1">
            <a:extLst xmlns:a="http://schemas.openxmlformats.org/drawingml/2006/main">
              <a:ext uri="{FF2B5EF4-FFF2-40B4-BE49-F238E27FC236}">
                <a16:creationId xmlns:a16="http://schemas.microsoft.com/office/drawing/2014/main" id="{93AEC61E-6A03-47F6-98B5-9E13A138073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79ACE4E-0AB0-4F36-97DA-E760C65B3B7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prerequisites and implementation effort</a:t>
            </a:r>
          </a:p>
        </p:txBody>
      </p:sp>
      <p:sp>
        <p:nvSpPr>
          <p:cNvPr id="7" name="index-2">
            <a:extLst xmlns:a="http://schemas.openxmlformats.org/drawingml/2006/main">
              <a:ext uri="{FF2B5EF4-FFF2-40B4-BE49-F238E27FC236}">
                <a16:creationId xmlns:a16="http://schemas.microsoft.com/office/drawing/2014/main" id="{4CE60287-F25C-4D3E-8E19-3F09E648395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E11B729-D953-4051-B524-2BE44B2FE0D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 constrained choices and deferrals</a:t>
            </a:r>
          </a:p>
        </p:txBody>
      </p:sp>
      <p:sp>
        <p:nvSpPr>
          <p:cNvPr id="9" name="index-3">
            <a:extLst xmlns:a="http://schemas.openxmlformats.org/drawingml/2006/main">
              <a:ext uri="{FF2B5EF4-FFF2-40B4-BE49-F238E27FC236}">
                <a16:creationId xmlns:a16="http://schemas.microsoft.com/office/drawing/2014/main" id="{0FA83620-34BB-4575-A312-9D493A46D3F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995C570-7082-4D9C-8657-4687233B239F}"/>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Revisit decisions when evidence changes</a:t>
            </a:r>
          </a:p>
        </p:txBody>
      </p:sp>
      <p:sp>
        <p:nvSpPr>
          <p:cNvPr id="11" name="footer">
            <a:extLst xmlns:a="http://schemas.openxmlformats.org/drawingml/2006/main">
              <a:ext uri="{FF2B5EF4-FFF2-40B4-BE49-F238E27FC236}">
                <a16:creationId xmlns:a16="http://schemas.microsoft.com/office/drawing/2014/main" id="{E2111770-C69E-4231-809A-B9AFD5FC1546}"/>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C360CC16-EDE5-4EF8-8F80-439F9101954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08</a:t>
            </a:r>
          </a:p>
        </p:txBody>
      </p:sp>
    </p:spTree>
    <p:extLst>
      <p:ext uri="{BB962C8B-B14F-4D97-AF65-F5344CB8AC3E}">
        <p14:creationId xmlns:p14="http://schemas.microsoft.com/office/powerpoint/2010/main" val="2129261802"/>
      </p:ext>
    </p:extLst>
  </p:cSld>
</p:sld>
</file>

<file path=ppt/slides/slide9.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56F01EED-E3A7-4AAB-A762-BF23F63D03C3}"/>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8789981A-2BF1-4079-9BC1-5272E431168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C2 toy budget and candidates</a:t>
            </a:r>
          </a:p>
        </p:txBody>
      </p:sp>
      <p:graphicFrame>
        <p:nvGraphicFramePr>
          <p:cNvPr id="3" name="">
            <a:extLst xmlns:a="http://schemas.openxmlformats.org/drawingml/2006/main">
              <a:ext uri="{FF2B5EF4-FFF2-40B4-BE49-F238E27FC236}">
                <a16:creationId xmlns:a16="http://schemas.microsoft.com/office/drawing/2014/main" id="{C60BE5A9-8E48-489C-BDEA-56B722F494A8}"/>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579438">
                <a:tc>
                  <a:txBody>
                    <a:bodyPr/>
                    <a:lstStyle/>
                    <a:p>
                      <a:r>
                        <a:rPr sz="1725" b="1">
                          <a:solidFill>
                            <a:srgbClr val="FFFFFF"/>
                          </a:solidFill>
                          <a:latin typeface="Arial"/>
                          <a:ea typeface="Arial"/>
                          <a:cs typeface="Arial"/>
                        </a:rPr>
                        <a:t>Candidate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Toy cost</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Condition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579438">
                <a:tc>
                  <a:txBody>
                    <a:bodyPr/>
                    <a:lstStyle/>
                    <a:p>
                      <a:r>
                        <a:rPr sz="1725" b="0">
                          <a:solidFill>
                            <a:srgbClr val="102F40"/>
                          </a:solidFill>
                          <a:latin typeface="Arial"/>
                          <a:ea typeface="Arial"/>
                          <a:cs typeface="Arial"/>
                        </a:rPr>
                        <a:t>Identity cleanup</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1,200 dollars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Prerequisite for this MFA rollout</a:t>
                      </a:r>
                    </a:p>
                  </a:txBody>
                  <a:tcPr marL="91440" marR="91440" marT="45720" marB="45720">
                    <a:lnR w="9525">
                      <a:solidFill>
                        <a:srgbClr val="CBD5DA"/>
                      </a:solidFill>
                      <a:prstDash val="solid"/>
                    </a:lnR>
                    <a:lnB w="9525">
                      <a:solidFill>
                        <a:srgbClr val="CBD5DA"/>
                      </a:solidFill>
                      <a:prstDash val="solid"/>
                    </a:lnB>
                    <a:solidFill>
                      <a:srgbClr val="FFFFFF"/>
                    </a:solidFill>
                  </a:tcPr>
                </a:tc>
              </a:tr>
              <a:tr h="579438">
                <a:tc>
                  <a:txBody>
                    <a:bodyPr/>
                    <a:lstStyle/>
                    <a:p>
                      <a:r>
                        <a:rPr sz="1725" b="0">
                          <a:solidFill>
                            <a:srgbClr val="102F40"/>
                          </a:solidFill>
                          <a:latin typeface="Arial"/>
                          <a:ea typeface="Arial"/>
                          <a:cs typeface="Arial"/>
                        </a:rPr>
                        <a:t>MFA rollout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800 dollars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After identity cleanup</a:t>
                      </a:r>
                    </a:p>
                  </a:txBody>
                  <a:tcPr marL="91440" marR="91440" marT="45720" marB="45720">
                    <a:lnR w="9525">
                      <a:solidFill>
                        <a:srgbClr val="CBD5DA"/>
                      </a:solidFill>
                      <a:prstDash val="solid"/>
                    </a:lnR>
                    <a:lnB w="9525">
                      <a:solidFill>
                        <a:srgbClr val="CBD5DA"/>
                      </a:solidFill>
                      <a:prstDash val="solid"/>
                    </a:lnB>
                    <a:solidFill>
                      <a:srgbClr val="EBF0F2"/>
                    </a:solidFill>
                  </a:tcPr>
                </a:tc>
              </a:tr>
              <a:tr h="579438">
                <a:tc>
                  <a:txBody>
                    <a:bodyPr/>
                    <a:lstStyle/>
                    <a:p>
                      <a:r>
                        <a:rPr sz="1725" b="0">
                          <a:solidFill>
                            <a:srgbClr val="102F40"/>
                          </a:solidFill>
                          <a:latin typeface="Arial"/>
                          <a:ea typeface="Arial"/>
                          <a:cs typeface="Arial"/>
                        </a:rPr>
                        <a:t>Restore test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600 dollars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Tests usable recovery</a:t>
                      </a:r>
                    </a:p>
                  </a:txBody>
                  <a:tcPr marL="91440" marR="91440" marT="45720" marB="45720">
                    <a:lnR w="9525">
                      <a:solidFill>
                        <a:srgbClr val="CBD5DA"/>
                      </a:solidFill>
                      <a:prstDash val="solid"/>
                    </a:lnR>
                    <a:lnB w="9525">
                      <a:solidFill>
                        <a:srgbClr val="CBD5DA"/>
                      </a:solidFill>
                      <a:prstDash val="solid"/>
                    </a:lnB>
                    <a:solidFill>
                      <a:srgbClr val="FFFFFF"/>
                    </a:solidFill>
                  </a:tcPr>
                </a:tc>
              </a:tr>
              <a:tr h="579438">
                <a:tc>
                  <a:txBody>
                    <a:bodyPr/>
                    <a:lstStyle/>
                    <a:p>
                      <a:r>
                        <a:rPr sz="1725" b="0">
                          <a:solidFill>
                            <a:srgbClr val="102F40"/>
                          </a:solidFill>
                          <a:latin typeface="Arial"/>
                          <a:ea typeface="Arial"/>
                          <a:cs typeface="Arial"/>
                        </a:rPr>
                        <a:t>Laptop lock</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500 dollars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Addresses a physical exposure</a:t>
                      </a:r>
                    </a:p>
                  </a:txBody>
                  <a:tcPr marL="91440" marR="91440" marT="45720" marB="45720">
                    <a:lnR w="9525">
                      <a:solidFill>
                        <a:srgbClr val="CBD5DA"/>
                      </a:solidFill>
                      <a:prstDash val="solid"/>
                    </a:lnR>
                    <a:lnB w="9525">
                      <a:solidFill>
                        <a:srgbClr val="CBD5DA"/>
                      </a:solidFill>
                      <a:prstDash val="solid"/>
                    </a:lnB>
                    <a:solidFill>
                      <a:srgbClr val="EBF0F2"/>
                    </a:solidFill>
                  </a:tcPr>
                </a:tc>
              </a:tr>
              <a:tr h="579438">
                <a:tc>
                  <a:txBody>
                    <a:bodyPr/>
                    <a:lstStyle/>
                    <a:p>
                      <a:r>
                        <a:rPr sz="1725" b="0">
                          <a:solidFill>
                            <a:srgbClr val="102F40"/>
                          </a:solidFill>
                          <a:latin typeface="Arial"/>
                          <a:ea typeface="Arial"/>
                          <a:cs typeface="Arial"/>
                        </a:rPr>
                        <a:t>Awareness campaign</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3,000 dollars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Does not deploy account controls</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F35B5651-A709-4E15-92AF-D72BE105C4F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9F350744-7BD2-4F24-8F43-590BA7837A57}"/>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09</a:t>
            </a:r>
          </a:p>
        </p:txBody>
      </p:sp>
    </p:spTree>
    <p:extLst>
      <p:ext uri="{BB962C8B-B14F-4D97-AF65-F5344CB8AC3E}">
        <p14:creationId xmlns:p14="http://schemas.microsoft.com/office/powerpoint/2010/main" val="327268589"/>
      </p:ext>
    </p:extLst>
  </p:cSld>
</p:sld>
</file>

<file path=ppt/slides/slide10.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679712F-7918-406C-85B4-C4D1E84EB763}"/>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8B2C1092-B481-4960-BEBC-4EE141EA957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C2 constrained prioritization</a:t>
            </a:r>
          </a:p>
        </p:txBody>
      </p:sp>
      <p:sp>
        <p:nvSpPr>
          <p:cNvPr id="3" name="index-0">
            <a:extLst xmlns:a="http://schemas.openxmlformats.org/drawingml/2006/main">
              <a:ext uri="{FF2B5EF4-FFF2-40B4-BE49-F238E27FC236}">
                <a16:creationId xmlns:a16="http://schemas.microsoft.com/office/drawing/2014/main" id="{A12B4D67-37EC-4113-B0A7-EA56977B10A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0C603C1-B385-4E53-A874-6C63696CB7A8}"/>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a feasible set of actions</a:t>
            </a:r>
          </a:p>
        </p:txBody>
      </p:sp>
      <p:sp>
        <p:nvSpPr>
          <p:cNvPr id="5" name="index-1">
            <a:extLst xmlns:a="http://schemas.openxmlformats.org/drawingml/2006/main">
              <a:ext uri="{FF2B5EF4-FFF2-40B4-BE49-F238E27FC236}">
                <a16:creationId xmlns:a16="http://schemas.microsoft.com/office/drawing/2014/main" id="{EE12C498-A224-4154-862E-0538F4197B6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BE030D3-11F7-48D9-A49D-2EA25C6F073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Calculate the total and explain order</a:t>
            </a:r>
          </a:p>
        </p:txBody>
      </p:sp>
      <p:sp>
        <p:nvSpPr>
          <p:cNvPr id="7" name="index-2">
            <a:extLst xmlns:a="http://schemas.openxmlformats.org/drawingml/2006/main">
              <a:ext uri="{FF2B5EF4-FFF2-40B4-BE49-F238E27FC236}">
                <a16:creationId xmlns:a16="http://schemas.microsoft.com/office/drawing/2014/main" id="{B89B4C38-709A-4859-A337-4386302D5BC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5BDC2AF2-6353-4E13-B472-743CFE133CD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Name a deferred exposure and review trigger</a:t>
            </a:r>
          </a:p>
        </p:txBody>
      </p:sp>
      <p:sp>
        <p:nvSpPr>
          <p:cNvPr id="9" name="index-3">
            <a:extLst xmlns:a="http://schemas.openxmlformats.org/drawingml/2006/main">
              <a:ext uri="{FF2B5EF4-FFF2-40B4-BE49-F238E27FC236}">
                <a16:creationId xmlns:a16="http://schemas.microsoft.com/office/drawing/2014/main" id="{2A58EBE3-0A19-4EBD-A9D9-A2C9B0BD2A5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41AFB71-080A-45DF-A5D1-A7A9D405493D}"/>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no universal best portfolio</a:t>
            </a:r>
          </a:p>
        </p:txBody>
      </p:sp>
      <p:sp>
        <p:nvSpPr>
          <p:cNvPr id="11" name="footer">
            <a:extLst xmlns:a="http://schemas.openxmlformats.org/drawingml/2006/main">
              <a:ext uri="{FF2B5EF4-FFF2-40B4-BE49-F238E27FC236}">
                <a16:creationId xmlns:a16="http://schemas.microsoft.com/office/drawing/2014/main" id="{DDF5BB9A-F648-4E87-BD03-F8752BC743A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EAF2CE2C-F532-4BA3-AC9F-62E3F416E6F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10</a:t>
            </a:r>
          </a:p>
        </p:txBody>
      </p:sp>
    </p:spTree>
    <p:extLst>
      <p:ext uri="{BB962C8B-B14F-4D97-AF65-F5344CB8AC3E}">
        <p14:creationId xmlns:p14="http://schemas.microsoft.com/office/powerpoint/2010/main" val="1883066681"/>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FF3DF6B-464D-4161-9A6B-51DBAFFECCF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1E33B4F2-FCDA-435B-BCDE-112A66948A2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Implementation decisions and evidence</a:t>
            </a:r>
          </a:p>
        </p:txBody>
      </p:sp>
      <p:sp>
        <p:nvSpPr>
          <p:cNvPr id="3" name="index-0">
            <a:extLst xmlns:a="http://schemas.openxmlformats.org/drawingml/2006/main">
              <a:ext uri="{FF2B5EF4-FFF2-40B4-BE49-F238E27FC236}">
                <a16:creationId xmlns:a16="http://schemas.microsoft.com/office/drawing/2014/main" id="{A8CF25D2-9539-466E-9620-88B08CCABA7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D8B5E8D2-DF6F-4E5E-A111-505FB698484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Approved work needs an owner and resources</a:t>
            </a:r>
          </a:p>
        </p:txBody>
      </p:sp>
      <p:sp>
        <p:nvSpPr>
          <p:cNvPr id="5" name="index-1">
            <a:extLst xmlns:a="http://schemas.openxmlformats.org/drawingml/2006/main">
              <a:ext uri="{FF2B5EF4-FFF2-40B4-BE49-F238E27FC236}">
                <a16:creationId xmlns:a16="http://schemas.microsoft.com/office/drawing/2014/main" id="{634608D7-5D6C-43F0-A655-807F6D6B6B9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A777EB4-1BDB-4EF0-9EEA-59F8CE6CF63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Deployment requires a controlled sequence</a:t>
            </a:r>
          </a:p>
        </p:txBody>
      </p:sp>
      <p:sp>
        <p:nvSpPr>
          <p:cNvPr id="7" name="index-2">
            <a:extLst xmlns:a="http://schemas.openxmlformats.org/drawingml/2006/main">
              <a:ext uri="{FF2B5EF4-FFF2-40B4-BE49-F238E27FC236}">
                <a16:creationId xmlns:a16="http://schemas.microsoft.com/office/drawing/2014/main" id="{ACBEFD37-E0FC-437B-9191-3E58D4C23B6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59EBCBB-A6E1-4100-891A-FB0BE4281DCE}"/>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Verification checks the intended mechanism</a:t>
            </a:r>
          </a:p>
        </p:txBody>
      </p:sp>
      <p:sp>
        <p:nvSpPr>
          <p:cNvPr id="9" name="index-3">
            <a:extLst xmlns:a="http://schemas.openxmlformats.org/drawingml/2006/main">
              <a:ext uri="{FF2B5EF4-FFF2-40B4-BE49-F238E27FC236}">
                <a16:creationId xmlns:a16="http://schemas.microsoft.com/office/drawing/2014/main" id="{32B596C0-153F-47AC-84D0-2F0759DF041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DB9A9F3-B5F5-4387-9679-E7AC0A7FCBB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Remaining risk needs an accountable review</a:t>
            </a:r>
          </a:p>
        </p:txBody>
      </p:sp>
      <p:sp>
        <p:nvSpPr>
          <p:cNvPr id="11" name="footer">
            <a:extLst xmlns:a="http://schemas.openxmlformats.org/drawingml/2006/main">
              <a:ext uri="{FF2B5EF4-FFF2-40B4-BE49-F238E27FC236}">
                <a16:creationId xmlns:a16="http://schemas.microsoft.com/office/drawing/2014/main" id="{B8297A9D-7677-4BFB-B5F2-9674071C600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10A49F7D-CE99-44C7-8997-EEB867E5047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11</a:t>
            </a:r>
          </a:p>
        </p:txBody>
      </p:sp>
    </p:spTree>
    <p:extLst>
      <p:ext uri="{BB962C8B-B14F-4D97-AF65-F5344CB8AC3E}">
        <p14:creationId xmlns:p14="http://schemas.microsoft.com/office/powerpoint/2010/main" val="72530497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4436712-5CB5-444C-B987-79DDD6FD8B2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2 NOV</a:t>
            </a:r>
          </a:p>
        </p:txBody>
      </p:sp>
      <p:sp>
        <p:nvSpPr>
          <p:cNvPr id="2" name="heading">
            <a:extLst xmlns:a="http://schemas.openxmlformats.org/drawingml/2006/main">
              <a:ext uri="{FF2B5EF4-FFF2-40B4-BE49-F238E27FC236}">
                <a16:creationId xmlns:a16="http://schemas.microsoft.com/office/drawing/2014/main" id="{F82F0532-3C6A-437A-BEF5-1A831E0082C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exit and coursework bridge</a:t>
            </a:r>
          </a:p>
        </p:txBody>
      </p:sp>
      <p:sp>
        <p:nvSpPr>
          <p:cNvPr id="3" name="index-0">
            <a:extLst xmlns:a="http://schemas.openxmlformats.org/drawingml/2006/main">
              <a:ext uri="{FF2B5EF4-FFF2-40B4-BE49-F238E27FC236}">
                <a16:creationId xmlns:a16="http://schemas.microsoft.com/office/drawing/2014/main" id="{5A0D4DB9-BDB0-4EA4-B576-BB4545E1CDF7}"/>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87522257-8F27-4117-868A-92ED4D2530EA}"/>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Risk owner versus operator</a:t>
            </a:r>
          </a:p>
        </p:txBody>
      </p:sp>
      <p:sp>
        <p:nvSpPr>
          <p:cNvPr id="5" name="index-1">
            <a:extLst xmlns:a="http://schemas.openxmlformats.org/drawingml/2006/main">
              <a:ext uri="{FF2B5EF4-FFF2-40B4-BE49-F238E27FC236}">
                <a16:creationId xmlns:a16="http://schemas.microsoft.com/office/drawing/2014/main" id="{06953C4D-2111-469B-B14A-DC968830D65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4651D94-7BA3-4B32-9D57-C1459C4A6C8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Responsibility after outsourcing</a:t>
            </a:r>
          </a:p>
        </p:txBody>
      </p:sp>
      <p:sp>
        <p:nvSpPr>
          <p:cNvPr id="7" name="index-2">
            <a:extLst xmlns:a="http://schemas.openxmlformats.org/drawingml/2006/main">
              <a:ext uri="{FF2B5EF4-FFF2-40B4-BE49-F238E27FC236}">
                <a16:creationId xmlns:a16="http://schemas.microsoft.com/office/drawing/2014/main" id="{DEE3D47C-AA2E-4E6C-BFBB-DE6EB2F632D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DC74B3BC-CAEF-45CA-B396-7C4D731230E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Prerequisites and priority</a:t>
            </a:r>
          </a:p>
        </p:txBody>
      </p:sp>
      <p:sp>
        <p:nvSpPr>
          <p:cNvPr id="9" name="index-3">
            <a:extLst xmlns:a="http://schemas.openxmlformats.org/drawingml/2006/main">
              <a:ext uri="{FF2B5EF4-FFF2-40B4-BE49-F238E27FC236}">
                <a16:creationId xmlns:a16="http://schemas.microsoft.com/office/drawing/2014/main" id="{39DF81A5-CE8E-4E65-ACC5-147E065D421B}"/>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03CC4F8D-9632-44E4-AF55-509621531BD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Own analysis for Project 3 and DQ6</a:t>
            </a:r>
          </a:p>
        </p:txBody>
      </p:sp>
      <p:sp>
        <p:nvSpPr>
          <p:cNvPr id="11" name="footer">
            <a:extLst xmlns:a="http://schemas.openxmlformats.org/drawingml/2006/main">
              <a:ext uri="{FF2B5EF4-FFF2-40B4-BE49-F238E27FC236}">
                <a16:creationId xmlns:a16="http://schemas.microsoft.com/office/drawing/2014/main" id="{88F1B14E-26D1-47A7-8A6B-C74329BEC4F5}"/>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BA1AB060-B5E9-4805-95EC-9D6A2FEBB6A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12</a:t>
            </a:r>
          </a:p>
        </p:txBody>
      </p:sp>
    </p:spTree>
    <p:extLst>
      <p:ext uri="{BB962C8B-B14F-4D97-AF65-F5344CB8AC3E}">
        <p14:creationId xmlns:p14="http://schemas.microsoft.com/office/powerpoint/2010/main" val="1774595940"/>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A19176C-8F59-4F81-940F-87B78C5B3D6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BA17BE5D-E5B6-487D-91E5-70A7F64F615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learning route</a:t>
            </a:r>
          </a:p>
        </p:txBody>
      </p:sp>
      <p:sp>
        <p:nvSpPr>
          <p:cNvPr id="3" name="index-0">
            <a:extLst xmlns:a="http://schemas.openxmlformats.org/drawingml/2006/main">
              <a:ext uri="{FF2B5EF4-FFF2-40B4-BE49-F238E27FC236}">
                <a16:creationId xmlns:a16="http://schemas.microsoft.com/office/drawing/2014/main" id="{3A43C284-F21B-4EBB-B840-A8F255B9E75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65F2AA6-E7DE-4F5A-8CEC-7281A11DC1C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Control implementation types and functions</a:t>
            </a:r>
          </a:p>
        </p:txBody>
      </p:sp>
      <p:sp>
        <p:nvSpPr>
          <p:cNvPr id="5" name="index-1">
            <a:extLst xmlns:a="http://schemas.openxmlformats.org/drawingml/2006/main">
              <a:ext uri="{FF2B5EF4-FFF2-40B4-BE49-F238E27FC236}">
                <a16:creationId xmlns:a16="http://schemas.microsoft.com/office/drawing/2014/main" id="{0A2DD1F8-D4FD-4AFE-9C12-5F6E5911E494}"/>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2CA77CEC-BB19-49E4-BD2D-0940821D0E9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C3 classification and framework families</a:t>
            </a:r>
          </a:p>
        </p:txBody>
      </p:sp>
      <p:sp>
        <p:nvSpPr>
          <p:cNvPr id="7" name="index-2">
            <a:extLst xmlns:a="http://schemas.openxmlformats.org/drawingml/2006/main">
              <a:ext uri="{FF2B5EF4-FFF2-40B4-BE49-F238E27FC236}">
                <a16:creationId xmlns:a16="http://schemas.microsoft.com/office/drawing/2014/main" id="{B2CE2F1A-5325-458F-8423-E6BF08EDFF7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ECA897E-3B28-4534-B56A-17D86ACA53E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C4 verification and coverage gaps</a:t>
            </a:r>
          </a:p>
        </p:txBody>
      </p:sp>
      <p:sp>
        <p:nvSpPr>
          <p:cNvPr id="9" name="index-3">
            <a:extLst xmlns:a="http://schemas.openxmlformats.org/drawingml/2006/main">
              <a:ext uri="{FF2B5EF4-FFF2-40B4-BE49-F238E27FC236}">
                <a16:creationId xmlns:a16="http://schemas.microsoft.com/office/drawing/2014/main" id="{6D5054AA-D88E-42E6-B1C4-164E45111F3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DC7FD82-D6AD-43AC-8AF6-6BFDA8ABBD3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Documentation and DQ8 reasoning</a:t>
            </a:r>
          </a:p>
        </p:txBody>
      </p:sp>
      <p:sp>
        <p:nvSpPr>
          <p:cNvPr id="11" name="footer">
            <a:extLst xmlns:a="http://schemas.openxmlformats.org/drawingml/2006/main">
              <a:ext uri="{FF2B5EF4-FFF2-40B4-BE49-F238E27FC236}">
                <a16:creationId xmlns:a16="http://schemas.microsoft.com/office/drawing/2014/main" id="{62E9B8E3-9351-4E9C-8C64-0FD22A8DF16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01756DED-EE85-439D-9C51-4DC4DCB9503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13</a:t>
            </a:r>
          </a:p>
        </p:txBody>
      </p:sp>
    </p:spTree>
    <p:extLst>
      <p:ext uri="{BB962C8B-B14F-4D97-AF65-F5344CB8AC3E}">
        <p14:creationId xmlns:p14="http://schemas.microsoft.com/office/powerpoint/2010/main" val="369427113"/>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ABDFC89C-D6A6-40AF-9ACB-0D3D8865357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C9469BF3-8FFA-487C-8C5A-3D3EDC28116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Control type and control function</a:t>
            </a:r>
          </a:p>
        </p:txBody>
      </p:sp>
      <p:graphicFrame>
        <p:nvGraphicFramePr>
          <p:cNvPr id="3" name="">
            <a:extLst xmlns:a="http://schemas.openxmlformats.org/drawingml/2006/main">
              <a:ext uri="{FF2B5EF4-FFF2-40B4-BE49-F238E27FC236}">
                <a16:creationId xmlns:a16="http://schemas.microsoft.com/office/drawing/2014/main" id="{5DC4B66B-F0FC-4269-BDB3-90BB0CFD866B}"/>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Dimension</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Examples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Implementation type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How is the safeguard delivered?</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Administrative technical physical</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Function</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effect does it serve?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Preventive detective corrective recovery</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Framework family</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topic groups related controls?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Identification and Authentication</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10373821-64A4-4A2B-848C-EF797C1F4E8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F85C76C8-B932-4D43-A0F3-015BA6369431}"/>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14</a:t>
            </a:r>
          </a:p>
        </p:txBody>
      </p:sp>
    </p:spTree>
    <p:extLst>
      <p:ext uri="{BB962C8B-B14F-4D97-AF65-F5344CB8AC3E}">
        <p14:creationId xmlns:p14="http://schemas.microsoft.com/office/powerpoint/2010/main" val="1901283100"/>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28D7A61-1170-470E-9E78-C06F2B03B59C}"/>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990FEC02-1F75-45C1-BE21-DB44E86402C7}"/>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Control families and source editions</a:t>
            </a:r>
          </a:p>
        </p:txBody>
      </p:sp>
      <p:sp>
        <p:nvSpPr>
          <p:cNvPr id="3" name="index-0">
            <a:extLst xmlns:a="http://schemas.openxmlformats.org/drawingml/2006/main">
              <a:ext uri="{FF2B5EF4-FFF2-40B4-BE49-F238E27FC236}">
                <a16:creationId xmlns:a16="http://schemas.microsoft.com/office/drawing/2014/main" id="{F85BBF0F-1A22-4A12-8702-02B510B6474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586360C-DAF4-41FF-AC84-08B462B06A00}"/>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Families organize related control topics</a:t>
            </a:r>
          </a:p>
        </p:txBody>
      </p:sp>
      <p:sp>
        <p:nvSpPr>
          <p:cNvPr id="5" name="index-1">
            <a:extLst xmlns:a="http://schemas.openxmlformats.org/drawingml/2006/main">
              <a:ext uri="{FF2B5EF4-FFF2-40B4-BE49-F238E27FC236}">
                <a16:creationId xmlns:a16="http://schemas.microsoft.com/office/drawing/2014/main" id="{D1B0BBFE-BF35-4A69-8483-B69F51523F4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CE5D0707-8CE2-4E8A-B593-551610ABE9A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Type and function answer different questions</a:t>
            </a:r>
          </a:p>
        </p:txBody>
      </p:sp>
      <p:sp>
        <p:nvSpPr>
          <p:cNvPr id="7" name="index-2">
            <a:extLst xmlns:a="http://schemas.openxmlformats.org/drawingml/2006/main">
              <a:ext uri="{FF2B5EF4-FFF2-40B4-BE49-F238E27FC236}">
                <a16:creationId xmlns:a16="http://schemas.microsoft.com/office/drawing/2014/main" id="{9DAE3742-9DF9-4C73-A818-6831F02A6ED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D3411DC-CCAB-4E51-9B69-46AE70C53FC5}"/>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the catalog revision you consult</a:t>
            </a:r>
          </a:p>
        </p:txBody>
      </p:sp>
      <p:sp>
        <p:nvSpPr>
          <p:cNvPr id="9" name="index-3">
            <a:extLst xmlns:a="http://schemas.openxmlformats.org/drawingml/2006/main">
              <a:ext uri="{FF2B5EF4-FFF2-40B4-BE49-F238E27FC236}">
                <a16:creationId xmlns:a16="http://schemas.microsoft.com/office/drawing/2014/main" id="{77188846-3D6D-4114-88A3-6FCBD66F607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B6C09E3-3A94-4971-B86F-B49B23F4F5D2}"/>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Crosswalks require scope and interpretation</a:t>
            </a:r>
          </a:p>
        </p:txBody>
      </p:sp>
      <p:sp>
        <p:nvSpPr>
          <p:cNvPr id="11" name="footer">
            <a:extLst xmlns:a="http://schemas.openxmlformats.org/drawingml/2006/main">
              <a:ext uri="{FF2B5EF4-FFF2-40B4-BE49-F238E27FC236}">
                <a16:creationId xmlns:a16="http://schemas.microsoft.com/office/drawing/2014/main" id="{44E7E3EB-85F4-44B9-8255-D3DF12BC0596}"/>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9F4F0D81-8CC3-4E39-8E3B-2030A217D6A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15</a:t>
            </a:r>
          </a:p>
        </p:txBody>
      </p:sp>
    </p:spTree>
    <p:extLst>
      <p:ext uri="{BB962C8B-B14F-4D97-AF65-F5344CB8AC3E}">
        <p14:creationId xmlns:p14="http://schemas.microsoft.com/office/powerpoint/2010/main" val="1725907202"/>
      </p:ext>
    </p:extLst>
  </p:cSld>
</p:sld>
</file>

<file path=ppt/slides/slide16.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11F34F7-01E8-4E17-8CE1-81F2C40E1EF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F0FB73AC-AE4E-44F0-BBEB-B64DC3128778}"/>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C3 control classification lab</a:t>
            </a:r>
          </a:p>
        </p:txBody>
      </p:sp>
      <p:sp>
        <p:nvSpPr>
          <p:cNvPr id="3" name="index-0">
            <a:extLst xmlns:a="http://schemas.openxmlformats.org/drawingml/2006/main">
              <a:ext uri="{FF2B5EF4-FFF2-40B4-BE49-F238E27FC236}">
                <a16:creationId xmlns:a16="http://schemas.microsoft.com/office/drawing/2014/main" id="{7C682F48-ADD1-44DF-BE94-5586930DF25D}"/>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CB82944-0FF1-4A9D-B74C-8323CE5B492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Classify training MFA alerting and a lock</a:t>
            </a:r>
          </a:p>
        </p:txBody>
      </p:sp>
      <p:sp>
        <p:nvSpPr>
          <p:cNvPr id="5" name="index-1">
            <a:extLst xmlns:a="http://schemas.openxmlformats.org/drawingml/2006/main">
              <a:ext uri="{FF2B5EF4-FFF2-40B4-BE49-F238E27FC236}">
                <a16:creationId xmlns:a16="http://schemas.microsoft.com/office/drawing/2014/main" id="{EB1961D9-C175-43FA-9B2F-1B80418D5EF7}"/>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97333B0-60FF-430C-BCD6-6DB1F8E6B6D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Separate implementation type from function</a:t>
            </a:r>
          </a:p>
        </p:txBody>
      </p:sp>
      <p:sp>
        <p:nvSpPr>
          <p:cNvPr id="7" name="index-2">
            <a:extLst xmlns:a="http://schemas.openxmlformats.org/drawingml/2006/main">
              <a:ext uri="{FF2B5EF4-FFF2-40B4-BE49-F238E27FC236}">
                <a16:creationId xmlns:a16="http://schemas.microsoft.com/office/drawing/2014/main" id="{B52FC5FA-ED63-4F0A-8401-81A61F320AF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10F70763-02AE-48D3-918C-BABF9C8FE10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Explain a relevant family by name</a:t>
            </a:r>
          </a:p>
        </p:txBody>
      </p:sp>
      <p:sp>
        <p:nvSpPr>
          <p:cNvPr id="9" name="index-3">
            <a:extLst xmlns:a="http://schemas.openxmlformats.org/drawingml/2006/main">
              <a:ext uri="{FF2B5EF4-FFF2-40B4-BE49-F238E27FC236}">
                <a16:creationId xmlns:a16="http://schemas.microsoft.com/office/drawing/2014/main" id="{E7407BCF-7422-405D-8854-071D5FED6461}"/>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39A879F-E7BA-45AA-A2EB-031237C82EB0}"/>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classification limits</a:t>
            </a:r>
          </a:p>
        </p:txBody>
      </p:sp>
      <p:sp>
        <p:nvSpPr>
          <p:cNvPr id="11" name="footer">
            <a:extLst xmlns:a="http://schemas.openxmlformats.org/drawingml/2006/main">
              <a:ext uri="{FF2B5EF4-FFF2-40B4-BE49-F238E27FC236}">
                <a16:creationId xmlns:a16="http://schemas.microsoft.com/office/drawing/2014/main" id="{DEC299C3-9CB9-4D7A-9C25-AC2E391B999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AD5C744D-D93A-4E29-93A5-F33EE9F13B6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16</a:t>
            </a:r>
          </a:p>
        </p:txBody>
      </p:sp>
    </p:spTree>
    <p:extLst>
      <p:ext uri="{BB962C8B-B14F-4D97-AF65-F5344CB8AC3E}">
        <p14:creationId xmlns:p14="http://schemas.microsoft.com/office/powerpoint/2010/main" val="319403292"/>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1C3EC0E-7CAC-442A-ADAF-03D11081AEF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B99533C6-98FA-40B7-A2E6-DD6337075C0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Planned configured and operating controls</a:t>
            </a:r>
          </a:p>
        </p:txBody>
      </p:sp>
      <p:sp>
        <p:nvSpPr>
          <p:cNvPr id="3" name="index-0">
            <a:extLst xmlns:a="http://schemas.openxmlformats.org/drawingml/2006/main">
              <a:ext uri="{FF2B5EF4-FFF2-40B4-BE49-F238E27FC236}">
                <a16:creationId xmlns:a16="http://schemas.microsoft.com/office/drawing/2014/main" id="{FDDBCE19-3729-424A-BFDC-7ED300E1D31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33C7DCFA-0F43-4174-8010-FB345FA7F84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An approval authorizes intended work</a:t>
            </a:r>
          </a:p>
        </p:txBody>
      </p:sp>
      <p:sp>
        <p:nvSpPr>
          <p:cNvPr id="5" name="index-1">
            <a:extLst xmlns:a="http://schemas.openxmlformats.org/drawingml/2006/main">
              <a:ext uri="{FF2B5EF4-FFF2-40B4-BE49-F238E27FC236}">
                <a16:creationId xmlns:a16="http://schemas.microsoft.com/office/drawing/2014/main" id="{BA5F2645-CA39-49EE-8D5B-E8D84123DFFC}"/>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27B8F9C-850F-47F7-9479-E17745C7ACB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Configuration records show a scoped setting</a:t>
            </a:r>
          </a:p>
        </p:txBody>
      </p:sp>
      <p:sp>
        <p:nvSpPr>
          <p:cNvPr id="7" name="index-2">
            <a:extLst xmlns:a="http://schemas.openxmlformats.org/drawingml/2006/main">
              <a:ext uri="{FF2B5EF4-FFF2-40B4-BE49-F238E27FC236}">
                <a16:creationId xmlns:a16="http://schemas.microsoft.com/office/drawing/2014/main" id="{80192A24-7006-4663-9161-DA9FC5147B8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31635EC-C00D-48AA-A902-2FBE79FD8CB8}"/>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Tests show behavior under stated conditions</a:t>
            </a:r>
          </a:p>
        </p:txBody>
      </p:sp>
      <p:sp>
        <p:nvSpPr>
          <p:cNvPr id="9" name="index-3">
            <a:extLst xmlns:a="http://schemas.openxmlformats.org/drawingml/2006/main">
              <a:ext uri="{FF2B5EF4-FFF2-40B4-BE49-F238E27FC236}">
                <a16:creationId xmlns:a16="http://schemas.microsoft.com/office/drawing/2014/main" id="{ACF616E9-1609-4099-9325-782CC7AF3E8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2B3B500F-8ED5-4820-9D6B-27485C6E869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Monitoring supports continued review</a:t>
            </a:r>
          </a:p>
        </p:txBody>
      </p:sp>
      <p:sp>
        <p:nvSpPr>
          <p:cNvPr id="11" name="footer">
            <a:extLst xmlns:a="http://schemas.openxmlformats.org/drawingml/2006/main">
              <a:ext uri="{FF2B5EF4-FFF2-40B4-BE49-F238E27FC236}">
                <a16:creationId xmlns:a16="http://schemas.microsoft.com/office/drawing/2014/main" id="{753CE73A-809B-4596-9176-A56639EE282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EEC66E2B-8F3D-4579-B9FD-E0E5579690E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17</a:t>
            </a:r>
          </a:p>
        </p:txBody>
      </p:sp>
    </p:spTree>
    <p:extLst>
      <p:ext uri="{BB962C8B-B14F-4D97-AF65-F5344CB8AC3E}">
        <p14:creationId xmlns:p14="http://schemas.microsoft.com/office/powerpoint/2010/main" val="2120873767"/>
      </p:ext>
    </p:extLst>
  </p:cSld>
</p:sld>
</file>

<file path=ppt/slides/slide18.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C07A919-FFA0-4607-9DD7-341E47107DC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04F75B49-B96A-4EEB-AF0A-37B9EDBF63AF}"/>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C4 fictional verification records</a:t>
            </a:r>
          </a:p>
        </p:txBody>
      </p:sp>
      <p:graphicFrame>
        <p:nvGraphicFramePr>
          <p:cNvPr id="3" name="">
            <a:extLst xmlns:a="http://schemas.openxmlformats.org/drawingml/2006/main">
              <a:ext uri="{FF2B5EF4-FFF2-40B4-BE49-F238E27FC236}">
                <a16:creationId xmlns:a16="http://schemas.microsoft.com/office/drawing/2014/main" id="{40CDB07D-E346-49FC-BF4D-317FE0008CB7}"/>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Record</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Evidence supplied</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Limit</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V1 approval memo</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MFA authorized</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Deployment unproven</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V2 configuration export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Administrator group requires MFA</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Emergency identity excepted</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V3 authorized test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Challenge on one normal identity</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Other routes not tested</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V4 invoice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License purchased</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Operation unproven</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C4525BFD-2F5D-4166-B4A0-E2DAF5B9005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56C53D06-7470-4B9B-BB24-7B72397CEBA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18</a:t>
            </a:r>
          </a:p>
        </p:txBody>
      </p:sp>
    </p:spTree>
    <p:extLst>
      <p:ext uri="{BB962C8B-B14F-4D97-AF65-F5344CB8AC3E}">
        <p14:creationId xmlns:p14="http://schemas.microsoft.com/office/powerpoint/2010/main" val="394414837"/>
      </p:ext>
    </p:extLst>
  </p:cSld>
</p:sld>
</file>

<file path=ppt/slides/slide19.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D3B9CFD-8655-4C87-ADFA-8547FB9F0AB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870608FE-7691-4E68-A11E-35E3CE2FFAA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C4 control verification lab</a:t>
            </a:r>
          </a:p>
        </p:txBody>
      </p:sp>
      <p:sp>
        <p:nvSpPr>
          <p:cNvPr id="3" name="index-0">
            <a:extLst xmlns:a="http://schemas.openxmlformats.org/drawingml/2006/main">
              <a:ext uri="{FF2B5EF4-FFF2-40B4-BE49-F238E27FC236}">
                <a16:creationId xmlns:a16="http://schemas.microsoft.com/office/drawing/2014/main" id="{FC0E52EA-9854-4F95-B5D0-243B9C835072}"/>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ECC13155-61E1-42E4-9CFE-E41440735979}"/>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State what each record actually supports</a:t>
            </a:r>
          </a:p>
        </p:txBody>
      </p:sp>
      <p:sp>
        <p:nvSpPr>
          <p:cNvPr id="5" name="index-1">
            <a:extLst xmlns:a="http://schemas.openxmlformats.org/drawingml/2006/main">
              <a:ext uri="{FF2B5EF4-FFF2-40B4-BE49-F238E27FC236}">
                <a16:creationId xmlns:a16="http://schemas.microsoft.com/office/drawing/2014/main" id="{8493C98E-F3B5-4122-9971-7A9B23FBA68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4165C87-AF5D-42F6-BA3C-4D8587B9EEB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Identify coverage and exception questions</a:t>
            </a:r>
          </a:p>
        </p:txBody>
      </p:sp>
      <p:sp>
        <p:nvSpPr>
          <p:cNvPr id="7" name="index-2">
            <a:extLst xmlns:a="http://schemas.openxmlformats.org/drawingml/2006/main">
              <a:ext uri="{FF2B5EF4-FFF2-40B4-BE49-F238E27FC236}">
                <a16:creationId xmlns:a16="http://schemas.microsoft.com/office/drawing/2014/main" id="{C0D571D0-B363-4B2D-8445-7D9EFC3369F5}"/>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651732D2-D760-41AD-A354-80AECCAA127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Request an authorized scoped test</a:t>
            </a:r>
          </a:p>
        </p:txBody>
      </p:sp>
      <p:sp>
        <p:nvSpPr>
          <p:cNvPr id="9" name="index-3">
            <a:extLst xmlns:a="http://schemas.openxmlformats.org/drawingml/2006/main">
              <a:ext uri="{FF2B5EF4-FFF2-40B4-BE49-F238E27FC236}">
                <a16:creationId xmlns:a16="http://schemas.microsoft.com/office/drawing/2014/main" id="{9E6C3E43-00DE-41F8-8379-5F82ED5B1D8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72EB1EE4-2BF1-4931-BBDD-00FD74E34830}"/>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a bounded conclusion</a:t>
            </a:r>
          </a:p>
        </p:txBody>
      </p:sp>
      <p:sp>
        <p:nvSpPr>
          <p:cNvPr id="11" name="footer">
            <a:extLst xmlns:a="http://schemas.openxmlformats.org/drawingml/2006/main">
              <a:ext uri="{FF2B5EF4-FFF2-40B4-BE49-F238E27FC236}">
                <a16:creationId xmlns:a16="http://schemas.microsoft.com/office/drawing/2014/main" id="{D804DC50-00FA-4530-B4E7-E4822611A85C}"/>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3D6EC1B9-AB95-4CE7-A5FC-7F55160BC32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19</a:t>
            </a:r>
          </a:p>
        </p:txBody>
      </p:sp>
    </p:spTree>
    <p:extLst>
      <p:ext uri="{BB962C8B-B14F-4D97-AF65-F5344CB8AC3E}">
        <p14:creationId xmlns:p14="http://schemas.microsoft.com/office/powerpoint/2010/main" val="999600804"/>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3EFFFC9-DE63-4E7F-9520-DC1597863103}"/>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E6DCCBD1-5BE4-4D36-8894-D06F70455FB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Threat assessment and documentation</a:t>
            </a:r>
          </a:p>
        </p:txBody>
      </p:sp>
      <p:sp>
        <p:nvSpPr>
          <p:cNvPr id="3" name="index-0">
            <a:extLst xmlns:a="http://schemas.openxmlformats.org/drawingml/2006/main">
              <a:ext uri="{FF2B5EF4-FFF2-40B4-BE49-F238E27FC236}">
                <a16:creationId xmlns:a16="http://schemas.microsoft.com/office/drawing/2014/main" id="{86D5537D-6803-4003-8F2C-97DEAB484FC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A4929761-1201-4E7F-B511-3823A86EA9B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Documents reveal scope and expected settings</a:t>
            </a:r>
          </a:p>
        </p:txBody>
      </p:sp>
      <p:sp>
        <p:nvSpPr>
          <p:cNvPr id="5" name="index-1">
            <a:extLst xmlns:a="http://schemas.openxmlformats.org/drawingml/2006/main">
              <a:ext uri="{FF2B5EF4-FFF2-40B4-BE49-F238E27FC236}">
                <a16:creationId xmlns:a16="http://schemas.microsoft.com/office/drawing/2014/main" id="{7760F372-7222-473B-B7FC-CBFE9058EAD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2B4433B-576A-473B-A74E-8F5EB622933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Interviews require corroboration</a:t>
            </a:r>
          </a:p>
        </p:txBody>
      </p:sp>
      <p:sp>
        <p:nvSpPr>
          <p:cNvPr id="7" name="index-2">
            <a:extLst xmlns:a="http://schemas.openxmlformats.org/drawingml/2006/main">
              <a:ext uri="{FF2B5EF4-FFF2-40B4-BE49-F238E27FC236}">
                <a16:creationId xmlns:a16="http://schemas.microsoft.com/office/drawing/2014/main" id="{5A7845B3-1AE7-46C8-87E4-A560F483DAC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8FC4ACE-5BD2-4D29-825B-D09F6B161DC9}"/>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Scans report potential weaknesses</a:t>
            </a:r>
          </a:p>
        </p:txBody>
      </p:sp>
      <p:sp>
        <p:nvSpPr>
          <p:cNvPr id="9" name="index-3">
            <a:extLst xmlns:a="http://schemas.openxmlformats.org/drawingml/2006/main">
              <a:ext uri="{FF2B5EF4-FFF2-40B4-BE49-F238E27FC236}">
                <a16:creationId xmlns:a16="http://schemas.microsoft.com/office/drawing/2014/main" id="{F2C02AF5-3335-418C-8C90-5C614E817250}"/>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ED3440F-6377-49CA-A01E-EE2B30C1C91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Successful exploitation needs supporting evidence</a:t>
            </a:r>
          </a:p>
        </p:txBody>
      </p:sp>
      <p:sp>
        <p:nvSpPr>
          <p:cNvPr id="11" name="footer">
            <a:extLst xmlns:a="http://schemas.openxmlformats.org/drawingml/2006/main">
              <a:ext uri="{FF2B5EF4-FFF2-40B4-BE49-F238E27FC236}">
                <a16:creationId xmlns:a16="http://schemas.microsoft.com/office/drawing/2014/main" id="{78D230E9-7034-4CE8-91B3-E8CD5D692B5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93F6B3C5-0337-44BC-A2D5-15B57B08C45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20</a:t>
            </a:r>
          </a:p>
        </p:txBody>
      </p:sp>
    </p:spTree>
    <p:extLst>
      <p:ext uri="{BB962C8B-B14F-4D97-AF65-F5344CB8AC3E}">
        <p14:creationId xmlns:p14="http://schemas.microsoft.com/office/powerpoint/2010/main" val="1257228493"/>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B5886E1-4E77-487F-B3A5-195A04C40C8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3 NOV</a:t>
            </a:r>
          </a:p>
        </p:txBody>
      </p:sp>
      <p:sp>
        <p:nvSpPr>
          <p:cNvPr id="2" name="heading">
            <a:extLst xmlns:a="http://schemas.openxmlformats.org/drawingml/2006/main">
              <a:ext uri="{FF2B5EF4-FFF2-40B4-BE49-F238E27FC236}">
                <a16:creationId xmlns:a16="http://schemas.microsoft.com/office/drawing/2014/main" id="{F2FB7AA5-5FF0-4D6E-9748-48772CD8E0D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exit and next steps</a:t>
            </a:r>
          </a:p>
        </p:txBody>
      </p:sp>
      <p:sp>
        <p:nvSpPr>
          <p:cNvPr id="3" name="index-0">
            <a:extLst xmlns:a="http://schemas.openxmlformats.org/drawingml/2006/main">
              <a:ext uri="{FF2B5EF4-FFF2-40B4-BE49-F238E27FC236}">
                <a16:creationId xmlns:a16="http://schemas.microsoft.com/office/drawing/2014/main" id="{A5219D56-7C2A-446E-8809-7A5DC7A9A62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4FC9389-EC26-4880-B2A3-90363F6D605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Type versus function</a:t>
            </a:r>
          </a:p>
        </p:txBody>
      </p:sp>
      <p:sp>
        <p:nvSpPr>
          <p:cNvPr id="5" name="index-1">
            <a:extLst xmlns:a="http://schemas.openxmlformats.org/drawingml/2006/main">
              <a:ext uri="{FF2B5EF4-FFF2-40B4-BE49-F238E27FC236}">
                <a16:creationId xmlns:a16="http://schemas.microsoft.com/office/drawing/2014/main" id="{6B204B23-2FEC-4DA6-B81D-BD17C542C43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49CDD97-21A8-460B-8288-7211BB2F89F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Purchase versus enforcement</a:t>
            </a:r>
          </a:p>
        </p:txBody>
      </p:sp>
      <p:sp>
        <p:nvSpPr>
          <p:cNvPr id="7" name="index-2">
            <a:extLst xmlns:a="http://schemas.openxmlformats.org/drawingml/2006/main">
              <a:ext uri="{FF2B5EF4-FFF2-40B4-BE49-F238E27FC236}">
                <a16:creationId xmlns:a16="http://schemas.microsoft.com/office/drawing/2014/main" id="{9E2E48DE-4155-4C6D-8F8A-BA249D45097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DB52A99-4EAA-486D-B4B6-29ED1B7F005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Limits of one successful test</a:t>
            </a:r>
          </a:p>
        </p:txBody>
      </p:sp>
      <p:sp>
        <p:nvSpPr>
          <p:cNvPr id="9" name="index-3">
            <a:extLst xmlns:a="http://schemas.openxmlformats.org/drawingml/2006/main">
              <a:ext uri="{FF2B5EF4-FFF2-40B4-BE49-F238E27FC236}">
                <a16:creationId xmlns:a16="http://schemas.microsoft.com/office/drawing/2014/main" id="{4212A7D3-D9EE-4BCE-A98F-0AF4162176F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142B10AA-9A07-4113-AD7A-1D65F8EC1302}"/>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Chapter 12 BIA concepts</a:t>
            </a:r>
          </a:p>
        </p:txBody>
      </p:sp>
      <p:sp>
        <p:nvSpPr>
          <p:cNvPr id="11" name="footer">
            <a:extLst xmlns:a="http://schemas.openxmlformats.org/drawingml/2006/main">
              <a:ext uri="{FF2B5EF4-FFF2-40B4-BE49-F238E27FC236}">
                <a16:creationId xmlns:a16="http://schemas.microsoft.com/office/drawing/2014/main" id="{8C2903EB-B4BB-4203-92D4-46E54542F93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CF05FACD-EC15-42EF-A031-D48868DBE8B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21</a:t>
            </a:r>
          </a:p>
        </p:txBody>
      </p:sp>
    </p:spTree>
    <p:extLst>
      <p:ext uri="{BB962C8B-B14F-4D97-AF65-F5344CB8AC3E}">
        <p14:creationId xmlns:p14="http://schemas.microsoft.com/office/powerpoint/2010/main" val="1414633289"/>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C664BB6-F00A-4004-8B41-5100A9639B7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5D24A6DF-7F31-4051-8186-B8B7496FECCF}"/>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learning route</a:t>
            </a:r>
          </a:p>
        </p:txBody>
      </p:sp>
      <p:sp>
        <p:nvSpPr>
          <p:cNvPr id="3" name="index-0">
            <a:extLst xmlns:a="http://schemas.openxmlformats.org/drawingml/2006/main">
              <a:ext uri="{FF2B5EF4-FFF2-40B4-BE49-F238E27FC236}">
                <a16:creationId xmlns:a16="http://schemas.microsoft.com/office/drawing/2014/main" id="{B4C11AF9-FA02-46EC-8FBC-EE069D259F3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8F6792B-AACB-4ADB-9371-3B023632D54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Business activities and disruption impacts</a:t>
            </a:r>
          </a:p>
        </p:txBody>
      </p:sp>
      <p:sp>
        <p:nvSpPr>
          <p:cNvPr id="5" name="index-1">
            <a:extLst xmlns:a="http://schemas.openxmlformats.org/drawingml/2006/main">
              <a:ext uri="{FF2B5EF4-FFF2-40B4-BE49-F238E27FC236}">
                <a16:creationId xmlns:a16="http://schemas.microsoft.com/office/drawing/2014/main" id="{1FF90AA5-09CD-4088-8E7A-AFE8C519150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BDBA7B71-0920-438C-A2DA-EAB45C6E35A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C5 impact over time and recovery priorities</a:t>
            </a:r>
          </a:p>
        </p:txBody>
      </p:sp>
      <p:sp>
        <p:nvSpPr>
          <p:cNvPr id="7" name="index-2">
            <a:extLst xmlns:a="http://schemas.openxmlformats.org/drawingml/2006/main">
              <a:ext uri="{FF2B5EF4-FFF2-40B4-BE49-F238E27FC236}">
                <a16:creationId xmlns:a16="http://schemas.microsoft.com/office/drawing/2014/main" id="{46597AFF-1536-4C86-9971-C63D1926799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3C1D7DFB-F16C-4DB7-91B5-6200797DDCB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C6 estimated costs and benefits</a:t>
            </a:r>
          </a:p>
        </p:txBody>
      </p:sp>
      <p:sp>
        <p:nvSpPr>
          <p:cNvPr id="9" name="index-3">
            <a:extLst xmlns:a="http://schemas.openxmlformats.org/drawingml/2006/main">
              <a:ext uri="{FF2B5EF4-FFF2-40B4-BE49-F238E27FC236}">
                <a16:creationId xmlns:a16="http://schemas.microsoft.com/office/drawing/2014/main" id="{A914B42C-BCDF-4632-BCFF-8D160378CF3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27B94AF1-4E45-44E4-88FC-A74A06ABDD5A}"/>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DQ7 and the separate research track</a:t>
            </a:r>
          </a:p>
        </p:txBody>
      </p:sp>
      <p:sp>
        <p:nvSpPr>
          <p:cNvPr id="11" name="footer">
            <a:extLst xmlns:a="http://schemas.openxmlformats.org/drawingml/2006/main">
              <a:ext uri="{FF2B5EF4-FFF2-40B4-BE49-F238E27FC236}">
                <a16:creationId xmlns:a16="http://schemas.microsoft.com/office/drawing/2014/main" id="{C4978C75-0D42-41F5-85A8-047DF9744A8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68FB9AEE-F602-4CA5-AF0F-21A4C526285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22</a:t>
            </a:r>
          </a:p>
        </p:txBody>
      </p:sp>
    </p:spTree>
    <p:extLst>
      <p:ext uri="{BB962C8B-B14F-4D97-AF65-F5344CB8AC3E}">
        <p14:creationId xmlns:p14="http://schemas.microsoft.com/office/powerpoint/2010/main" val="891740758"/>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A1C5F33-7F40-4CF3-B69D-4C65DD1A7FA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A8924BE9-3E3B-48CD-8E44-57AF995D785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BIA questions and evidence</a:t>
            </a:r>
          </a:p>
        </p:txBody>
      </p:sp>
      <p:sp>
        <p:nvSpPr>
          <p:cNvPr id="3" name="index-0">
            <a:extLst xmlns:a="http://schemas.openxmlformats.org/drawingml/2006/main">
              <a:ext uri="{FF2B5EF4-FFF2-40B4-BE49-F238E27FC236}">
                <a16:creationId xmlns:a16="http://schemas.microsoft.com/office/drawing/2014/main" id="{1AB7D741-7A65-4CFC-B142-A5B77492864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3204CE2-02B3-453E-A30A-D6A6C0C9B1FE}"/>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the activity and required resources</a:t>
            </a:r>
          </a:p>
        </p:txBody>
      </p:sp>
      <p:sp>
        <p:nvSpPr>
          <p:cNvPr id="5" name="index-1">
            <a:extLst xmlns:a="http://schemas.openxmlformats.org/drawingml/2006/main">
              <a:ext uri="{FF2B5EF4-FFF2-40B4-BE49-F238E27FC236}">
                <a16:creationId xmlns:a16="http://schemas.microsoft.com/office/drawing/2014/main" id="{6A00A221-8514-44AF-960B-EB3A85D6936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6E2AA18-B44D-40E9-8BAE-900C428056F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Examine consequences as disruption continues</a:t>
            </a:r>
          </a:p>
        </p:txBody>
      </p:sp>
      <p:sp>
        <p:nvSpPr>
          <p:cNvPr id="7" name="index-2">
            <a:extLst xmlns:a="http://schemas.openxmlformats.org/drawingml/2006/main">
              <a:ext uri="{FF2B5EF4-FFF2-40B4-BE49-F238E27FC236}">
                <a16:creationId xmlns:a16="http://schemas.microsoft.com/office/drawing/2014/main" id="{B515D3AA-3829-4ACE-A251-6E0676621C2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456FBDB3-0278-4C85-810C-6591EDD7153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Ask owners about acceptable interruption</a:t>
            </a:r>
          </a:p>
        </p:txBody>
      </p:sp>
      <p:sp>
        <p:nvSpPr>
          <p:cNvPr id="9" name="index-3">
            <a:extLst xmlns:a="http://schemas.openxmlformats.org/drawingml/2006/main">
              <a:ext uri="{FF2B5EF4-FFF2-40B4-BE49-F238E27FC236}">
                <a16:creationId xmlns:a16="http://schemas.microsoft.com/office/drawing/2014/main" id="{1AE1D5A5-1098-4E09-B689-7A23ED7DE12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E47E9B9-47A4-459D-BF4C-9A128966689D}"/>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 dependencies and assumptions</a:t>
            </a:r>
          </a:p>
        </p:txBody>
      </p:sp>
      <p:sp>
        <p:nvSpPr>
          <p:cNvPr id="11" name="footer">
            <a:extLst xmlns:a="http://schemas.openxmlformats.org/drawingml/2006/main">
              <a:ext uri="{FF2B5EF4-FFF2-40B4-BE49-F238E27FC236}">
                <a16:creationId xmlns:a16="http://schemas.microsoft.com/office/drawing/2014/main" id="{A78E94E7-381E-4DB6-8564-A88EFF8EBE6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5517CD94-E76B-4A5C-B2B0-7D24C169A1D3}"/>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23</a:t>
            </a:r>
          </a:p>
        </p:txBody>
      </p:sp>
    </p:spTree>
    <p:extLst>
      <p:ext uri="{BB962C8B-B14F-4D97-AF65-F5344CB8AC3E}">
        <p14:creationId xmlns:p14="http://schemas.microsoft.com/office/powerpoint/2010/main" val="1799566355"/>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460048CA-4DFD-4069-8D79-30AE9552425B}"/>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FF57CE17-6B7B-41A8-9DA9-FAD9A4509AF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Recovery concepts in context</a:t>
            </a:r>
          </a:p>
        </p:txBody>
      </p:sp>
      <p:graphicFrame>
        <p:nvGraphicFramePr>
          <p:cNvPr id="3" name="">
            <a:extLst xmlns:a="http://schemas.openxmlformats.org/drawingml/2006/main">
              <a:ext uri="{FF2B5EF4-FFF2-40B4-BE49-F238E27FC236}">
                <a16:creationId xmlns:a16="http://schemas.microsoft.com/office/drawing/2014/main" id="{A50B58EA-55F6-4471-8787-1E181FB4602C}"/>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Concept</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Meaning here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Comparison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RTO</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Target time for usable service recovery</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Elapsed recovery time</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RPO</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Acceptable recoverable data point</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Data age relative to disruption</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MTD</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Maximum tolerable interruption</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Business tolerance over time</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CD2FF4CA-FCF6-4D6F-BBA9-46709E48EA0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E91A9669-2A3A-40E1-A31F-AFBC7651363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24</a:t>
            </a:r>
          </a:p>
        </p:txBody>
      </p:sp>
    </p:spTree>
    <p:extLst>
      <p:ext uri="{BB962C8B-B14F-4D97-AF65-F5344CB8AC3E}">
        <p14:creationId xmlns:p14="http://schemas.microsoft.com/office/powerpoint/2010/main" val="1451271697"/>
      </p:ext>
    </p:extLst>
  </p:cSld>
</p:sld>
</file>

<file path=ppt/slides/slide25.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D0EB508-17C3-431B-A83B-EA314EBB000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B4CC83A5-1EB9-432E-9960-1E4261D2A1E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C5 impact over time workshop</a:t>
            </a:r>
          </a:p>
        </p:txBody>
      </p:sp>
      <p:sp>
        <p:nvSpPr>
          <p:cNvPr id="3" name="index-0">
            <a:extLst xmlns:a="http://schemas.openxmlformats.org/drawingml/2006/main">
              <a:ext uri="{FF2B5EF4-FFF2-40B4-BE49-F238E27FC236}">
                <a16:creationId xmlns:a16="http://schemas.microsoft.com/office/drawing/2014/main" id="{18C844D5-7B46-4601-BD6C-6A2F8D73D40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3EA50B7-DF6A-4CE0-A81C-2E09B01919D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Map consequences at two and eight hours</a:t>
            </a:r>
          </a:p>
        </p:txBody>
      </p:sp>
      <p:sp>
        <p:nvSpPr>
          <p:cNvPr id="5" name="index-1">
            <a:extLst xmlns:a="http://schemas.openxmlformats.org/drawingml/2006/main">
              <a:ext uri="{FF2B5EF4-FFF2-40B4-BE49-F238E27FC236}">
                <a16:creationId xmlns:a16="http://schemas.microsoft.com/office/drawing/2014/main" id="{1F44167B-6F74-46F4-812D-FD8E013330D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23D126D-D2EB-49BF-B680-9512DEEF8F2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Identify a dependency for usable order service</a:t>
            </a:r>
          </a:p>
        </p:txBody>
      </p:sp>
      <p:sp>
        <p:nvSpPr>
          <p:cNvPr id="7" name="index-2">
            <a:extLst xmlns:a="http://schemas.openxmlformats.org/drawingml/2006/main">
              <a:ext uri="{FF2B5EF4-FFF2-40B4-BE49-F238E27FC236}">
                <a16:creationId xmlns:a16="http://schemas.microsoft.com/office/drawing/2014/main" id="{BBE5CD70-5C54-4DCE-A29D-74C39D5FDAA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FECCD1C-A616-495A-95BC-892DDB853D95}"/>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Compare supplied RTO RPO and MTD</a:t>
            </a:r>
          </a:p>
        </p:txBody>
      </p:sp>
      <p:sp>
        <p:nvSpPr>
          <p:cNvPr id="9" name="index-3">
            <a:extLst xmlns:a="http://schemas.openxmlformats.org/drawingml/2006/main">
              <a:ext uri="{FF2B5EF4-FFF2-40B4-BE49-F238E27FC236}">
                <a16:creationId xmlns:a16="http://schemas.microsoft.com/office/drawing/2014/main" id="{0387F1D7-D4F6-48B9-97AA-C45B7CEF775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15143468-A15A-4267-BDC6-42287B692CA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using only exercise inputs</a:t>
            </a:r>
          </a:p>
        </p:txBody>
      </p:sp>
      <p:sp>
        <p:nvSpPr>
          <p:cNvPr id="11" name="footer">
            <a:extLst xmlns:a="http://schemas.openxmlformats.org/drawingml/2006/main">
              <a:ext uri="{FF2B5EF4-FFF2-40B4-BE49-F238E27FC236}">
                <a16:creationId xmlns:a16="http://schemas.microsoft.com/office/drawing/2014/main" id="{74B16B0A-2C2B-4F69-B3E0-88FB0A504BC5}"/>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392CB3E2-D572-4545-A12D-6DB68B50F8C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25</a:t>
            </a:r>
          </a:p>
        </p:txBody>
      </p:sp>
    </p:spTree>
    <p:extLst>
      <p:ext uri="{BB962C8B-B14F-4D97-AF65-F5344CB8AC3E}">
        <p14:creationId xmlns:p14="http://schemas.microsoft.com/office/powerpoint/2010/main" val="2115021446"/>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7F4E137-8329-46BC-8C0E-317AA028789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B46B73BD-480A-4910-9292-50E019C3B7B7}"/>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Cost benefit and comparable horizons</a:t>
            </a:r>
          </a:p>
        </p:txBody>
      </p:sp>
      <p:sp>
        <p:nvSpPr>
          <p:cNvPr id="3" name="index-0">
            <a:extLst xmlns:a="http://schemas.openxmlformats.org/drawingml/2006/main">
              <a:ext uri="{FF2B5EF4-FFF2-40B4-BE49-F238E27FC236}">
                <a16:creationId xmlns:a16="http://schemas.microsoft.com/office/drawing/2014/main" id="{5D107F1A-0552-4CB8-8E22-945A341D8DB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FF9D41AE-55BF-43B4-9A28-5942CDA34B9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Estimate loss before and after treatment</a:t>
            </a:r>
          </a:p>
        </p:txBody>
      </p:sp>
      <p:sp>
        <p:nvSpPr>
          <p:cNvPr id="5" name="index-1">
            <a:extLst xmlns:a="http://schemas.openxmlformats.org/drawingml/2006/main">
              <a:ext uri="{FF2B5EF4-FFF2-40B4-BE49-F238E27FC236}">
                <a16:creationId xmlns:a16="http://schemas.microsoft.com/office/drawing/2014/main" id="{04481995-02EC-47B3-A42A-FD95F8A1929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A8A92AA-BA8A-4B1A-AE72-D50430B06A0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Keep costs and benefits on the same horizon</a:t>
            </a:r>
          </a:p>
        </p:txBody>
      </p:sp>
      <p:sp>
        <p:nvSpPr>
          <p:cNvPr id="7" name="index-2">
            <a:extLst xmlns:a="http://schemas.openxmlformats.org/drawingml/2006/main">
              <a:ext uri="{FF2B5EF4-FFF2-40B4-BE49-F238E27FC236}">
                <a16:creationId xmlns:a16="http://schemas.microsoft.com/office/drawing/2014/main" id="{006F1091-201E-41F4-9EEE-34F5776AEC6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E90FC7E-06E9-4F41-B140-AC2632B750B4}"/>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Include effort and recurring costs where relevant</a:t>
            </a:r>
          </a:p>
        </p:txBody>
      </p:sp>
      <p:sp>
        <p:nvSpPr>
          <p:cNvPr id="9" name="index-3">
            <a:extLst xmlns:a="http://schemas.openxmlformats.org/drawingml/2006/main">
              <a:ext uri="{FF2B5EF4-FFF2-40B4-BE49-F238E27FC236}">
                <a16:creationId xmlns:a16="http://schemas.microsoft.com/office/drawing/2014/main" id="{12FABE38-792E-4BCD-A0B3-3A27935993F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B48AEFF-E13F-4323-A2A1-9D3EC035885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Record uncertainty and decision constraints</a:t>
            </a:r>
          </a:p>
        </p:txBody>
      </p:sp>
      <p:sp>
        <p:nvSpPr>
          <p:cNvPr id="11" name="footer">
            <a:extLst xmlns:a="http://schemas.openxmlformats.org/drawingml/2006/main">
              <a:ext uri="{FF2B5EF4-FFF2-40B4-BE49-F238E27FC236}">
                <a16:creationId xmlns:a16="http://schemas.microsoft.com/office/drawing/2014/main" id="{E1F5AA4E-1B80-48DF-853E-975DBC87488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64B66A7F-0B9D-456F-B386-7058E1BA28E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26</a:t>
            </a:r>
          </a:p>
        </p:txBody>
      </p:sp>
    </p:spTree>
    <p:extLst>
      <p:ext uri="{BB962C8B-B14F-4D97-AF65-F5344CB8AC3E}">
        <p14:creationId xmlns:p14="http://schemas.microsoft.com/office/powerpoint/2010/main" val="1524737252"/>
      </p:ext>
    </p:extLst>
  </p:cSld>
</p:sld>
</file>

<file path=ppt/slides/slide27.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273EE56E-1EFA-4734-AFF3-6A37E4D9EB7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0B35AA9D-D409-40C2-A212-CDF9C9E5794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C6 supplied annual estimates</a:t>
            </a:r>
          </a:p>
        </p:txBody>
      </p:sp>
      <p:graphicFrame>
        <p:nvGraphicFramePr>
          <p:cNvPr id="3" name="">
            <a:extLst xmlns:a="http://schemas.openxmlformats.org/drawingml/2006/main">
              <a:ext uri="{FF2B5EF4-FFF2-40B4-BE49-F238E27FC236}">
                <a16:creationId xmlns:a16="http://schemas.microsoft.com/office/drawing/2014/main" id="{DDD3A480-51FE-42A3-A2C1-F7EF872053BE}"/>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Input</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First estimate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Alternative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Baseline annual expected loss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12,000 dollars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12,000 dollars</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Residual annual expected loss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5,000 dollars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9,000 dollars</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Annual control cost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4,000 dollars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4,000 dollars</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Net annual benefit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Calculate before debrief</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Calculate before debrief</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19496B4D-BCC0-48D3-A07F-809940C3492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8AB06F6A-9AC0-4D1B-B150-C52BC331D66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27</a:t>
            </a:r>
          </a:p>
        </p:txBody>
      </p:sp>
    </p:spTree>
    <p:extLst>
      <p:ext uri="{BB962C8B-B14F-4D97-AF65-F5344CB8AC3E}">
        <p14:creationId xmlns:p14="http://schemas.microsoft.com/office/powerpoint/2010/main" val="1809789341"/>
      </p:ext>
    </p:extLst>
  </p:cSld>
</p:sld>
</file>

<file path=ppt/slides/slide28.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5A9256D-67EB-47E1-8567-EEC2C209C22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A8EF0B7B-473E-4562-B52B-11B4C9CAAE8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C6 cost benefit sensitivity lab</a:t>
            </a:r>
          </a:p>
        </p:txBody>
      </p:sp>
      <p:sp>
        <p:nvSpPr>
          <p:cNvPr id="3" name="index-0">
            <a:extLst xmlns:a="http://schemas.openxmlformats.org/drawingml/2006/main">
              <a:ext uri="{FF2B5EF4-FFF2-40B4-BE49-F238E27FC236}">
                <a16:creationId xmlns:a16="http://schemas.microsoft.com/office/drawing/2014/main" id="{FD5AEDC9-0E0E-4FB1-9277-5F57992BC4B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76C219C6-D7C5-44BD-B9FB-7063FC070BFE}"/>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Calculate benefit and net annual benefit</a:t>
            </a:r>
          </a:p>
        </p:txBody>
      </p:sp>
      <p:sp>
        <p:nvSpPr>
          <p:cNvPr id="5" name="index-1">
            <a:extLst xmlns:a="http://schemas.openxmlformats.org/drawingml/2006/main">
              <a:ext uri="{FF2B5EF4-FFF2-40B4-BE49-F238E27FC236}">
                <a16:creationId xmlns:a16="http://schemas.microsoft.com/office/drawing/2014/main" id="{FB41669D-2C6C-4E2F-B894-A6D4CA284CE5}"/>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5DCF0DB-F0F2-4943-8C98-55ED07E516A2}"/>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Repeat with the alternative residual loss</a:t>
            </a:r>
          </a:p>
        </p:txBody>
      </p:sp>
      <p:sp>
        <p:nvSpPr>
          <p:cNvPr id="7" name="index-2">
            <a:extLst xmlns:a="http://schemas.openxmlformats.org/drawingml/2006/main">
              <a:ext uri="{FF2B5EF4-FFF2-40B4-BE49-F238E27FC236}">
                <a16:creationId xmlns:a16="http://schemas.microsoft.com/office/drawing/2014/main" id="{516C628C-4FBD-419D-B467-AFFF9DD92BA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80C2C04-3542-49CE-9C00-E8EFB7B729A4}"/>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Identify uncertainty and omitted costs</a:t>
            </a:r>
          </a:p>
        </p:txBody>
      </p:sp>
      <p:sp>
        <p:nvSpPr>
          <p:cNvPr id="9" name="index-3">
            <a:extLst xmlns:a="http://schemas.openxmlformats.org/drawingml/2006/main">
              <a:ext uri="{FF2B5EF4-FFF2-40B4-BE49-F238E27FC236}">
                <a16:creationId xmlns:a16="http://schemas.microsoft.com/office/drawing/2014/main" id="{D85DEC27-0088-4B08-80EA-8BAB3CAF3FC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D98B2D7-61E8-4977-AFD7-DFCF9C09D25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a decision limitation</a:t>
            </a:r>
          </a:p>
        </p:txBody>
      </p:sp>
      <p:sp>
        <p:nvSpPr>
          <p:cNvPr id="11" name="footer">
            <a:extLst xmlns:a="http://schemas.openxmlformats.org/drawingml/2006/main">
              <a:ext uri="{FF2B5EF4-FFF2-40B4-BE49-F238E27FC236}">
                <a16:creationId xmlns:a16="http://schemas.microsoft.com/office/drawing/2014/main" id="{8BE4A6E6-7CD4-457C-81B2-D31D7670571E}"/>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B1D7E786-E9A5-48F9-ADBE-8BE34775AC4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28</a:t>
            </a:r>
          </a:p>
        </p:txBody>
      </p:sp>
    </p:spTree>
    <p:extLst>
      <p:ext uri="{BB962C8B-B14F-4D97-AF65-F5344CB8AC3E}">
        <p14:creationId xmlns:p14="http://schemas.microsoft.com/office/powerpoint/2010/main" val="183777016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5916D57-5394-4F40-8B31-69591AC9039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65BF0F75-69FF-43D7-BAD3-1C1467DC9F8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Research comparison and scope</a:t>
            </a:r>
          </a:p>
        </p:txBody>
      </p:sp>
      <p:sp>
        <p:nvSpPr>
          <p:cNvPr id="3" name="index-0">
            <a:extLst xmlns:a="http://schemas.openxmlformats.org/drawingml/2006/main">
              <a:ext uri="{FF2B5EF4-FFF2-40B4-BE49-F238E27FC236}">
                <a16:creationId xmlns:a16="http://schemas.microsoft.com/office/drawing/2014/main" id="{2B4063F7-73D5-49E5-96D3-AE52E66FAF1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5B7174D3-787B-4035-BE4D-77B2BA1082F4}"/>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Progress Report continues the Revised Proposal</a:t>
            </a:r>
          </a:p>
        </p:txBody>
      </p:sp>
      <p:sp>
        <p:nvSpPr>
          <p:cNvPr id="5" name="index-1">
            <a:extLst xmlns:a="http://schemas.openxmlformats.org/drawingml/2006/main">
              <a:ext uri="{FF2B5EF4-FFF2-40B4-BE49-F238E27FC236}">
                <a16:creationId xmlns:a16="http://schemas.microsoft.com/office/drawing/2014/main" id="{A1906F8E-542E-4A71-948C-65E8B0EBE47C}"/>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CD09B970-1D70-4155-B8B8-974C7A18F11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the actual NIST method and edition</a:t>
            </a:r>
          </a:p>
        </p:txBody>
      </p:sp>
      <p:sp>
        <p:nvSpPr>
          <p:cNvPr id="7" name="index-2">
            <a:extLst xmlns:a="http://schemas.openxmlformats.org/drawingml/2006/main">
              <a:ext uri="{FF2B5EF4-FFF2-40B4-BE49-F238E27FC236}">
                <a16:creationId xmlns:a16="http://schemas.microsoft.com/office/drawing/2014/main" id="{57A128CB-8A97-475B-8B3E-220FA9C13A1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761DD5D-D782-4866-82A2-828B7C9058B5}"/>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Compare purpose scope and use of each source</a:t>
            </a:r>
          </a:p>
        </p:txBody>
      </p:sp>
      <p:sp>
        <p:nvSpPr>
          <p:cNvPr id="9" name="index-3">
            <a:extLst xmlns:a="http://schemas.openxmlformats.org/drawingml/2006/main">
              <a:ext uri="{FF2B5EF4-FFF2-40B4-BE49-F238E27FC236}">
                <a16:creationId xmlns:a16="http://schemas.microsoft.com/office/drawing/2014/main" id="{F7FD56AF-0E43-4B1F-B303-DE7676AEBBBA}"/>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042DF74B-5156-4A38-AF58-BA5C0D97104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Support your own analysis with verified passages</a:t>
            </a:r>
          </a:p>
        </p:txBody>
      </p:sp>
      <p:sp>
        <p:nvSpPr>
          <p:cNvPr id="11" name="footer">
            <a:extLst xmlns:a="http://schemas.openxmlformats.org/drawingml/2006/main">
              <a:ext uri="{FF2B5EF4-FFF2-40B4-BE49-F238E27FC236}">
                <a16:creationId xmlns:a16="http://schemas.microsoft.com/office/drawing/2014/main" id="{4829695F-815B-4E96-B97F-69CC7291A20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4DED95DA-F3A7-4F06-8034-F8E96FDFCD8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29</a:t>
            </a:r>
          </a:p>
        </p:txBody>
      </p:sp>
    </p:spTree>
    <p:extLst>
      <p:ext uri="{BB962C8B-B14F-4D97-AF65-F5344CB8AC3E}">
        <p14:creationId xmlns:p14="http://schemas.microsoft.com/office/powerpoint/2010/main" val="1737003970"/>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9F3BAE4-0EF2-4D79-BDF3-034207A841F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4 NOV</a:t>
            </a:r>
          </a:p>
        </p:txBody>
      </p:sp>
      <p:sp>
        <p:nvSpPr>
          <p:cNvPr id="2" name="heading">
            <a:extLst xmlns:a="http://schemas.openxmlformats.org/drawingml/2006/main">
              <a:ext uri="{FF2B5EF4-FFF2-40B4-BE49-F238E27FC236}">
                <a16:creationId xmlns:a16="http://schemas.microsoft.com/office/drawing/2014/main" id="{1913DCB3-9DE4-45B1-BB4C-6E6BDAA65C8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exit and next steps</a:t>
            </a:r>
          </a:p>
        </p:txBody>
      </p:sp>
      <p:sp>
        <p:nvSpPr>
          <p:cNvPr id="3" name="index-0">
            <a:extLst xmlns:a="http://schemas.openxmlformats.org/drawingml/2006/main">
              <a:ext uri="{FF2B5EF4-FFF2-40B4-BE49-F238E27FC236}">
                <a16:creationId xmlns:a16="http://schemas.microsoft.com/office/drawing/2014/main" id="{3E9D316B-8EBC-49F1-9534-672710AE5E3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9462C7D-39CC-49D5-9A7E-6EDAF7E7C6E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Impact over time</a:t>
            </a:r>
          </a:p>
        </p:txBody>
      </p:sp>
      <p:sp>
        <p:nvSpPr>
          <p:cNvPr id="5" name="index-1">
            <a:extLst xmlns:a="http://schemas.openxmlformats.org/drawingml/2006/main">
              <a:ext uri="{FF2B5EF4-FFF2-40B4-BE49-F238E27FC236}">
                <a16:creationId xmlns:a16="http://schemas.microsoft.com/office/drawing/2014/main" id="{586D97DC-056E-48B9-BE8C-BDCD789164C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950E836-9544-462B-8439-764C69FD3A5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Service time versus data loss</a:t>
            </a:r>
          </a:p>
        </p:txBody>
      </p:sp>
      <p:sp>
        <p:nvSpPr>
          <p:cNvPr id="7" name="index-2">
            <a:extLst xmlns:a="http://schemas.openxmlformats.org/drawingml/2006/main">
              <a:ext uri="{FF2B5EF4-FFF2-40B4-BE49-F238E27FC236}">
                <a16:creationId xmlns:a16="http://schemas.microsoft.com/office/drawing/2014/main" id="{772F6E9D-F95D-453A-8CE3-731DA7F330D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8B25524-5997-4C4B-AFF7-2D5BA5A8D62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Limits of estimated financial benefit</a:t>
            </a:r>
          </a:p>
        </p:txBody>
      </p:sp>
      <p:sp>
        <p:nvSpPr>
          <p:cNvPr id="9" name="index-3">
            <a:extLst xmlns:a="http://schemas.openxmlformats.org/drawingml/2006/main">
              <a:ext uri="{FF2B5EF4-FFF2-40B4-BE49-F238E27FC236}">
                <a16:creationId xmlns:a16="http://schemas.microsoft.com/office/drawing/2014/main" id="{71312896-C1AE-407F-98C2-D76CF2E6008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7FCBDFFA-3843-438B-A7AF-5C552447ECE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Chapter 11 implementation planning</a:t>
            </a:r>
          </a:p>
        </p:txBody>
      </p:sp>
      <p:sp>
        <p:nvSpPr>
          <p:cNvPr id="11" name="footer">
            <a:extLst xmlns:a="http://schemas.openxmlformats.org/drawingml/2006/main">
              <a:ext uri="{FF2B5EF4-FFF2-40B4-BE49-F238E27FC236}">
                <a16:creationId xmlns:a16="http://schemas.microsoft.com/office/drawing/2014/main" id="{F54BA6E9-41A7-4625-A858-99767FEA1DE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F1B41361-0ED2-4B15-9086-B88AF909BEA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30</a:t>
            </a:r>
          </a:p>
        </p:txBody>
      </p:sp>
    </p:spTree>
    <p:extLst>
      <p:ext uri="{BB962C8B-B14F-4D97-AF65-F5344CB8AC3E}">
        <p14:creationId xmlns:p14="http://schemas.microsoft.com/office/powerpoint/2010/main" val="62149907"/>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34E6987-5F01-4AA1-B223-EA15B79D433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5D982366-AB94-4676-A228-29294A015F2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Thursday learning route</a:t>
            </a:r>
          </a:p>
        </p:txBody>
      </p:sp>
      <p:sp>
        <p:nvSpPr>
          <p:cNvPr id="3" name="index-0">
            <a:extLst xmlns:a="http://schemas.openxmlformats.org/drawingml/2006/main">
              <a:ext uri="{FF2B5EF4-FFF2-40B4-BE49-F238E27FC236}">
                <a16:creationId xmlns:a16="http://schemas.microsoft.com/office/drawing/2014/main" id="{C5037B73-CE9E-4AEF-BD86-7945DD17AAE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145B502-E36B-42B3-B5D5-E257F1971FE0}"/>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Traceable findings and implementation actions</a:t>
            </a:r>
          </a:p>
        </p:txBody>
      </p:sp>
      <p:sp>
        <p:nvSpPr>
          <p:cNvPr id="5" name="index-1">
            <a:extLst xmlns:a="http://schemas.openxmlformats.org/drawingml/2006/main">
              <a:ext uri="{FF2B5EF4-FFF2-40B4-BE49-F238E27FC236}">
                <a16:creationId xmlns:a16="http://schemas.microsoft.com/office/drawing/2014/main" id="{2473CB97-AE6A-427E-87FD-2F88F9C73A8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252E8F5-2B82-4C00-9BA2-6C4DBF17BB3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C7 sequence dependencies and verification</a:t>
            </a:r>
          </a:p>
        </p:txBody>
      </p:sp>
      <p:sp>
        <p:nvSpPr>
          <p:cNvPr id="7" name="index-2">
            <a:extLst xmlns:a="http://schemas.openxmlformats.org/drawingml/2006/main">
              <a:ext uri="{FF2B5EF4-FFF2-40B4-BE49-F238E27FC236}">
                <a16:creationId xmlns:a16="http://schemas.microsoft.com/office/drawing/2014/main" id="{8CC3A287-BB46-42E1-82C7-394088FA4C8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6D6C75F7-8759-443E-B3C3-1C2F5E329E3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C8 monitoring claims and research evidence</a:t>
            </a:r>
          </a:p>
        </p:txBody>
      </p:sp>
      <p:sp>
        <p:nvSpPr>
          <p:cNvPr id="9" name="index-3">
            <a:extLst xmlns:a="http://schemas.openxmlformats.org/drawingml/2006/main">
              <a:ext uri="{FF2B5EF4-FFF2-40B4-BE49-F238E27FC236}">
                <a16:creationId xmlns:a16="http://schemas.microsoft.com/office/drawing/2014/main" id="{4E552C6C-2471-455C-B228-89390EB7DE9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93D22AE-A015-43FC-AD6A-8FCE17C8310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Independent coursework clinic and Sunday checklist</a:t>
            </a:r>
          </a:p>
        </p:txBody>
      </p:sp>
      <p:sp>
        <p:nvSpPr>
          <p:cNvPr id="11" name="footer">
            <a:extLst xmlns:a="http://schemas.openxmlformats.org/drawingml/2006/main">
              <a:ext uri="{FF2B5EF4-FFF2-40B4-BE49-F238E27FC236}">
                <a16:creationId xmlns:a16="http://schemas.microsoft.com/office/drawing/2014/main" id="{E9A61F67-9CD4-4517-9363-98797B7D8084}"/>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32107F29-0E15-40AF-BD79-F13E7142D52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31</a:t>
            </a:r>
          </a:p>
        </p:txBody>
      </p:sp>
    </p:spTree>
    <p:extLst>
      <p:ext uri="{BB962C8B-B14F-4D97-AF65-F5344CB8AC3E}">
        <p14:creationId xmlns:p14="http://schemas.microsoft.com/office/powerpoint/2010/main" val="1210945367"/>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19A4009-39EE-4899-B344-D331A8EDD14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2AF0B2D7-0CB3-4906-8C9E-7C148E761A4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Mitigation plan traceability</a:t>
            </a:r>
          </a:p>
        </p:txBody>
      </p:sp>
      <p:sp>
        <p:nvSpPr>
          <p:cNvPr id="3" name="index-0">
            <a:extLst xmlns:a="http://schemas.openxmlformats.org/drawingml/2006/main">
              <a:ext uri="{FF2B5EF4-FFF2-40B4-BE49-F238E27FC236}">
                <a16:creationId xmlns:a16="http://schemas.microsoft.com/office/drawing/2014/main" id="{FAD6536A-4220-42CA-95F1-FF1166A49A6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A353152-175F-4178-AA7A-0FEC4AC1E1B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Start with a supported scoped finding</a:t>
            </a:r>
          </a:p>
        </p:txBody>
      </p:sp>
      <p:sp>
        <p:nvSpPr>
          <p:cNvPr id="5" name="index-1">
            <a:extLst xmlns:a="http://schemas.openxmlformats.org/drawingml/2006/main">
              <a:ext uri="{FF2B5EF4-FFF2-40B4-BE49-F238E27FC236}">
                <a16:creationId xmlns:a16="http://schemas.microsoft.com/office/drawing/2014/main" id="{40D4C4DE-5266-4BC5-ACFC-ED3AE6991D5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8EE5C33-35F2-443F-BAAB-AD381320F5F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Link a control to its intended mechanism</a:t>
            </a:r>
          </a:p>
        </p:txBody>
      </p:sp>
      <p:sp>
        <p:nvSpPr>
          <p:cNvPr id="7" name="index-2">
            <a:extLst xmlns:a="http://schemas.openxmlformats.org/drawingml/2006/main">
              <a:ext uri="{FF2B5EF4-FFF2-40B4-BE49-F238E27FC236}">
                <a16:creationId xmlns:a16="http://schemas.microsoft.com/office/drawing/2014/main" id="{A0E049B4-D77D-4EA6-84AB-B6B9581BCC6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C500493-2166-4B0D-8EB4-68ECE9E683E4}"/>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Assign resources roles and dependencies</a:t>
            </a:r>
          </a:p>
        </p:txBody>
      </p:sp>
      <p:sp>
        <p:nvSpPr>
          <p:cNvPr id="9" name="index-3">
            <a:extLst xmlns:a="http://schemas.openxmlformats.org/drawingml/2006/main">
              <a:ext uri="{FF2B5EF4-FFF2-40B4-BE49-F238E27FC236}">
                <a16:creationId xmlns:a16="http://schemas.microsoft.com/office/drawing/2014/main" id="{A0867212-2813-48E8-965A-C0A0C83EB46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47BE06F-277A-4CBA-9E19-28AC4B204F7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Define verification and review decisions</a:t>
            </a:r>
          </a:p>
        </p:txBody>
      </p:sp>
      <p:sp>
        <p:nvSpPr>
          <p:cNvPr id="11" name="footer">
            <a:extLst xmlns:a="http://schemas.openxmlformats.org/drawingml/2006/main">
              <a:ext uri="{FF2B5EF4-FFF2-40B4-BE49-F238E27FC236}">
                <a16:creationId xmlns:a16="http://schemas.microsoft.com/office/drawing/2014/main" id="{F704BD2D-487E-4D0D-AEE4-3F3E18BE6E4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DEFF5A48-F10B-46BC-84FA-A2C8ED0E20A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32</a:t>
            </a:r>
          </a:p>
        </p:txBody>
      </p:sp>
    </p:spTree>
    <p:extLst>
      <p:ext uri="{BB962C8B-B14F-4D97-AF65-F5344CB8AC3E}">
        <p14:creationId xmlns:p14="http://schemas.microsoft.com/office/powerpoint/2010/main" val="805828342"/>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5D3D2BFD-4A02-4D14-9452-811EDC28D8CC}"/>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253C73E9-E45D-4BCB-9FF4-2E328A20A82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Implementation and continuity safeguards</a:t>
            </a:r>
          </a:p>
        </p:txBody>
      </p:sp>
      <p:sp>
        <p:nvSpPr>
          <p:cNvPr id="3" name="index-0">
            <a:extLst xmlns:a="http://schemas.openxmlformats.org/drawingml/2006/main">
              <a:ext uri="{FF2B5EF4-FFF2-40B4-BE49-F238E27FC236}">
                <a16:creationId xmlns:a16="http://schemas.microsoft.com/office/drawing/2014/main" id="{DF0A575C-BAA4-46F6-A996-14390621398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8EEE802-EF22-4DAB-8193-D102A7662D5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Confirm authority and affected dependencies</a:t>
            </a:r>
          </a:p>
        </p:txBody>
      </p:sp>
      <p:sp>
        <p:nvSpPr>
          <p:cNvPr id="5" name="index-1">
            <a:extLst xmlns:a="http://schemas.openxmlformats.org/drawingml/2006/main">
              <a:ext uri="{FF2B5EF4-FFF2-40B4-BE49-F238E27FC236}">
                <a16:creationId xmlns:a16="http://schemas.microsoft.com/office/drawing/2014/main" id="{2CA887B8-B2CF-4C40-A49F-AA4E34EEA29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9DC08E05-6F84-428C-983C-4E5066B74829}"/>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safe recovery or rollback options</a:t>
            </a:r>
          </a:p>
        </p:txBody>
      </p:sp>
      <p:sp>
        <p:nvSpPr>
          <p:cNvPr id="7" name="index-2">
            <a:extLst xmlns:a="http://schemas.openxmlformats.org/drawingml/2006/main">
              <a:ext uri="{FF2B5EF4-FFF2-40B4-BE49-F238E27FC236}">
                <a16:creationId xmlns:a16="http://schemas.microsoft.com/office/drawing/2014/main" id="{C51FA0EC-B1BE-4F66-9AB5-A3467D46D92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7D10C68-459E-4F91-B9F7-681EE4922C2C}"/>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Pilot and verify the approved change</a:t>
            </a:r>
          </a:p>
        </p:txBody>
      </p:sp>
      <p:sp>
        <p:nvSpPr>
          <p:cNvPr id="9" name="index-3">
            <a:extLst xmlns:a="http://schemas.openxmlformats.org/drawingml/2006/main">
              <a:ext uri="{FF2B5EF4-FFF2-40B4-BE49-F238E27FC236}">
                <a16:creationId xmlns:a16="http://schemas.microsoft.com/office/drawing/2014/main" id="{4E77ED5C-BBFD-47B4-B81F-77DDB1FE1A0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5BB0FEE-449B-4970-86DC-CEFC85D130D6}"/>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Expand with monitoring and exception handling</a:t>
            </a:r>
          </a:p>
        </p:txBody>
      </p:sp>
      <p:sp>
        <p:nvSpPr>
          <p:cNvPr id="11" name="footer">
            <a:extLst xmlns:a="http://schemas.openxmlformats.org/drawingml/2006/main">
              <a:ext uri="{FF2B5EF4-FFF2-40B4-BE49-F238E27FC236}">
                <a16:creationId xmlns:a16="http://schemas.microsoft.com/office/drawing/2014/main" id="{AFFBA641-B0D0-4E33-AD75-08889E707CE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1F8949FC-C56D-467F-A6AE-4D6C6162A63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33</a:t>
            </a:r>
          </a:p>
        </p:txBody>
      </p:sp>
    </p:spTree>
    <p:extLst>
      <p:ext uri="{BB962C8B-B14F-4D97-AF65-F5344CB8AC3E}">
        <p14:creationId xmlns:p14="http://schemas.microsoft.com/office/powerpoint/2010/main" val="1905091602"/>
      </p:ext>
    </p:extLst>
  </p:cSld>
</p:sld>
</file>

<file path=ppt/slides/slide34.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6A88CB9-1DAF-4856-9E9B-56267B9F42D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EB79FE19-FCA7-438B-906E-6A94369A90C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C7 implementation sequence workshop</a:t>
            </a:r>
          </a:p>
        </p:txBody>
      </p:sp>
      <p:sp>
        <p:nvSpPr>
          <p:cNvPr id="3" name="index-0">
            <a:extLst xmlns:a="http://schemas.openxmlformats.org/drawingml/2006/main">
              <a:ext uri="{FF2B5EF4-FFF2-40B4-BE49-F238E27FC236}">
                <a16:creationId xmlns:a16="http://schemas.microsoft.com/office/drawing/2014/main" id="{41980A01-4E0B-4F30-A81A-72E7849536C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11B55AA-17A7-40BE-BA50-DAFC5984A79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Order the supplied action set</a:t>
            </a:r>
          </a:p>
        </p:txBody>
      </p:sp>
      <p:sp>
        <p:nvSpPr>
          <p:cNvPr id="5" name="index-1">
            <a:extLst xmlns:a="http://schemas.openxmlformats.org/drawingml/2006/main">
              <a:ext uri="{FF2B5EF4-FFF2-40B4-BE49-F238E27FC236}">
                <a16:creationId xmlns:a16="http://schemas.microsoft.com/office/drawing/2014/main" id="{5D25EBF0-7A31-435E-A6E6-41E4768A4FE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955C13A4-4F93-4D31-BA37-343DC347911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Explain dependencies and decision roles</a:t>
            </a:r>
          </a:p>
        </p:txBody>
      </p:sp>
      <p:sp>
        <p:nvSpPr>
          <p:cNvPr id="7" name="index-2">
            <a:extLst xmlns:a="http://schemas.openxmlformats.org/drawingml/2006/main">
              <a:ext uri="{FF2B5EF4-FFF2-40B4-BE49-F238E27FC236}">
                <a16:creationId xmlns:a16="http://schemas.microsoft.com/office/drawing/2014/main" id="{CFB0B1D7-A223-4D82-9839-9F326547D26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5A479F5-2317-46EE-AED2-651927DF040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Define a stop condition and verification</a:t>
            </a:r>
          </a:p>
        </p:txBody>
      </p:sp>
      <p:sp>
        <p:nvSpPr>
          <p:cNvPr id="9" name="index-3">
            <a:extLst xmlns:a="http://schemas.openxmlformats.org/drawingml/2006/main">
              <a:ext uri="{FF2B5EF4-FFF2-40B4-BE49-F238E27FC236}">
                <a16:creationId xmlns:a16="http://schemas.microsoft.com/office/drawing/2014/main" id="{0E2D7050-2A04-4AF4-9604-92AA33FC1E5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250B65CF-5F1D-40E5-86D3-6E1C15D6605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a peer challenge</a:t>
            </a:r>
          </a:p>
        </p:txBody>
      </p:sp>
      <p:sp>
        <p:nvSpPr>
          <p:cNvPr id="11" name="footer">
            <a:extLst xmlns:a="http://schemas.openxmlformats.org/drawingml/2006/main">
              <a:ext uri="{FF2B5EF4-FFF2-40B4-BE49-F238E27FC236}">
                <a16:creationId xmlns:a16="http://schemas.microsoft.com/office/drawing/2014/main" id="{4F3E1B7E-D3D3-49A7-B459-7CEBEC24E49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6EE9C2CC-69FB-4290-A6A2-BF7E3E064B7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34</a:t>
            </a:r>
          </a:p>
        </p:txBody>
      </p:sp>
    </p:spTree>
    <p:extLst>
      <p:ext uri="{BB962C8B-B14F-4D97-AF65-F5344CB8AC3E}">
        <p14:creationId xmlns:p14="http://schemas.microsoft.com/office/powerpoint/2010/main" val="1424136490"/>
      </p:ext>
    </p:extLst>
  </p:cSld>
</p:sld>
</file>

<file path=ppt/slides/slide3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210D13B-780F-4905-9A01-75DC1C29F17C}"/>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EB7778C0-A210-45AE-9605-87BB49FB644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Monitoring and residual risk</a:t>
            </a:r>
          </a:p>
        </p:txBody>
      </p:sp>
      <p:sp>
        <p:nvSpPr>
          <p:cNvPr id="3" name="index-0">
            <a:extLst xmlns:a="http://schemas.openxmlformats.org/drawingml/2006/main">
              <a:ext uri="{FF2B5EF4-FFF2-40B4-BE49-F238E27FC236}">
                <a16:creationId xmlns:a16="http://schemas.microsoft.com/office/drawing/2014/main" id="{1A23A14A-80CD-4213-8814-458A00448EB2}"/>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A9CAD17-94CD-4A79-95E8-B3788F3E00A0}"/>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Define coverage and a meaningful denominator</a:t>
            </a:r>
          </a:p>
        </p:txBody>
      </p:sp>
      <p:sp>
        <p:nvSpPr>
          <p:cNvPr id="5" name="index-1">
            <a:extLst xmlns:a="http://schemas.openxmlformats.org/drawingml/2006/main">
              <a:ext uri="{FF2B5EF4-FFF2-40B4-BE49-F238E27FC236}">
                <a16:creationId xmlns:a16="http://schemas.microsoft.com/office/drawing/2014/main" id="{936D0489-E098-4CBD-A60F-F3C7394D59EC}"/>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006B28CA-7C26-47B0-A1F0-4F120381F050}"/>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exceptions and evidence freshness</a:t>
            </a:r>
          </a:p>
        </p:txBody>
      </p:sp>
      <p:sp>
        <p:nvSpPr>
          <p:cNvPr id="7" name="index-2">
            <a:extLst xmlns:a="http://schemas.openxmlformats.org/drawingml/2006/main">
              <a:ext uri="{FF2B5EF4-FFF2-40B4-BE49-F238E27FC236}">
                <a16:creationId xmlns:a16="http://schemas.microsoft.com/office/drawing/2014/main" id="{BA9A5C79-3BEC-4960-B653-A06CC01DADF3}"/>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61440A3-526D-46D4-BF0A-245353C97BE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thresholds or events to trigger review</a:t>
            </a:r>
          </a:p>
        </p:txBody>
      </p:sp>
      <p:sp>
        <p:nvSpPr>
          <p:cNvPr id="9" name="index-3">
            <a:extLst xmlns:a="http://schemas.openxmlformats.org/drawingml/2006/main">
              <a:ext uri="{FF2B5EF4-FFF2-40B4-BE49-F238E27FC236}">
                <a16:creationId xmlns:a16="http://schemas.microsoft.com/office/drawing/2014/main" id="{34B99619-0F3A-4230-ABB0-939751DCDA1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F5A2592-B23F-452C-A1B7-3A11D68B34D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Support residual-risk decisions with evidence</a:t>
            </a:r>
          </a:p>
        </p:txBody>
      </p:sp>
      <p:sp>
        <p:nvSpPr>
          <p:cNvPr id="11" name="footer">
            <a:extLst xmlns:a="http://schemas.openxmlformats.org/drawingml/2006/main">
              <a:ext uri="{FF2B5EF4-FFF2-40B4-BE49-F238E27FC236}">
                <a16:creationId xmlns:a16="http://schemas.microsoft.com/office/drawing/2014/main" id="{5DF39636-6AC6-4A8D-82F2-75FFE980CBB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1B281BD5-23FC-4F52-B6C7-60D7E8DD6D3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35</a:t>
            </a:r>
          </a:p>
        </p:txBody>
      </p:sp>
    </p:spTree>
    <p:extLst>
      <p:ext uri="{BB962C8B-B14F-4D97-AF65-F5344CB8AC3E}">
        <p14:creationId xmlns:p14="http://schemas.microsoft.com/office/powerpoint/2010/main" val="1227911384"/>
      </p:ext>
    </p:extLst>
  </p:cSld>
</p:sld>
</file>

<file path=ppt/slides/slide36.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AECDA305-4AEE-4293-8F99-5B9C84D5DE67}"/>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41FA26A6-ADD0-4E96-A4D2-FAD119B3BA08}"/>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C8 fictional monitoring records</a:t>
            </a:r>
          </a:p>
        </p:txBody>
      </p:sp>
      <p:graphicFrame>
        <p:nvGraphicFramePr>
          <p:cNvPr id="3" name="">
            <a:extLst xmlns:a="http://schemas.openxmlformats.org/drawingml/2006/main">
              <a:ext uri="{FF2B5EF4-FFF2-40B4-BE49-F238E27FC236}">
                <a16:creationId xmlns:a16="http://schemas.microsoft.com/office/drawing/2014/main" id="{F1B5EAF2-B5D9-422E-A7B0-7912C7191B47}"/>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Record</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Supplied statement</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M1</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8 of 10 scoped identities checked</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Coverage or risk reduction?</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M2</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Zero alerts for seven days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Is log coverage verified?</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M3</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Restore test scheduled next month</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Any completed result?</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M4</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Unsourced study claims 90 percent</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Can the source be verified?</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E8D1078E-6FF8-44A3-8940-358C0342A04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5" name="page">
            <a:extLst xmlns:a="http://schemas.openxmlformats.org/drawingml/2006/main">
              <a:ext uri="{FF2B5EF4-FFF2-40B4-BE49-F238E27FC236}">
                <a16:creationId xmlns:a16="http://schemas.microsoft.com/office/drawing/2014/main" id="{722AF374-DDA2-49A8-BB40-22AB6178C23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36</a:t>
            </a:r>
          </a:p>
        </p:txBody>
      </p:sp>
    </p:spTree>
    <p:extLst>
      <p:ext uri="{BB962C8B-B14F-4D97-AF65-F5344CB8AC3E}">
        <p14:creationId xmlns:p14="http://schemas.microsoft.com/office/powerpoint/2010/main" val="349470481"/>
      </p:ext>
    </p:extLst>
  </p:cSld>
</p:sld>
</file>

<file path=ppt/slides/slide37.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D24910B-96CB-4626-9DC7-E4E338161FE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1B45A943-D0F2-427D-8F09-33496437405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C8 monitoring and evidence challenge</a:t>
            </a:r>
          </a:p>
        </p:txBody>
      </p:sp>
      <p:sp>
        <p:nvSpPr>
          <p:cNvPr id="3" name="index-0">
            <a:extLst xmlns:a="http://schemas.openxmlformats.org/drawingml/2006/main">
              <a:ext uri="{FF2B5EF4-FFF2-40B4-BE49-F238E27FC236}">
                <a16:creationId xmlns:a16="http://schemas.microsoft.com/office/drawing/2014/main" id="{292EB7E8-D675-4D7D-9254-AEDB97CA896B}"/>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F1592E9-88AE-4D00-9AF4-A3D9E3AA553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Judge what each record supports</a:t>
            </a:r>
          </a:p>
        </p:txBody>
      </p:sp>
      <p:sp>
        <p:nvSpPr>
          <p:cNvPr id="5" name="index-1">
            <a:extLst xmlns:a="http://schemas.openxmlformats.org/drawingml/2006/main">
              <a:ext uri="{FF2B5EF4-FFF2-40B4-BE49-F238E27FC236}">
                <a16:creationId xmlns:a16="http://schemas.microsoft.com/office/drawing/2014/main" id="{72703CAC-956F-4E88-A195-7D57352E7E5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8E7D979-4C95-454A-83C3-90EB0E081FD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Design a metric with scope and denominator</a:t>
            </a:r>
          </a:p>
        </p:txBody>
      </p:sp>
      <p:sp>
        <p:nvSpPr>
          <p:cNvPr id="7" name="index-2">
            <a:extLst xmlns:a="http://schemas.openxmlformats.org/drawingml/2006/main">
              <a:ext uri="{FF2B5EF4-FFF2-40B4-BE49-F238E27FC236}">
                <a16:creationId xmlns:a16="http://schemas.microsoft.com/office/drawing/2014/main" id="{6DDB91E6-980C-474A-954D-6B24E432D7E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2383BFC7-4A71-4B68-B4DB-688AB3AF957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Name a review trigger and decision owner</a:t>
            </a:r>
          </a:p>
        </p:txBody>
      </p:sp>
      <p:sp>
        <p:nvSpPr>
          <p:cNvPr id="9" name="index-3">
            <a:extLst xmlns:a="http://schemas.openxmlformats.org/drawingml/2006/main">
              <a:ext uri="{FF2B5EF4-FFF2-40B4-BE49-F238E27FC236}">
                <a16:creationId xmlns:a16="http://schemas.microsoft.com/office/drawing/2014/main" id="{B030C0B1-6404-4585-A17C-D5B27DCC63F8}"/>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A2D29040-BD59-455F-9D52-7A886B85BF33}"/>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including source verification</a:t>
            </a:r>
          </a:p>
        </p:txBody>
      </p:sp>
      <p:sp>
        <p:nvSpPr>
          <p:cNvPr id="11" name="footer">
            <a:extLst xmlns:a="http://schemas.openxmlformats.org/drawingml/2006/main">
              <a:ext uri="{FF2B5EF4-FFF2-40B4-BE49-F238E27FC236}">
                <a16:creationId xmlns:a16="http://schemas.microsoft.com/office/drawing/2014/main" id="{7FAF2EA3-F806-4331-B164-589F23361FE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C9446754-36A9-4A77-B94F-5F58B7DDD75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37</a:t>
            </a:r>
          </a:p>
        </p:txBody>
      </p:sp>
    </p:spTree>
    <p:extLst>
      <p:ext uri="{BB962C8B-B14F-4D97-AF65-F5344CB8AC3E}">
        <p14:creationId xmlns:p14="http://schemas.microsoft.com/office/powerpoint/2010/main" val="749143778"/>
      </p:ext>
    </p:extLst>
  </p:cSld>
</p:sld>
</file>

<file path=ppt/slides/slide3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6C909FC-B498-4179-90A9-52BB8F77628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48A5F0FD-C58A-4DCB-8F3E-EC0DC0BFD9F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Independent coursework clinic</a:t>
            </a:r>
          </a:p>
        </p:txBody>
      </p:sp>
      <p:sp>
        <p:nvSpPr>
          <p:cNvPr id="3" name="index-0">
            <a:extLst xmlns:a="http://schemas.openxmlformats.org/drawingml/2006/main">
              <a:ext uri="{FF2B5EF4-FFF2-40B4-BE49-F238E27FC236}">
                <a16:creationId xmlns:a16="http://schemas.microsoft.com/office/drawing/2014/main" id="{E994C0A7-C1B6-4978-A9C6-29696798D22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17FAA412-1431-4021-8DC2-CCCC14064DD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Project 3 develops the mitigation plan</a:t>
            </a:r>
          </a:p>
        </p:txBody>
      </p:sp>
      <p:sp>
        <p:nvSpPr>
          <p:cNvPr id="5" name="index-1">
            <a:extLst xmlns:a="http://schemas.openxmlformats.org/drawingml/2006/main">
              <a:ext uri="{FF2B5EF4-FFF2-40B4-BE49-F238E27FC236}">
                <a16:creationId xmlns:a16="http://schemas.microsoft.com/office/drawing/2014/main" id="{3A270B04-1FBA-4BDD-A058-2F07332408A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D9031E9F-4B04-4CF1-8E50-8290AB4858A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Progress Report extends the research track</a:t>
            </a:r>
          </a:p>
        </p:txBody>
      </p:sp>
      <p:sp>
        <p:nvSpPr>
          <p:cNvPr id="7" name="index-2">
            <a:extLst xmlns:a="http://schemas.openxmlformats.org/drawingml/2006/main">
              <a:ext uri="{FF2B5EF4-FFF2-40B4-BE49-F238E27FC236}">
                <a16:creationId xmlns:a16="http://schemas.microsoft.com/office/drawing/2014/main" id="{A64AD324-2E83-4EC6-9D11-ACF90075D0ED}"/>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FDB89A4A-D597-494F-81FD-7D585643772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actual rubric and prior feedback</a:t>
            </a:r>
          </a:p>
        </p:txBody>
      </p:sp>
      <p:sp>
        <p:nvSpPr>
          <p:cNvPr id="9" name="index-3">
            <a:extLst xmlns:a="http://schemas.openxmlformats.org/drawingml/2006/main">
              <a:ext uri="{FF2B5EF4-FFF2-40B4-BE49-F238E27FC236}">
                <a16:creationId xmlns:a16="http://schemas.microsoft.com/office/drawing/2014/main" id="{852FA0D9-FC84-4F95-87B6-4595FDD0C1B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990FFF1F-02B8-473F-B568-E3F6B9EBC66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Resolve precise questions with the professor</a:t>
            </a:r>
          </a:p>
        </p:txBody>
      </p:sp>
      <p:sp>
        <p:nvSpPr>
          <p:cNvPr id="11" name="footer">
            <a:extLst xmlns:a="http://schemas.openxmlformats.org/drawingml/2006/main">
              <a:ext uri="{FF2B5EF4-FFF2-40B4-BE49-F238E27FC236}">
                <a16:creationId xmlns:a16="http://schemas.microsoft.com/office/drawing/2014/main" id="{A74FC204-DA9C-4A83-8B02-6B7D3AB76E7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86BA3047-AAFF-45B2-8771-4C8D62260FD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38</a:t>
            </a:r>
          </a:p>
        </p:txBody>
      </p:sp>
    </p:spTree>
    <p:extLst>
      <p:ext uri="{BB962C8B-B14F-4D97-AF65-F5344CB8AC3E}">
        <p14:creationId xmlns:p14="http://schemas.microsoft.com/office/powerpoint/2010/main" val="394185309"/>
      </p:ext>
    </p:extLst>
  </p:cSld>
</p:sld>
</file>

<file path=ppt/slides/slide3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2328FCA9-7C1E-4A8B-89A7-CD92754DFED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5 NOV</a:t>
            </a:r>
          </a:p>
        </p:txBody>
      </p:sp>
      <p:sp>
        <p:nvSpPr>
          <p:cNvPr id="2" name="heading">
            <a:extLst xmlns:a="http://schemas.openxmlformats.org/drawingml/2006/main">
              <a:ext uri="{FF2B5EF4-FFF2-40B4-BE49-F238E27FC236}">
                <a16:creationId xmlns:a16="http://schemas.microsoft.com/office/drawing/2014/main" id="{B3027536-1DAE-45BE-AE68-78FAE7AA119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3 close and Sunday checklist</a:t>
            </a:r>
          </a:p>
        </p:txBody>
      </p:sp>
      <p:sp>
        <p:nvSpPr>
          <p:cNvPr id="3" name="index-0">
            <a:extLst xmlns:a="http://schemas.openxmlformats.org/drawingml/2006/main">
              <a:ext uri="{FF2B5EF4-FFF2-40B4-BE49-F238E27FC236}">
                <a16:creationId xmlns:a16="http://schemas.microsoft.com/office/drawing/2014/main" id="{7C285FAD-88AB-4DFD-8C2A-02C6C0DFC57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17D08BAC-7FDC-40C8-A2BB-04F0A8E463C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DQ6 DQ7 and DQ8 with required peer replies</a:t>
            </a:r>
          </a:p>
        </p:txBody>
      </p:sp>
      <p:sp>
        <p:nvSpPr>
          <p:cNvPr id="5" name="index-1">
            <a:extLst xmlns:a="http://schemas.openxmlformats.org/drawingml/2006/main">
              <a:ext uri="{FF2B5EF4-FFF2-40B4-BE49-F238E27FC236}">
                <a16:creationId xmlns:a16="http://schemas.microsoft.com/office/drawing/2014/main" id="{BB90A12C-1BCC-4175-9064-97AEF01D21E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C66F10C2-E8AF-484F-ACA9-6BA3B58DD75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Project 3 and the Progress Report</a:t>
            </a:r>
          </a:p>
        </p:txBody>
      </p:sp>
      <p:sp>
        <p:nvSpPr>
          <p:cNvPr id="7" name="index-2">
            <a:extLst xmlns:a="http://schemas.openxmlformats.org/drawingml/2006/main">
              <a:ext uri="{FF2B5EF4-FFF2-40B4-BE49-F238E27FC236}">
                <a16:creationId xmlns:a16="http://schemas.microsoft.com/office/drawing/2014/main" id="{90293666-3C58-433B-9FEA-60EE7A6AD52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1357CAF-F469-4EDA-BC0D-4597C9A1635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Sunday November 8 at 11:59 p.m. Eastern</a:t>
            </a:r>
          </a:p>
        </p:txBody>
      </p:sp>
      <p:sp>
        <p:nvSpPr>
          <p:cNvPr id="9" name="index-3">
            <a:extLst xmlns:a="http://schemas.openxmlformats.org/drawingml/2006/main">
              <a:ext uri="{FF2B5EF4-FFF2-40B4-BE49-F238E27FC236}">
                <a16:creationId xmlns:a16="http://schemas.microsoft.com/office/drawing/2014/main" id="{A34255D7-E2AB-41CF-9B14-613A1FB0101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DA580BE4-1969-4823-94B2-7134D85A8AE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Verify uploads sources and AI disclosure</a:t>
            </a:r>
          </a:p>
        </p:txBody>
      </p:sp>
      <p:sp>
        <p:nvSpPr>
          <p:cNvPr id="11" name="footer">
            <a:extLst xmlns:a="http://schemas.openxmlformats.org/drawingml/2006/main">
              <a:ext uri="{FF2B5EF4-FFF2-40B4-BE49-F238E27FC236}">
                <a16:creationId xmlns:a16="http://schemas.microsoft.com/office/drawing/2014/main" id="{86614CAB-B6A7-42FB-956F-E88BCD4F5AF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549783CE-51B5-4FA4-8FE0-90B4E49B49C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39</a:t>
            </a:r>
          </a:p>
        </p:txBody>
      </p:sp>
    </p:spTree>
    <p:extLst>
      <p:ext uri="{BB962C8B-B14F-4D97-AF65-F5344CB8AC3E}">
        <p14:creationId xmlns:p14="http://schemas.microsoft.com/office/powerpoint/2010/main" val="539039031"/>
      </p:ext>
    </p:extLst>
  </p:cSld>
</p:sld>
</file>

<file path=ppt/slides/slide4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97B3716-BF3D-47B0-9FE2-26965E68573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3</a:t>
            </a:r>
          </a:p>
        </p:txBody>
      </p:sp>
      <p:sp>
        <p:nvSpPr>
          <p:cNvPr id="2" name="heading">
            <a:extLst xmlns:a="http://schemas.openxmlformats.org/drawingml/2006/main">
              <a:ext uri="{FF2B5EF4-FFF2-40B4-BE49-F238E27FC236}">
                <a16:creationId xmlns:a16="http://schemas.microsoft.com/office/drawing/2014/main" id="{6D48E638-91F1-4270-A69E-3DE2C9A66CB3}"/>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Sources and reading editions</a:t>
            </a:r>
          </a:p>
        </p:txBody>
      </p:sp>
      <p:sp>
        <p:nvSpPr>
          <p:cNvPr id="3" name="index-0">
            <a:extLst xmlns:a="http://schemas.openxmlformats.org/drawingml/2006/main">
              <a:ext uri="{FF2B5EF4-FFF2-40B4-BE49-F238E27FC236}">
                <a16:creationId xmlns:a16="http://schemas.microsoft.com/office/drawing/2014/main" id="{E9887722-57AD-4298-A592-23FD918F0DC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9AF7007-8675-41EB-9585-BC661ED42EA8}"/>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Canvas checklists name Chapters 10 9 12 and 11</a:t>
            </a:r>
          </a:p>
        </p:txBody>
      </p:sp>
      <p:sp>
        <p:nvSpPr>
          <p:cNvPr id="5" name="index-1">
            <a:extLst xmlns:a="http://schemas.openxmlformats.org/drawingml/2006/main">
              <a:ext uri="{FF2B5EF4-FFF2-40B4-BE49-F238E27FC236}">
                <a16:creationId xmlns:a16="http://schemas.microsoft.com/office/drawing/2014/main" id="{BA814B9F-A84A-41A6-8B0B-A66F6B3F20CC}"/>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9711840-6213-4F49-A423-40CA9145F76D}"/>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NIST control references retain their revision</a:t>
            </a:r>
          </a:p>
        </p:txBody>
      </p:sp>
      <p:sp>
        <p:nvSpPr>
          <p:cNvPr id="7" name="index-2">
            <a:extLst xmlns:a="http://schemas.openxmlformats.org/drawingml/2006/main">
              <a:ext uri="{FF2B5EF4-FFF2-40B4-BE49-F238E27FC236}">
                <a16:creationId xmlns:a16="http://schemas.microsoft.com/office/drawing/2014/main" id="{327E8D30-9200-4486-B97F-2FD13022A6E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34A29AB-BAA8-42E6-948F-D38D2A339DC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BIA guidance needs organizational context</a:t>
            </a:r>
          </a:p>
        </p:txBody>
      </p:sp>
      <p:sp>
        <p:nvSpPr>
          <p:cNvPr id="9" name="index-3">
            <a:extLst xmlns:a="http://schemas.openxmlformats.org/drawingml/2006/main">
              <a:ext uri="{FF2B5EF4-FFF2-40B4-BE49-F238E27FC236}">
                <a16:creationId xmlns:a16="http://schemas.microsoft.com/office/drawing/2014/main" id="{7D260D64-183F-4361-9045-9C8A672A7E1A}"/>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C8C1F98-5136-40E2-B86C-A5ADD93FDD82}"/>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Current Canvas controls graded requirements</a:t>
            </a:r>
          </a:p>
        </p:txBody>
      </p:sp>
      <p:sp>
        <p:nvSpPr>
          <p:cNvPr id="11" name="footer">
            <a:extLst xmlns:a="http://schemas.openxmlformats.org/drawingml/2006/main">
              <a:ext uri="{FF2B5EF4-FFF2-40B4-BE49-F238E27FC236}">
                <a16:creationId xmlns:a16="http://schemas.microsoft.com/office/drawing/2014/main" id="{8B207718-F080-42CC-900B-6C2D5B2CE9EC}"/>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3</a:t>
            </a:r>
          </a:p>
        </p:txBody>
      </p:sp>
      <p:sp>
        <p:nvSpPr>
          <p:cNvPr id="12" name="page">
            <a:extLst xmlns:a="http://schemas.openxmlformats.org/drawingml/2006/main">
              <a:ext uri="{FF2B5EF4-FFF2-40B4-BE49-F238E27FC236}">
                <a16:creationId xmlns:a16="http://schemas.microsoft.com/office/drawing/2014/main" id="{651C4F9D-0C64-45CC-9921-B87A20AC032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40</a:t>
            </a:r>
          </a:p>
        </p:txBody>
      </p:sp>
    </p:spTree>
    <p:extLst>
      <p:ext uri="{BB962C8B-B14F-4D97-AF65-F5344CB8AC3E}">
        <p14:creationId xmlns:p14="http://schemas.microsoft.com/office/powerpoint/2010/main" val="1008098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2026-10-17T14:54:52.6790000Z</dcterms:created>
  <dcterms:modified xsi:type="dcterms:W3CDTF">2026-10-17T14:54:52.6790000Z</dcterms:modified>
</coreProperties>
</file>