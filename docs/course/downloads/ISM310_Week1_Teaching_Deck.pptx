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8abdb9a94b435d" /><Relationship Type="http://schemas.openxmlformats.org/officeDocument/2006/relationships/extended-properties" Target="/docProps/app.xml" Id="R507dc0d22e164d99" /><Relationship Type="http://schemas.openxmlformats.org/officeDocument/2006/relationships/officeDocument" Target="/ppt/presentation.xml" Id="Rda6893f1514f4b4f" /></Relationships>
</file>

<file path=ppt/presentation.xml><?xml version="1.0" encoding="utf-8"?>
<p:presentation xmlns:p="http://schemas.openxmlformats.org/presentationml/2006/main">
  <p:sldMasterIdLst>
    <p:sldMasterId xmlns:r="http://schemas.openxmlformats.org/officeDocument/2006/relationships" id="2147483648" r:id="Rdeea0252504342d5"/>
  </p:sldMasterIdLst>
  <p:notesMasterIdLst>
    <p:notesMasterId xmlns:r="http://schemas.openxmlformats.org/officeDocument/2006/relationships" r:id="Rd8eb96e4a301483c"/>
  </p:notesMasterIdLst>
  <p:sldIdLst>
    <p:sldId xmlns:r="http://schemas.openxmlformats.org/officeDocument/2006/relationships" id="256" r:id="R254d606ab94c4828"/>
    <p:sldId xmlns:r="http://schemas.openxmlformats.org/officeDocument/2006/relationships" id="257" r:id="R3219a825c2824a77"/>
    <p:sldId xmlns:r="http://schemas.openxmlformats.org/officeDocument/2006/relationships" id="258" r:id="Rbdb46f27e58e4867"/>
    <p:sldId xmlns:r="http://schemas.openxmlformats.org/officeDocument/2006/relationships" id="259" r:id="Rc6bca00a1c1d4596"/>
    <p:sldId xmlns:r="http://schemas.openxmlformats.org/officeDocument/2006/relationships" id="260" r:id="Rbbc4d2c9c59f42f5"/>
    <p:sldId xmlns:r="http://schemas.openxmlformats.org/officeDocument/2006/relationships" id="261" r:id="Rab1b064c204b4287"/>
    <p:sldId xmlns:r="http://schemas.openxmlformats.org/officeDocument/2006/relationships" id="262" r:id="R81e827ef3fb6425c"/>
    <p:sldId xmlns:r="http://schemas.openxmlformats.org/officeDocument/2006/relationships" id="263" r:id="Re52d6621cf464a44"/>
    <p:sldId xmlns:r="http://schemas.openxmlformats.org/officeDocument/2006/relationships" id="264" r:id="Rfb3bcec4eeb24dca"/>
    <p:sldId xmlns:r="http://schemas.openxmlformats.org/officeDocument/2006/relationships" id="265" r:id="Rf011e2308c5a4aec"/>
    <p:sldId xmlns:r="http://schemas.openxmlformats.org/officeDocument/2006/relationships" id="266" r:id="R79c713f234cf4000"/>
    <p:sldId xmlns:r="http://schemas.openxmlformats.org/officeDocument/2006/relationships" id="267" r:id="Rd7a2210415b54f04"/>
    <p:sldId xmlns:r="http://schemas.openxmlformats.org/officeDocument/2006/relationships" id="268" r:id="Rfbd686e2314d4d7b"/>
    <p:sldId xmlns:r="http://schemas.openxmlformats.org/officeDocument/2006/relationships" id="269" r:id="R2b23124414b4422f"/>
    <p:sldId xmlns:r="http://schemas.openxmlformats.org/officeDocument/2006/relationships" id="270" r:id="R79c09d9218ce4599"/>
    <p:sldId xmlns:r="http://schemas.openxmlformats.org/officeDocument/2006/relationships" id="271" r:id="Rbdb8daa5325f4802"/>
    <p:sldId xmlns:r="http://schemas.openxmlformats.org/officeDocument/2006/relationships" id="272" r:id="Ra583dc16563e4566"/>
    <p:sldId xmlns:r="http://schemas.openxmlformats.org/officeDocument/2006/relationships" id="273" r:id="R68d29f75e7144d3a"/>
    <p:sldId xmlns:r="http://schemas.openxmlformats.org/officeDocument/2006/relationships" id="274" r:id="R3f3947ea735242a8"/>
    <p:sldId xmlns:r="http://schemas.openxmlformats.org/officeDocument/2006/relationships" id="275" r:id="R587cc80a5c414e60"/>
    <p:sldId xmlns:r="http://schemas.openxmlformats.org/officeDocument/2006/relationships" id="276" r:id="R2c71c6a56fd14baf"/>
    <p:sldId xmlns:r="http://schemas.openxmlformats.org/officeDocument/2006/relationships" id="277" r:id="Re204d1c225c84529"/>
    <p:sldId xmlns:r="http://schemas.openxmlformats.org/officeDocument/2006/relationships" id="278" r:id="R78e81a4f91bb40ff"/>
    <p:sldId xmlns:r="http://schemas.openxmlformats.org/officeDocument/2006/relationships" id="279" r:id="R7027a71aa4d24f26"/>
    <p:sldId xmlns:r="http://schemas.openxmlformats.org/officeDocument/2006/relationships" id="280" r:id="R2e35ce04a0de4ec9"/>
    <p:sldId xmlns:r="http://schemas.openxmlformats.org/officeDocument/2006/relationships" id="281" r:id="R234c46107274485a"/>
    <p:sldId xmlns:r="http://schemas.openxmlformats.org/officeDocument/2006/relationships" id="282" r:id="R2431d7af4cf04e08"/>
    <p:sldId xmlns:r="http://schemas.openxmlformats.org/officeDocument/2006/relationships" id="283" r:id="R0d8bc304aaed440a"/>
    <p:sldId xmlns:r="http://schemas.openxmlformats.org/officeDocument/2006/relationships" id="284" r:id="R4da3c14685cb4fda"/>
    <p:sldId xmlns:r="http://schemas.openxmlformats.org/officeDocument/2006/relationships" id="285" r:id="R8f60a87cc2994a55"/>
    <p:sldId xmlns:r="http://schemas.openxmlformats.org/officeDocument/2006/relationships" id="286" r:id="R04c9abde13364e01"/>
    <p:sldId xmlns:r="http://schemas.openxmlformats.org/officeDocument/2006/relationships" id="287" r:id="R28fe46d3d0cf44b2"/>
    <p:sldId xmlns:r="http://schemas.openxmlformats.org/officeDocument/2006/relationships" id="288" r:id="Rf59770e2a7024390"/>
    <p:sldId xmlns:r="http://schemas.openxmlformats.org/officeDocument/2006/relationships" id="289" r:id="Rcadfda3c0e9b4512"/>
    <p:sldId xmlns:r="http://schemas.openxmlformats.org/officeDocument/2006/relationships" id="290" r:id="R3b31b068066840c5"/>
    <p:sldId xmlns:r="http://schemas.openxmlformats.org/officeDocument/2006/relationships" id="291" r:id="R858b466ca6b3424a"/>
    <p:sldId xmlns:r="http://schemas.openxmlformats.org/officeDocument/2006/relationships" id="292" r:id="R126544a14d714d86"/>
    <p:sldId xmlns:r="http://schemas.openxmlformats.org/officeDocument/2006/relationships" id="293" r:id="R9351f626d86f4676"/>
    <p:sldId xmlns:r="http://schemas.openxmlformats.org/officeDocument/2006/relationships" id="294" r:id="Rd7c51bd5d7704065"/>
    <p:sldId xmlns:r="http://schemas.openxmlformats.org/officeDocument/2006/relationships" id="295" r:id="R299aabb6f0e048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421b1c45ec4e1b" /><Relationship Type="http://schemas.openxmlformats.org/officeDocument/2006/relationships/slideMaster" Target="/ppt/slideMasters/slideMaster1.xml" Id="Rdeea0252504342d5" /><Relationship Type="http://schemas.openxmlformats.org/officeDocument/2006/relationships/notesMaster" Target="/ppt/notesMasters/notesMaster1.xml" Id="Rd8eb96e4a301483c" /><Relationship Type="http://schemas.openxmlformats.org/officeDocument/2006/relationships/presProps" Target="/ppt/presProps.xml" Id="R7898b28d021442e5" /><Relationship Type="http://schemas.openxmlformats.org/officeDocument/2006/relationships/tableStyles" Target="/ppt/tableStyles.xml" Id="R633abb1eb7924674" /><Relationship Type="http://schemas.openxmlformats.org/officeDocument/2006/relationships/slide" Target="/ppt/slides/slide1.xml" Id="R254d606ab94c4828" /><Relationship Type="http://schemas.openxmlformats.org/officeDocument/2006/relationships/slide" Target="/ppt/slides/slide2.xml" Id="R3219a825c2824a77" /><Relationship Type="http://schemas.openxmlformats.org/officeDocument/2006/relationships/slide" Target="/ppt/slides/slide3.xml" Id="Rbdb46f27e58e4867" /><Relationship Type="http://schemas.openxmlformats.org/officeDocument/2006/relationships/slide" Target="/ppt/slides/slide4.xml" Id="Rc6bca00a1c1d4596" /><Relationship Type="http://schemas.openxmlformats.org/officeDocument/2006/relationships/slide" Target="/ppt/slides/slide5.xml" Id="Rbbc4d2c9c59f42f5" /><Relationship Type="http://schemas.openxmlformats.org/officeDocument/2006/relationships/slide" Target="/ppt/slides/slide6.xml" Id="Rab1b064c204b4287" /><Relationship Type="http://schemas.openxmlformats.org/officeDocument/2006/relationships/slide" Target="/ppt/slides/slide7.xml" Id="R81e827ef3fb6425c" /><Relationship Type="http://schemas.openxmlformats.org/officeDocument/2006/relationships/slide" Target="/ppt/slides/slide8.xml" Id="Re52d6621cf464a44" /><Relationship Type="http://schemas.openxmlformats.org/officeDocument/2006/relationships/slide" Target="/ppt/slides/slide9.xml" Id="Rfb3bcec4eeb24dca" /><Relationship Type="http://schemas.openxmlformats.org/officeDocument/2006/relationships/slide" Target="/ppt/slides/slide10.xml" Id="Rf011e2308c5a4aec" /><Relationship Type="http://schemas.openxmlformats.org/officeDocument/2006/relationships/slide" Target="/ppt/slides/slide11.xml" Id="R79c713f234cf4000" /><Relationship Type="http://schemas.openxmlformats.org/officeDocument/2006/relationships/slide" Target="/ppt/slides/slide12.xml" Id="Rd7a2210415b54f04" /><Relationship Type="http://schemas.openxmlformats.org/officeDocument/2006/relationships/slide" Target="/ppt/slides/slide13.xml" Id="Rfbd686e2314d4d7b" /><Relationship Type="http://schemas.openxmlformats.org/officeDocument/2006/relationships/slide" Target="/ppt/slides/slide14.xml" Id="R2b23124414b4422f" /><Relationship Type="http://schemas.openxmlformats.org/officeDocument/2006/relationships/slide" Target="/ppt/slides/slide15.xml" Id="R79c09d9218ce4599" /><Relationship Type="http://schemas.openxmlformats.org/officeDocument/2006/relationships/slide" Target="/ppt/slides/slide16.xml" Id="Rbdb8daa5325f4802" /><Relationship Type="http://schemas.openxmlformats.org/officeDocument/2006/relationships/slide" Target="/ppt/slides/slide17.xml" Id="Ra583dc16563e4566" /><Relationship Type="http://schemas.openxmlformats.org/officeDocument/2006/relationships/slide" Target="/ppt/slides/slide18.xml" Id="R68d29f75e7144d3a" /><Relationship Type="http://schemas.openxmlformats.org/officeDocument/2006/relationships/slide" Target="/ppt/slides/slide19.xml" Id="R3f3947ea735242a8" /><Relationship Type="http://schemas.openxmlformats.org/officeDocument/2006/relationships/slide" Target="/ppt/slides/slide20.xml" Id="R587cc80a5c414e60" /><Relationship Type="http://schemas.openxmlformats.org/officeDocument/2006/relationships/slide" Target="/ppt/slides/slide21.xml" Id="R2c71c6a56fd14baf" /><Relationship Type="http://schemas.openxmlformats.org/officeDocument/2006/relationships/slide" Target="/ppt/slides/slide22.xml" Id="Re204d1c225c84529" /><Relationship Type="http://schemas.openxmlformats.org/officeDocument/2006/relationships/slide" Target="/ppt/slides/slide23.xml" Id="R78e81a4f91bb40ff" /><Relationship Type="http://schemas.openxmlformats.org/officeDocument/2006/relationships/slide" Target="/ppt/slides/slide24.xml" Id="R7027a71aa4d24f26" /><Relationship Type="http://schemas.openxmlformats.org/officeDocument/2006/relationships/slide" Target="/ppt/slides/slide25.xml" Id="R2e35ce04a0de4ec9" /><Relationship Type="http://schemas.openxmlformats.org/officeDocument/2006/relationships/slide" Target="/ppt/slides/slide26.xml" Id="R234c46107274485a" /><Relationship Type="http://schemas.openxmlformats.org/officeDocument/2006/relationships/slide" Target="/ppt/slides/slide27.xml" Id="R2431d7af4cf04e08" /><Relationship Type="http://schemas.openxmlformats.org/officeDocument/2006/relationships/slide" Target="/ppt/slides/slide28.xml" Id="R0d8bc304aaed440a" /><Relationship Type="http://schemas.openxmlformats.org/officeDocument/2006/relationships/slide" Target="/ppt/slides/slide29.xml" Id="R4da3c14685cb4fda" /><Relationship Type="http://schemas.openxmlformats.org/officeDocument/2006/relationships/slide" Target="/ppt/slides/slide30.xml" Id="R8f60a87cc2994a55" /><Relationship Type="http://schemas.openxmlformats.org/officeDocument/2006/relationships/slide" Target="/ppt/slides/slide31.xml" Id="R04c9abde13364e01" /><Relationship Type="http://schemas.openxmlformats.org/officeDocument/2006/relationships/slide" Target="/ppt/slides/slide32.xml" Id="R28fe46d3d0cf44b2" /><Relationship Type="http://schemas.openxmlformats.org/officeDocument/2006/relationships/slide" Target="/ppt/slides/slide33.xml" Id="Rf59770e2a7024390" /><Relationship Type="http://schemas.openxmlformats.org/officeDocument/2006/relationships/slide" Target="/ppt/slides/slide34.xml" Id="Rcadfda3c0e9b4512" /><Relationship Type="http://schemas.openxmlformats.org/officeDocument/2006/relationships/slide" Target="/ppt/slides/slide35.xml" Id="R3b31b068066840c5" /><Relationship Type="http://schemas.openxmlformats.org/officeDocument/2006/relationships/slide" Target="/ppt/slides/slide36.xml" Id="R858b466ca6b3424a" /><Relationship Type="http://schemas.openxmlformats.org/officeDocument/2006/relationships/slide" Target="/ppt/slides/slide37.xml" Id="R126544a14d714d86" /><Relationship Type="http://schemas.openxmlformats.org/officeDocument/2006/relationships/slide" Target="/ppt/slides/slide38.xml" Id="R9351f626d86f4676" /><Relationship Type="http://schemas.openxmlformats.org/officeDocument/2006/relationships/slide" Target="/ppt/slides/slide39.xml" Id="Rd7c51bd5d7704065" /><Relationship Type="http://schemas.openxmlformats.org/officeDocument/2006/relationships/slide" Target="/ppt/slides/slide40.xml" Id="R299aabb6f0e048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8d2c53379d4d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f7ed9c119548f1" /><Relationship Type="http://schemas.openxmlformats.org/officeDocument/2006/relationships/notesMaster" Target="/ppt/notesMasters/notesMaster1.xml" Id="R07c5ddc29bf641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712b7926384ef5" /><Relationship Type="http://schemas.openxmlformats.org/officeDocument/2006/relationships/notesMaster" Target="/ppt/notesMasters/notesMaster1.xml" Id="Rbbe0d3ad947c48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d433e1f3e04bd6" /><Relationship Type="http://schemas.openxmlformats.org/officeDocument/2006/relationships/notesMaster" Target="/ppt/notesMasters/notesMaster1.xml" Id="Rf64601f2489741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0763c8481d44c7" /><Relationship Type="http://schemas.openxmlformats.org/officeDocument/2006/relationships/notesMaster" Target="/ppt/notesMasters/notesMaster1.xml" Id="R90c96c78345946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2371802e084fca" /><Relationship Type="http://schemas.openxmlformats.org/officeDocument/2006/relationships/notesMaster" Target="/ppt/notesMasters/notesMaster1.xml" Id="R50b775d2360146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f0c26a9dd347b1" /><Relationship Type="http://schemas.openxmlformats.org/officeDocument/2006/relationships/notesMaster" Target="/ppt/notesMasters/notesMaster1.xml" Id="R6d327a6d0f0447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315a35bcff4201" /><Relationship Type="http://schemas.openxmlformats.org/officeDocument/2006/relationships/notesMaster" Target="/ppt/notesMasters/notesMaster1.xml" Id="R3b9a88b4891e42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e5d21052294dc3" /><Relationship Type="http://schemas.openxmlformats.org/officeDocument/2006/relationships/notesMaster" Target="/ppt/notesMasters/notesMaster1.xml" Id="R1378ba20a2ba4f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2eaa5792624ac1" /><Relationship Type="http://schemas.openxmlformats.org/officeDocument/2006/relationships/notesMaster" Target="/ppt/notesMasters/notesMaster1.xml" Id="R23214c41b6a641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4cb6088b384ec2" /><Relationship Type="http://schemas.openxmlformats.org/officeDocument/2006/relationships/notesMaster" Target="/ppt/notesMasters/notesMaster1.xml" Id="R4afc380cc2184b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fe368354314fa2" /><Relationship Type="http://schemas.openxmlformats.org/officeDocument/2006/relationships/notesMaster" Target="/ppt/notesMasters/notesMaster1.xml" Id="R20b168ffe4ec4e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8429e5d1884881" /><Relationship Type="http://schemas.openxmlformats.org/officeDocument/2006/relationships/notesMaster" Target="/ppt/notesMasters/notesMaster1.xml" Id="Rc8873bf9a30e49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87d3ff68984d2a" /><Relationship Type="http://schemas.openxmlformats.org/officeDocument/2006/relationships/notesMaster" Target="/ppt/notesMasters/notesMaster1.xml" Id="R6227b0d13d2b43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71025d9e6d47c2" /><Relationship Type="http://schemas.openxmlformats.org/officeDocument/2006/relationships/notesMaster" Target="/ppt/notesMasters/notesMaster1.xml" Id="R38f8f4ac281b4e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58de218e094759" /><Relationship Type="http://schemas.openxmlformats.org/officeDocument/2006/relationships/notesMaster" Target="/ppt/notesMasters/notesMaster1.xml" Id="R8a279171eedf4d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3d0355d4d674df7" /><Relationship Type="http://schemas.openxmlformats.org/officeDocument/2006/relationships/notesMaster" Target="/ppt/notesMasters/notesMaster1.xml" Id="R7d521635ddea4b4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0a211b51dc4f9a" /><Relationship Type="http://schemas.openxmlformats.org/officeDocument/2006/relationships/notesMaster" Target="/ppt/notesMasters/notesMaster1.xml" Id="R93f90e70d64245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cdbbc61b57411b" /><Relationship Type="http://schemas.openxmlformats.org/officeDocument/2006/relationships/notesMaster" Target="/ppt/notesMasters/notesMaster1.xml" Id="R3470f9b1118f4c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f66b4f405d46a9" /><Relationship Type="http://schemas.openxmlformats.org/officeDocument/2006/relationships/notesMaster" Target="/ppt/notesMasters/notesMaster1.xml" Id="R4386a85a25294ec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b0e252de024e13" /><Relationship Type="http://schemas.openxmlformats.org/officeDocument/2006/relationships/notesMaster" Target="/ppt/notesMasters/notesMaster1.xml" Id="R7ee0c2445630493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0761f40ca84c20" /><Relationship Type="http://schemas.openxmlformats.org/officeDocument/2006/relationships/notesMaster" Target="/ppt/notesMasters/notesMaster1.xml" Id="Ra6048580855d4d0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a8f20f49d83407e" /><Relationship Type="http://schemas.openxmlformats.org/officeDocument/2006/relationships/notesMaster" Target="/ppt/notesMasters/notesMaster1.xml" Id="Rf5c5adae042240c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e6cb0cc54684652" /><Relationship Type="http://schemas.openxmlformats.org/officeDocument/2006/relationships/notesMaster" Target="/ppt/notesMasters/notesMaster1.xml" Id="R308d7706bfab4ac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7564d6e4abb4803" /><Relationship Type="http://schemas.openxmlformats.org/officeDocument/2006/relationships/notesMaster" Target="/ppt/notesMasters/notesMaster1.xml" Id="Rf65203efd9e8483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77db0e8060e4f95" /><Relationship Type="http://schemas.openxmlformats.org/officeDocument/2006/relationships/notesMaster" Target="/ppt/notesMasters/notesMaster1.xml" Id="Rd96e469501ad47c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9a54ef757df422e" /><Relationship Type="http://schemas.openxmlformats.org/officeDocument/2006/relationships/notesMaster" Target="/ppt/notesMasters/notesMaster1.xml" Id="Rc8efa233ad364ed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0d9b0a8f17549ac" /><Relationship Type="http://schemas.openxmlformats.org/officeDocument/2006/relationships/notesMaster" Target="/ppt/notesMasters/notesMaster1.xml" Id="R0a1a5ecb8fdf473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eb435ccc510422f" /><Relationship Type="http://schemas.openxmlformats.org/officeDocument/2006/relationships/notesMaster" Target="/ppt/notesMasters/notesMaster1.xml" Id="R6ecfd881ce0c4dc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ba75268cad04a13" /><Relationship Type="http://schemas.openxmlformats.org/officeDocument/2006/relationships/notesMaster" Target="/ppt/notesMasters/notesMaster1.xml" Id="Rcd5891f695d749c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8f825068a854ad7" /><Relationship Type="http://schemas.openxmlformats.org/officeDocument/2006/relationships/notesMaster" Target="/ppt/notesMasters/notesMaster1.xml" Id="Rbf33051ae3e2486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04827a3b0164d14" /><Relationship Type="http://schemas.openxmlformats.org/officeDocument/2006/relationships/notesMaster" Target="/ppt/notesMasters/notesMaster1.xml" Id="Rb39b891d52d9461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73f83829ad540ae" /><Relationship Type="http://schemas.openxmlformats.org/officeDocument/2006/relationships/notesMaster" Target="/ppt/notesMasters/notesMaster1.xml" Id="R72fda20bbe1b447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c90c3b98ebb43df" /><Relationship Type="http://schemas.openxmlformats.org/officeDocument/2006/relationships/notesMaster" Target="/ppt/notesMasters/notesMaster1.xml" Id="Rac7a41b13d3c40a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79b1fc9fa2a4968" /><Relationship Type="http://schemas.openxmlformats.org/officeDocument/2006/relationships/notesMaster" Target="/ppt/notesMasters/notesMaster1.xml" Id="Ra947b5ef64fc4d4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408be0c1db74948" /><Relationship Type="http://schemas.openxmlformats.org/officeDocument/2006/relationships/notesMaster" Target="/ppt/notesMasters/notesMaster1.xml" Id="Rcf6abd90889a432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fa4c16c320d475b" /><Relationship Type="http://schemas.openxmlformats.org/officeDocument/2006/relationships/notesMaster" Target="/ppt/notesMasters/notesMaster1.xml" Id="R4349c87e859d419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ebfb9dae0024f36" /><Relationship Type="http://schemas.openxmlformats.org/officeDocument/2006/relationships/notesMaster" Target="/ppt/notesMasters/notesMaster1.xml" Id="Re004a269396c4f5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4f502649b8b4ba6" /><Relationship Type="http://schemas.openxmlformats.org/officeDocument/2006/relationships/notesMaster" Target="/ppt/notesMasters/notesMaster1.xml" Id="R76b596b4a36c4eb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88f176e842c4e1d" /><Relationship Type="http://schemas.openxmlformats.org/officeDocument/2006/relationships/notesMaster" Target="/ppt/notesMasters/notesMaster1.xml" Id="R9beec2aef9a6455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ec5aa6e1016432b" /><Relationship Type="http://schemas.openxmlformats.org/officeDocument/2006/relationships/notesMaster" Target="/ppt/notesMasters/notesMaster1.xml" Id="Rc5e9909611ab4f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daily sections support Monday–Thursday meetings, 3:00–5:30 p.m. Eastern, IBC 211. Pair this editable deck with the instructor guide and student workbook. Practice uses the fictional Harbor Books case, distinct from graded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established weekly overview and daily-material pattern used in ISM 301 and 302. The course schedule places five graded items due Sunday October 25.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Mapped syllabus objectives: O1 CYB1.1, O2 CYB1.4, O3 CYB1.5/1.6, O4 CYB1.3, O5 CYB1.2, O6 CYB1.1; ethical decisions, critical thinking, presentation, writing SLO13.1/13.4/13.5/13.6. Evaluate with eight practice artifacts and individual exit tickets, not new graded assignments.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daily timetable in the instructor guide. Begin with a baseline question: Is risk the same as a vulnerability? Collect a prediction before giving the definition. Show where current Canvas instructions and the AI tutor are located. This is a practice session, with no new graded item.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five Week 1 graded items in Canvas. Do not invent additional length or source requirements. Demonstrate a concept prompt and an inappropriate request for a graded introduction. Explain that AI output is not instructor permission. Due Sunday October 25 at 11:59 p.m. Eastern: DQ1, DQ2, DQ3, Project 1, Proposal. Source S1 and instructor-confirmed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distinctions before the sort. A threat can be intentional, accidental, or environmental. Risk incorporates consequences and likelihood in context; multiplication is not a universal definition. Source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objective is most affected by unauthorized price changes and why. Accept integrity first, with business consequences. Then ask whether a public storefront outage creates confidentiality loss automatically; it does not. Tie answers to assets and activities, not isolated technical labels.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A1: 3 minutes solo, 7 paired, 5 evidence gap, 5 share. Use the student workbook or browser A1. Key is in the instructor guide. A failed login is not evidence of successful access. Do not require the same label for every ambiguous phrase if students justify the level of analysis. Source: fictional Harbor Books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remote account misuse. MFA can help prevent takeover, monitoring can detect misuse, and tested backups can recover records after damage. A backup does not block remote login. Discuss shared identity-provider dependencies. Do not imply every attack must cross all controls sequentially. Source S2 and original teaching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A2 protocol in instructor guide. Require a causal explanation: how does the selected control alter likelihood, impact, detection, or recovery? Accept reasoned alternatives. Avoid rewarding tool counts. Browser A2 checks choices as practice, not as an assignment 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assigned Gibson model as a teaching lens, not a universal network standard. User: people and behavior. Workstation: endpoints. LAN: internal network. LAN-to-WAN: boundary controls. WAN: external connectivity. Remote access: offsite connections. System/application: services, software, and data. Ask pairs to locate a bookstore account or asset in one domain and identify an interface to another. Explain that cloud services and hybrid designs cross these boundaries. Source S1, Risk Management Fundamentals module objectives and assigned Gibson textbook.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the three individual responses in the workbook or Canvas as ungraded checks. If several students equate backups with prevention, reteach that distinction Tuesday. Direct students to DQ1, Project 1, and Proposal instructions without drafting their 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 student to explain the Monday exit misconception. Preview that today uses synthetic ratings rather than pretending a scenario establishes a measured probability.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an actor from an event and a consequence. Ask whether the weather itself can be patched. We can alter exposure, preparedness, and safeguards even when the threat source cannot be controlled. Source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table to prevent leaps from observation to conclusion. Students should ask about event time, account, access path, outcome, and authorization. No real targets or exploit execution are required. Source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A3 protocol: 5 minutes selection, 5 composition, 5 review, 5 revision. Feedback asks which source supports the claim. Do not provide a submission-ready answer. The practice case is separate from the graded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acceptance requires an authorized decision and conditions for review. Insurance can share specified consequences but does not eliminate downtime or obligations. Source S2; these four labels are a teaching simplification, not a mandatory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likelihood categories as lower, moderate, higher under the exercise assumptions, and impacts as minor, moderate, major business disruption. Ratings are supplied, not inferred from the case. Calculate 6 and explain ordinal limitations. There is no official acceptance threshold. Source S2 and instructor-designed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minutes. Use browser A4 or workbook. Browser feedback validates the arithmetic only; open reasoning is discussed in class. Explain why a new policy alone does not prove reduced risk. Collect one evidence gap per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whether buying MFA licenses proves all privileged accounts use MFA. Expected: verify enrollment, enforcement, exceptions, and operation. Do not invent a universal percent reduction. Source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three individual exit questions. If students treat every score as a measured probability, revisit before Week 2. DQ2 concerns threats and vulnerability mitigation; students write their own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a prediction: Does a health-related company name prove HIPAA applicability? Answer after discussing regulated roles and data. This is educational source analysis, not a legal determination. Sources S1,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different sources of authority and that standards can become relevant through contracts or other obligations. Do not equate NIST guidance with a universal legal mandate. Sources S3, S4, S6.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HHS identifies covered entities and business associates as the relevant HIPAA roles. Harbor Books has no stated health-information role. For card payments, verify data flow and responsibilities; do not assume outsourcing removes all obligations. Sources S3, S6.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workbook A5 and browser A5. Read the linked source if internet is available. With no connection, use the source summaries and note which conclusions require external verification. Classification is a learning check, not legal advice. Sources S3, S4, S6.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identifying an actual source rather than accepting a model-generated reference. A proposed rule differs from an effective rule. Do not teach a fixed password-rotation interval without the applicable source. Source S3 and source-literacy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table as an evidence ladder. A policy demonstrates intent; configuration demonstrates implementation at an observed time; results can demonstrate operation under defined conditions. No single record proves universal compliance. Source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A6 claim in the workbook. Ask students to challenge the claimed universal 90-day rotation and guarantee from outsourcing, not to invent an alternative universal rule. Source citations should include the exact passage or section locator where available. Sources S2, S3, S6.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Allocate 20 minutes. Students propose their own question and pair-review scope, relevance, and evidence. Do not impose an additional number of sources or write their Proposal. Open current Canvas Proposal instructions.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the three exit answers. Revisit any claim that all businesses must follow every framework. DQ3 and Project 1 require students to research applicable context and cite accurately, using current Canvas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weakest Wednesday exit responses for 10 minutes. Explain that the class creates one decision record rather than a ready-made graded plan. Source 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how the components support a repeatable program. A plan is more than a list of tools. An assessment plan describes a process; a mitigation plan concerns treatment choices. Full details develop later in the course.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whether outsourced card processing means the shop has no payment-related risks. It does not establish that conclusion. Work through dependency reasoning without declaring a compliance result. Sources S2, S6.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accountability for a risk from daily operation of a control. Do not label the IT provider the business-risk approver without evidence of delegated authority. Source S2 and fictional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A7 workbook or browser planning board. Groups must produce one decision, not the whole plan. Suggested record fields: decision, business reason, scope, owner, evidence, dependency, trigger. Instructor may coach reasoning without supplying graded project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unrelated to a graded scenario: verify account inventory before evaluating privilege exceptions. Avoid arbitrary six-month timelines or fictional costs. Ask which evidence demonstrates completion of an access review. Sources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inject from A8. The activity tests ethical reasoning under uncertainty. Students need not run any attack, scan a real target, or submit logs. Use AI George only to explain a concept; any output must be verified. Source: original fictional activity and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minutes. Students work individually on their own next step. Peer feedback asks questions rather than writes answers. Do not add page counts or require browser exports for credit. All five due October 25 at 11:59 p.m. Eastern. Source S1 and instructor-confirmed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exit ticket and Sunday checklist in student workbook. Reminder: classroom activities are practice and do not replace any existing Canvas assignment. Joe coverage is October 28–29 in Week 2, not this week. Do not add a substitute handoff for Week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S1: Course objectives and module objectives — Instructor-supplied ISM 310 Canvas export, October 16, 2026. Local syllabus and four Week 1 learning-objective pages.</a:t>
            </a:r>
          </a:p>
          <a:p xmlns:a="http://schemas.openxmlformats.org/drawingml/2006/main">
            <a:r>
              <a:t>S2: Guide for Conducting Risk Assessments — NIST SP 800-30 Rev. 1 (2012). https://csrc.nist.gov/pubs/sp/800/30/r1/final</a:t>
            </a:r>
          </a:p>
          <a:p xmlns:a="http://schemas.openxmlformats.org/drawingml/2006/main">
            <a:r>
              <a:t>S3: Covered Entities and Business Associates — HHS. https://www.hhs.gov/hipaa/for-professionals/covered-entities/index.html</a:t>
            </a:r>
          </a:p>
          <a:p xmlns:a="http://schemas.openxmlformats.org/drawingml/2006/main">
            <a:r>
              <a:t>S4: NIST Cybersecurity Framework — NIST CSF 2.0 (2024). https://www.nist.gov/cyberframework</a:t>
            </a:r>
          </a:p>
          <a:p xmlns:a="http://schemas.openxmlformats.org/drawingml/2006/main">
            <a:r>
              <a:t>S5: GitHub Pages — GitHub Docs. https://docs.github.com/en/pages/getting-started-with-github-pages/what-is-github-pages</a:t>
            </a:r>
          </a:p>
          <a:p xmlns:a="http://schemas.openxmlformats.org/drawingml/2006/main">
            <a:r>
              <a:t>S6: PCI DSS overview — PCI Security Standards Council. https://www.pcisecuritystandards.org/standards/pci-dss/</a:t>
            </a:r>
          </a:p>
          <a:p xmlns:a="http://schemas.openxmlformats.org/drawingml/2006/main">
            <a:r>
              <a:t>Textbook: Darril Gibson, Managing Risk in Information Systems, 2nd edition (2015), instructor-assigned. Chapter numbers are intentionally not invented. Original classroom activities are fictional practice. No external images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cafc6332a84d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cfbe31ff1c4b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58f1a7c3eb43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3d300ed06a4b4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e7c71727584e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755cd1e5d140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A9758C-BED3-4C97-BF4F-19DADC9D057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1C40F5-7894-4D58-BE9E-301089B32F5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D87B12A-5270-4165-969A-0000DF86032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C7467B-712D-4506-9897-54A37DD681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A06C4A1-2F96-4787-A1C3-439AB96752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0C0AF7-EA0E-4008-9F67-A1D55C81F7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2EC8FC-8C1B-4301-A4CE-5E7AA12236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23E471-38E1-4C0A-9C46-47AACD234DA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755A2D-A52B-42E9-BE70-0F7C5016DC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85E27C-FC01-4308-9E9E-B8647C4BA3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f0bbfe088a4a16" /><Relationship Type="http://schemas.openxmlformats.org/officeDocument/2006/relationships/slideLayout" Target="/ppt/slideLayouts/slideLayout1.xml" Id="R82dafd3f7d854b32" /><Relationship Type="http://schemas.openxmlformats.org/officeDocument/2006/relationships/slideLayout" Target="/ppt/slideLayouts/slideLayout2.xml" Id="R32b52d9e010e481a" /><Relationship Type="http://schemas.openxmlformats.org/officeDocument/2006/relationships/slideLayout" Target="/ppt/slideLayouts/slideLayout3.xml" Id="R3558d0e6439f410e" /><Relationship Type="http://schemas.openxmlformats.org/officeDocument/2006/relationships/slideLayout" Target="/ppt/slideLayouts/slideLayout4.xml" Id="Rb6794bdb27f84940" /><Relationship Type="http://schemas.openxmlformats.org/officeDocument/2006/relationships/slideLayout" Target="/ppt/slideLayouts/slideLayout5.xml" Id="R86843e830b3b4a9c" /><Relationship Type="http://schemas.openxmlformats.org/officeDocument/2006/relationships/slideLayout" Target="/ppt/slideLayouts/slideLayout6.xml" Id="Rb26da7b0d14b41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dafd3f7d854b32"/>
    <p:sldLayoutId xmlns:r="http://schemas.openxmlformats.org/officeDocument/2006/relationships" id="2147483650" r:id="R32b52d9e010e481a"/>
    <p:sldLayoutId xmlns:r="http://schemas.openxmlformats.org/officeDocument/2006/relationships" id="2147483651" r:id="R3558d0e6439f410e"/>
    <p:sldLayoutId xmlns:r="http://schemas.openxmlformats.org/officeDocument/2006/relationships" id="2147483652" r:id="Rb6794bdb27f84940"/>
    <p:sldLayoutId xmlns:r="http://schemas.openxmlformats.org/officeDocument/2006/relationships" id="2147483653" r:id="R86843e830b3b4a9c"/>
    <p:sldLayoutId xmlns:r="http://schemas.openxmlformats.org/officeDocument/2006/relationships" id="2147483654" r:id="Rb26da7b0d14b41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f6200fa326430b" /><Relationship Type="http://schemas.openxmlformats.org/officeDocument/2006/relationships/notesSlide" Target="/ppt/notesSlides/notesSlide1.xml" Id="Rb2dc36b4548f4c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26f14a95754bfb" /><Relationship Type="http://schemas.openxmlformats.org/officeDocument/2006/relationships/notesSlide" Target="/ppt/notesSlides/notesSlide2.xml" Id="Rc05a051f47e741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bb63e2157e4f06" /><Relationship Type="http://schemas.openxmlformats.org/officeDocument/2006/relationships/notesSlide" Target="/ppt/notesSlides/notesSlide3.xml" Id="R1cc2281c27c840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441c6d0fc84174" /><Relationship Type="http://schemas.openxmlformats.org/officeDocument/2006/relationships/notesSlide" Target="/ppt/notesSlides/notesSlide4.xml" Id="Reda90921f95149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8ebc8cf5244b52" /><Relationship Type="http://schemas.openxmlformats.org/officeDocument/2006/relationships/notesSlide" Target="/ppt/notesSlides/notesSlide5.xml" Id="Re001ae84930447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e87ec65ad14be4" /><Relationship Type="http://schemas.openxmlformats.org/officeDocument/2006/relationships/notesSlide" Target="/ppt/notesSlides/notesSlide6.xml" Id="R41030b4ce74a42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af239802374be8" /><Relationship Type="http://schemas.openxmlformats.org/officeDocument/2006/relationships/notesSlide" Target="/ppt/notesSlides/notesSlide7.xml" Id="R9dfa50b650b343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557f76eb40c46ae" /><Relationship Type="http://schemas.openxmlformats.org/officeDocument/2006/relationships/notesSlide" Target="/ppt/notesSlides/notesSlide8.xml" Id="Rcb538065dd6e44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94f3913a8734acb" /><Relationship Type="http://schemas.openxmlformats.org/officeDocument/2006/relationships/notesSlide" Target="/ppt/notesSlides/notesSlide9.xml" Id="R9ddd0221da614f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bd96ac49524ee0" /><Relationship Type="http://schemas.openxmlformats.org/officeDocument/2006/relationships/notesSlide" Target="/ppt/notesSlides/notesSlide10.xml" Id="R92d2f54ea92049a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e9fb6cd06740e4" /><Relationship Type="http://schemas.openxmlformats.org/officeDocument/2006/relationships/notesSlide" Target="/ppt/notesSlides/notesSlide11.xml" Id="R68afa820dba74c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50fe9af27d4d4b" /><Relationship Type="http://schemas.openxmlformats.org/officeDocument/2006/relationships/notesSlide" Target="/ppt/notesSlides/notesSlide12.xml" Id="Rc761c1884bc240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ab622066f2d40e5" /><Relationship Type="http://schemas.openxmlformats.org/officeDocument/2006/relationships/notesSlide" Target="/ppt/notesSlides/notesSlide13.xml" Id="Rb37e208d5a404c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749d52da3404973" /><Relationship Type="http://schemas.openxmlformats.org/officeDocument/2006/relationships/notesSlide" Target="/ppt/notesSlides/notesSlide14.xml" Id="R6e541128b1154a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9f63aab18a64fcd" /><Relationship Type="http://schemas.openxmlformats.org/officeDocument/2006/relationships/notesSlide" Target="/ppt/notesSlides/notesSlide15.xml" Id="Rcbdfcfcdb23344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c8d1e1ec9084bb5" /><Relationship Type="http://schemas.openxmlformats.org/officeDocument/2006/relationships/notesSlide" Target="/ppt/notesSlides/notesSlide16.xml" Id="R0456fa1988b248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6c4785d55214d9e" /><Relationship Type="http://schemas.openxmlformats.org/officeDocument/2006/relationships/notesSlide" Target="/ppt/notesSlides/notesSlide17.xml" Id="R554ae022ab69412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f5969ce92dc46c4" /><Relationship Type="http://schemas.openxmlformats.org/officeDocument/2006/relationships/notesSlide" Target="/ppt/notesSlides/notesSlide18.xml" Id="Rfe717757c25a482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7b59a6b6ec7449d" /><Relationship Type="http://schemas.openxmlformats.org/officeDocument/2006/relationships/notesSlide" Target="/ppt/notesSlides/notesSlide19.xml" Id="R43c63e3e1c2f416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b2adf8eb6b349c2" /><Relationship Type="http://schemas.openxmlformats.org/officeDocument/2006/relationships/notesSlide" Target="/ppt/notesSlides/notesSlide20.xml" Id="Rda24030387504e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fb5191e8483403d" /><Relationship Type="http://schemas.openxmlformats.org/officeDocument/2006/relationships/notesSlide" Target="/ppt/notesSlides/notesSlide21.xml" Id="Re97176ef931044e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6fb77b409804ecd" /><Relationship Type="http://schemas.openxmlformats.org/officeDocument/2006/relationships/notesSlide" Target="/ppt/notesSlides/notesSlide22.xml" Id="R2123c088d64847d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4bcaefbb05545a7" /><Relationship Type="http://schemas.openxmlformats.org/officeDocument/2006/relationships/notesSlide" Target="/ppt/notesSlides/notesSlide23.xml" Id="Rf4fec4dca08245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5f5c408ab3a40d6" /><Relationship Type="http://schemas.openxmlformats.org/officeDocument/2006/relationships/notesSlide" Target="/ppt/notesSlides/notesSlide24.xml" Id="R8f099e97ed42450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e9c24768e574ca5" /><Relationship Type="http://schemas.openxmlformats.org/officeDocument/2006/relationships/notesSlide" Target="/ppt/notesSlides/notesSlide25.xml" Id="Rd0f3abbca2c64ce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0f9aaef8c0d4dd3" /><Relationship Type="http://schemas.openxmlformats.org/officeDocument/2006/relationships/notesSlide" Target="/ppt/notesSlides/notesSlide26.xml" Id="Rc8151ad20dc04b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ed1a5c776254b8b" /><Relationship Type="http://schemas.openxmlformats.org/officeDocument/2006/relationships/notesSlide" Target="/ppt/notesSlides/notesSlide27.xml" Id="R1e37b1bd2cbd4f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a145101059c479e" /><Relationship Type="http://schemas.openxmlformats.org/officeDocument/2006/relationships/notesSlide" Target="/ppt/notesSlides/notesSlide28.xml" Id="Ree6024675a4046f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f34091223104cfc" /><Relationship Type="http://schemas.openxmlformats.org/officeDocument/2006/relationships/notesSlide" Target="/ppt/notesSlides/notesSlide29.xml" Id="R40aefcb64d4b4d1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bcf431b22e74748" /><Relationship Type="http://schemas.openxmlformats.org/officeDocument/2006/relationships/notesSlide" Target="/ppt/notesSlides/notesSlide30.xml" Id="R22aa5e94d1b2493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5c7e64c986d468e" /><Relationship Type="http://schemas.openxmlformats.org/officeDocument/2006/relationships/notesSlide" Target="/ppt/notesSlides/notesSlide31.xml" Id="Re03a9f641791449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7d9c898eca743c9" /><Relationship Type="http://schemas.openxmlformats.org/officeDocument/2006/relationships/notesSlide" Target="/ppt/notesSlides/notesSlide32.xml" Id="R1f25dc7b31464fd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47d4ee232a94d1f" /><Relationship Type="http://schemas.openxmlformats.org/officeDocument/2006/relationships/notesSlide" Target="/ppt/notesSlides/notesSlide33.xml" Id="Rd210363da0e247c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e389585058343cc" /><Relationship Type="http://schemas.openxmlformats.org/officeDocument/2006/relationships/notesSlide" Target="/ppt/notesSlides/notesSlide34.xml" Id="R729febe2d1914dc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8d3193282494303" /><Relationship Type="http://schemas.openxmlformats.org/officeDocument/2006/relationships/notesSlide" Target="/ppt/notesSlides/notesSlide35.xml" Id="R91bea1f2f2e944b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387135cb61f40ec" /><Relationship Type="http://schemas.openxmlformats.org/officeDocument/2006/relationships/notesSlide" Target="/ppt/notesSlides/notesSlide36.xml" Id="R856a500111fc4f6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f423c06ceb147ed" /><Relationship Type="http://schemas.openxmlformats.org/officeDocument/2006/relationships/notesSlide" Target="/ppt/notesSlides/notesSlide37.xml" Id="R84c321e064d0411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a284396aeda4d0f" /><Relationship Type="http://schemas.openxmlformats.org/officeDocument/2006/relationships/notesSlide" Target="/ppt/notesSlides/notesSlide38.xml" Id="Rb9c33595c1fa41c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af990046e314412" /><Relationship Type="http://schemas.openxmlformats.org/officeDocument/2006/relationships/notesSlide" Target="/ppt/notesSlides/notesSlide39.xml" Id="R9a73b4649052449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9ea44f3448440da" /><Relationship Type="http://schemas.openxmlformats.org/officeDocument/2006/relationships/notesSlide" Target="/ppt/notesSlides/notesSlide40.xml" Id="Rb1aa1029f1bc4d8a" /></Relationships>
</file>

<file path=ppt/slides/slide1.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F93EF9BA-AD91-47C5-9116-85A521B7EF8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WEEK 1</a:t>
            </a:r>
          </a:p>
        </p:txBody>
      </p:sp>
      <p:sp>
        <p:nvSpPr>
          <p:cNvPr id="2" name="heading">
            <a:extLst xmlns:a="http://schemas.openxmlformats.org/drawingml/2006/main">
              <a:ext uri="{FF2B5EF4-FFF2-40B4-BE49-F238E27FC236}">
                <a16:creationId xmlns:a16="http://schemas.microsoft.com/office/drawing/2014/main" id="{E85DBD1B-7E0E-4A60-B7F2-06B198D7224C}"/>
              </a:ext>
            </a:extLst>
          </p:cNvPr>
          <p:cNvSpPr>
            <a:spLocks xmlns:a="http://schemas.openxmlformats.org/drawingml/2006/main" noGrp="1"/>
          </p:cNvSpPr>
          <p:nvPr/>
        </p:nvSpPr>
        <p:spPr>
          <a:xfrm xmlns:a="http://schemas.openxmlformats.org/drawingml/2006/main">
            <a:off x="609600" y="1257300"/>
            <a:ext cx="1095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650" b="1">
                <a:solidFill>
                  <a:srgbClr val="FFFFFF"/>
                </a:solidFill>
                <a:latin typeface="Arial"/>
                <a:ea typeface="Arial"/>
                <a:cs typeface="Arial"/>
              </a:defRPr>
            </a:defPPr>
            <a:lvl1pPr>
              <a:defRPr sz="4650" b="1">
                <a:solidFill>
                  <a:srgbClr val="FFFFFF"/>
                </a:solidFill>
                <a:latin typeface="Arial"/>
                <a:ea typeface="Arial"/>
                <a:cs typeface="Arial"/>
              </a:defRPr>
            </a:lvl1pPr>
            <a:lvl2pPr>
              <a:defRPr sz="4650" b="1">
                <a:solidFill>
                  <a:srgbClr val="FFFFFF"/>
                </a:solidFill>
                <a:latin typeface="Arial"/>
                <a:ea typeface="Arial"/>
                <a:cs typeface="Arial"/>
              </a:defRPr>
            </a:lvl2pPr>
            <a:lvl3pPr>
              <a:defRPr sz="4650" b="1">
                <a:solidFill>
                  <a:srgbClr val="FFFFFF"/>
                </a:solidFill>
                <a:latin typeface="Arial"/>
                <a:ea typeface="Arial"/>
                <a:cs typeface="Arial"/>
              </a:defRPr>
            </a:lvl3pPr>
            <a:lvl4pPr>
              <a:defRPr sz="4650" b="1">
                <a:solidFill>
                  <a:srgbClr val="FFFFFF"/>
                </a:solidFill>
                <a:latin typeface="Arial"/>
                <a:ea typeface="Arial"/>
                <a:cs typeface="Arial"/>
              </a:defRPr>
            </a:lvl4pPr>
            <a:lvl5pPr>
              <a:defRPr sz="4650" b="1">
                <a:solidFill>
                  <a:srgbClr val="FFFFFF"/>
                </a:solidFill>
                <a:latin typeface="Arial"/>
                <a:ea typeface="Arial"/>
                <a:cs typeface="Arial"/>
              </a:defRPr>
            </a:lvl5pPr>
            <a:lvl6pPr>
              <a:defRPr sz="4650" b="1">
                <a:solidFill>
                  <a:srgbClr val="FFFFFF"/>
                </a:solidFill>
                <a:latin typeface="Arial"/>
                <a:ea typeface="Arial"/>
                <a:cs typeface="Arial"/>
              </a:defRPr>
            </a:lvl6pPr>
            <a:lvl7pPr>
              <a:defRPr sz="4650" b="1">
                <a:solidFill>
                  <a:srgbClr val="FFFFFF"/>
                </a:solidFill>
                <a:latin typeface="Arial"/>
                <a:ea typeface="Arial"/>
                <a:cs typeface="Arial"/>
              </a:defRPr>
            </a:lvl7pPr>
            <a:lvl8pPr>
              <a:defRPr sz="4650" b="1">
                <a:solidFill>
                  <a:srgbClr val="FFFFFF"/>
                </a:solidFill>
                <a:latin typeface="Arial"/>
                <a:ea typeface="Arial"/>
                <a:cs typeface="Arial"/>
              </a:defRPr>
            </a:lvl8pPr>
            <a:lvl9pPr>
              <a:defRPr sz="4650" b="1">
                <a:solidFill>
                  <a:srgbClr val="FFFFFF"/>
                </a:solidFill>
                <a:latin typeface="Arial"/>
                <a:ea typeface="Arial"/>
                <a:cs typeface="Arial"/>
              </a:defRPr>
            </a:lvl9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ISM 310 Defense in Depth</a:t>
            </a:r>
          </a:p>
        </p:txBody>
      </p:sp>
      <p:sp>
        <p:nvSpPr>
          <p:cNvPr id="3" name="body-0">
            <a:extLst xmlns:a="http://schemas.openxmlformats.org/drawingml/2006/main">
              <a:ext uri="{FF2B5EF4-FFF2-40B4-BE49-F238E27FC236}">
                <a16:creationId xmlns:a16="http://schemas.microsoft.com/office/drawing/2014/main" id="{44320EEA-1A40-4C26-A61B-43876EE07DD5}"/>
              </a:ext>
            </a:extLst>
          </p:cNvPr>
          <p:cNvSpPr>
            <a:spLocks xmlns:a="http://schemas.openxmlformats.org/drawingml/2006/main" noGrp="1"/>
          </p:cNvSpPr>
          <p:nvPr/>
        </p:nvSpPr>
        <p:spPr>
          <a:xfrm xmlns:a="http://schemas.openxmlformats.org/drawingml/2006/main">
            <a:off x="609600" y="31432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Week 1 teaching deck</a:t>
            </a:r>
          </a:p>
        </p:txBody>
      </p:sp>
      <p:sp>
        <p:nvSpPr>
          <p:cNvPr id="4" name="body-1">
            <a:extLst xmlns:a="http://schemas.openxmlformats.org/drawingml/2006/main">
              <a:ext uri="{FF2B5EF4-FFF2-40B4-BE49-F238E27FC236}">
                <a16:creationId xmlns:a16="http://schemas.microsoft.com/office/drawing/2014/main" id="{FFA97836-0B95-45A6-A7DF-E6C769E6712E}"/>
              </a:ext>
            </a:extLst>
          </p:cNvPr>
          <p:cNvSpPr>
            <a:spLocks xmlns:a="http://schemas.openxmlformats.org/drawingml/2006/main" noGrp="1"/>
          </p:cNvSpPr>
          <p:nvPr/>
        </p:nvSpPr>
        <p:spPr>
          <a:xfrm xmlns:a="http://schemas.openxmlformats.org/drawingml/2006/main">
            <a:off x="609600" y="37623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Risk management fundamentals</a:t>
            </a:r>
          </a:p>
        </p:txBody>
      </p:sp>
      <p:sp>
        <p:nvSpPr>
          <p:cNvPr id="5" name="body-2">
            <a:extLst xmlns:a="http://schemas.openxmlformats.org/drawingml/2006/main">
              <a:ext uri="{FF2B5EF4-FFF2-40B4-BE49-F238E27FC236}">
                <a16:creationId xmlns:a16="http://schemas.microsoft.com/office/drawing/2014/main" id="{D7E7B52E-DE7E-4556-A325-F50681A7EAE3}"/>
              </a:ext>
            </a:extLst>
          </p:cNvPr>
          <p:cNvSpPr>
            <a:spLocks xmlns:a="http://schemas.openxmlformats.org/drawingml/2006/main" noGrp="1"/>
          </p:cNvSpPr>
          <p:nvPr/>
        </p:nvSpPr>
        <p:spPr>
          <a:xfrm xmlns:a="http://schemas.openxmlformats.org/drawingml/2006/main">
            <a:off x="609600" y="43815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October 19–22 2026</a:t>
            </a:r>
          </a:p>
        </p:txBody>
      </p:sp>
      <p:sp>
        <p:nvSpPr>
          <p:cNvPr id="6" name="body-3">
            <a:extLst xmlns:a="http://schemas.openxmlformats.org/drawingml/2006/main">
              <a:ext uri="{FF2B5EF4-FFF2-40B4-BE49-F238E27FC236}">
                <a16:creationId xmlns:a16="http://schemas.microsoft.com/office/drawing/2014/main" id="{031357C6-06BB-4BE0-82CC-958544AF41E8}"/>
              </a:ext>
            </a:extLst>
          </p:cNvPr>
          <p:cNvSpPr>
            <a:spLocks xmlns:a="http://schemas.openxmlformats.org/drawingml/2006/main" noGrp="1"/>
          </p:cNvSpPr>
          <p:nvPr/>
        </p:nvSpPr>
        <p:spPr>
          <a:xfrm xmlns:a="http://schemas.openxmlformats.org/drawingml/2006/main">
            <a:off x="609600" y="500062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Dr. George Antoniou</a:t>
            </a:r>
          </a:p>
        </p:txBody>
      </p:sp>
      <p:sp>
        <p:nvSpPr>
          <p:cNvPr id="7" name="footer">
            <a:extLst xmlns:a="http://schemas.openxmlformats.org/drawingml/2006/main">
              <a:ext uri="{FF2B5EF4-FFF2-40B4-BE49-F238E27FC236}">
                <a16:creationId xmlns:a16="http://schemas.microsoft.com/office/drawing/2014/main" id="{87ED42C5-D494-4BEA-8BF5-45341DF343B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1</a:t>
            </a:r>
          </a:p>
        </p:txBody>
      </p:sp>
      <p:sp>
        <p:nvSpPr>
          <p:cNvPr id="8" name="page">
            <a:extLst xmlns:a="http://schemas.openxmlformats.org/drawingml/2006/main">
              <a:ext uri="{FF2B5EF4-FFF2-40B4-BE49-F238E27FC236}">
                <a16:creationId xmlns:a16="http://schemas.microsoft.com/office/drawing/2014/main" id="{EFEDAAD5-8DAD-4FF9-BB55-2B53E354C13C}"/>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01</a:t>
            </a:r>
          </a:p>
        </p:txBody>
      </p:sp>
    </p:spTree>
    <p:extLst>
      <p:ext uri="{BB962C8B-B14F-4D97-AF65-F5344CB8AC3E}">
        <p14:creationId xmlns:p14="http://schemas.microsoft.com/office/powerpoint/2010/main" val="1923837034"/>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D44A7491-7D8A-4A78-A1AB-BF4BCE7F2315}"/>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WEEK 1</a:t>
            </a:r>
          </a:p>
        </p:txBody>
      </p:sp>
      <p:sp>
        <p:nvSpPr>
          <p:cNvPr id="2" name="heading">
            <a:extLst xmlns:a="http://schemas.openxmlformats.org/drawingml/2006/main">
              <a:ext uri="{FF2B5EF4-FFF2-40B4-BE49-F238E27FC236}">
                <a16:creationId xmlns:a16="http://schemas.microsoft.com/office/drawing/2014/main" id="{FC8BBD2C-64D5-4612-A2DD-39FE96A035E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Week 1 daily sequence</a:t>
            </a:r>
          </a:p>
        </p:txBody>
      </p:sp>
      <p:graphicFrame>
        <p:nvGraphicFramePr>
          <p:cNvPr id="3" name="">
            <a:extLst xmlns:a="http://schemas.openxmlformats.org/drawingml/2006/main">
              <a:ext uri="{FF2B5EF4-FFF2-40B4-BE49-F238E27FC236}">
                <a16:creationId xmlns:a16="http://schemas.microsoft.com/office/drawing/2014/main" id="{55E28AE8-8E6D-4540-BED4-81B8F4447C9B}"/>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Day</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Module focus</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Practice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Mon Oct 19</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Risk Management Fundamentals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Terminology and layering</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Tue Oct 20</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Threats Vulnerabilities and Exploits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Risk statement and treatment</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Wed Oct 21</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Maintaining Compliance</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Applicability and evidence</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Thu Oct 22</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Developing Risk Management Plan</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Planning and tabletop</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38BBD0C1-673C-402B-A416-DE63897DF0B0}"/>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5" name="page">
            <a:extLst xmlns:a="http://schemas.openxmlformats.org/drawingml/2006/main">
              <a:ext uri="{FF2B5EF4-FFF2-40B4-BE49-F238E27FC236}">
                <a16:creationId xmlns:a16="http://schemas.microsoft.com/office/drawing/2014/main" id="{5DE8338F-FBDF-4352-9560-2D038AD4791B}"/>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02</a:t>
            </a:r>
          </a:p>
        </p:txBody>
      </p:sp>
    </p:spTree>
    <p:extLst>
      <p:ext uri="{BB962C8B-B14F-4D97-AF65-F5344CB8AC3E}">
        <p14:creationId xmlns:p14="http://schemas.microsoft.com/office/powerpoint/2010/main" val="360927422"/>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72ABDDEE-D099-4A5D-B301-DFA4FBF5ABC5}"/>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WEEK 1</a:t>
            </a:r>
          </a:p>
        </p:txBody>
      </p:sp>
      <p:sp>
        <p:nvSpPr>
          <p:cNvPr id="2" name="heading">
            <a:extLst xmlns:a="http://schemas.openxmlformats.org/drawingml/2006/main">
              <a:ext uri="{FF2B5EF4-FFF2-40B4-BE49-F238E27FC236}">
                <a16:creationId xmlns:a16="http://schemas.microsoft.com/office/drawing/2014/main" id="{AEE1F62E-B9C6-42EF-9136-113D1028724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Week 1 outcomes and evidence</a:t>
            </a:r>
          </a:p>
        </p:txBody>
      </p:sp>
      <p:sp>
        <p:nvSpPr>
          <p:cNvPr id="3" name="index-0">
            <a:extLst xmlns:a="http://schemas.openxmlformats.org/drawingml/2006/main">
              <a:ext uri="{FF2B5EF4-FFF2-40B4-BE49-F238E27FC236}">
                <a16:creationId xmlns:a16="http://schemas.microsoft.com/office/drawing/2014/main" id="{E7F1EE42-343C-4418-A759-4C6828190628}"/>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6F4D794-1D12-4E8E-A326-DA904A036064}"/>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Distinguish risk concepts using scenario facts</a:t>
            </a:r>
          </a:p>
        </p:txBody>
      </p:sp>
      <p:sp>
        <p:nvSpPr>
          <p:cNvPr id="5" name="index-1">
            <a:extLst xmlns:a="http://schemas.openxmlformats.org/drawingml/2006/main">
              <a:ext uri="{FF2B5EF4-FFF2-40B4-BE49-F238E27FC236}">
                <a16:creationId xmlns:a16="http://schemas.microsoft.com/office/drawing/2014/main" id="{F37B0FD7-2007-425F-9BEF-DC5BA00AAD7A}"/>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C75675CC-F557-4E6E-A48D-C484D3CFCA1B}"/>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Explain how controls affect risk</a:t>
            </a:r>
          </a:p>
        </p:txBody>
      </p:sp>
      <p:sp>
        <p:nvSpPr>
          <p:cNvPr id="7" name="index-2">
            <a:extLst xmlns:a="http://schemas.openxmlformats.org/drawingml/2006/main">
              <a:ext uri="{FF2B5EF4-FFF2-40B4-BE49-F238E27FC236}">
                <a16:creationId xmlns:a16="http://schemas.microsoft.com/office/drawing/2014/main" id="{D1676105-7F2A-4E42-9531-E2E855DA5592}"/>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C25EF8AD-D09D-46D3-8085-6A4EE0C111A3}"/>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Evaluate authority and applicability of sources</a:t>
            </a:r>
          </a:p>
        </p:txBody>
      </p:sp>
      <p:sp>
        <p:nvSpPr>
          <p:cNvPr id="9" name="index-3">
            <a:extLst xmlns:a="http://schemas.openxmlformats.org/drawingml/2006/main">
              <a:ext uri="{FF2B5EF4-FFF2-40B4-BE49-F238E27FC236}">
                <a16:creationId xmlns:a16="http://schemas.microsoft.com/office/drawing/2014/main" id="{AE782D82-4371-4350-B09A-5E9DB11043E1}"/>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66D260B-6471-4E7D-82A3-B69B6BB764F5}"/>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Defend a scope or ownership decision</a:t>
            </a:r>
          </a:p>
        </p:txBody>
      </p:sp>
      <p:sp>
        <p:nvSpPr>
          <p:cNvPr id="11" name="footer">
            <a:extLst xmlns:a="http://schemas.openxmlformats.org/drawingml/2006/main">
              <a:ext uri="{FF2B5EF4-FFF2-40B4-BE49-F238E27FC236}">
                <a16:creationId xmlns:a16="http://schemas.microsoft.com/office/drawing/2014/main" id="{3C8F6DDE-92F2-42CC-8DC3-20A2562D39C8}"/>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EE950BDA-5598-4682-9A5C-7079F585313B}"/>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03</a:t>
            </a:r>
          </a:p>
        </p:txBody>
      </p:sp>
    </p:spTree>
    <p:extLst>
      <p:ext uri="{BB962C8B-B14F-4D97-AF65-F5344CB8AC3E}">
        <p14:creationId xmlns:p14="http://schemas.microsoft.com/office/powerpoint/2010/main" val="1748309021"/>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3194603F-F0DC-4A9E-9209-0109C33826C0}"/>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19 OCT</a:t>
            </a:r>
          </a:p>
        </p:txBody>
      </p:sp>
      <p:sp>
        <p:nvSpPr>
          <p:cNvPr id="2" name="heading">
            <a:extLst xmlns:a="http://schemas.openxmlformats.org/drawingml/2006/main">
              <a:ext uri="{FF2B5EF4-FFF2-40B4-BE49-F238E27FC236}">
                <a16:creationId xmlns:a16="http://schemas.microsoft.com/office/drawing/2014/main" id="{478F791E-8E59-449E-931B-D54A717E749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Monday learning route</a:t>
            </a:r>
          </a:p>
        </p:txBody>
      </p:sp>
      <p:sp>
        <p:nvSpPr>
          <p:cNvPr id="3" name="index-0">
            <a:extLst xmlns:a="http://schemas.openxmlformats.org/drawingml/2006/main">
              <a:ext uri="{FF2B5EF4-FFF2-40B4-BE49-F238E27FC236}">
                <a16:creationId xmlns:a16="http://schemas.microsoft.com/office/drawing/2014/main" id="{F6ACE628-BB53-42EE-8553-6A42B825E0D0}"/>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F9B4C77-B005-4AF1-94B7-82AB78EF9D52}"/>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Risk vocabulary and business consequences</a:t>
            </a:r>
          </a:p>
        </p:txBody>
      </p:sp>
      <p:sp>
        <p:nvSpPr>
          <p:cNvPr id="5" name="index-1">
            <a:extLst xmlns:a="http://schemas.openxmlformats.org/drawingml/2006/main">
              <a:ext uri="{FF2B5EF4-FFF2-40B4-BE49-F238E27FC236}">
                <a16:creationId xmlns:a16="http://schemas.microsoft.com/office/drawing/2014/main" id="{E3AEAFB5-38C4-4416-8AAE-40A2DF99D8A2}"/>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54543AF8-41EA-4190-8BD3-7D94D6FFDE7E}"/>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Evidence and terminology sort</a:t>
            </a:r>
          </a:p>
        </p:txBody>
      </p:sp>
      <p:sp>
        <p:nvSpPr>
          <p:cNvPr id="7" name="index-2">
            <a:extLst xmlns:a="http://schemas.openxmlformats.org/drawingml/2006/main">
              <a:ext uri="{FF2B5EF4-FFF2-40B4-BE49-F238E27FC236}">
                <a16:creationId xmlns:a16="http://schemas.microsoft.com/office/drawing/2014/main" id="{1D2E83D2-C6E0-4E3A-B1AB-9EEAC9E19A1E}"/>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E682295-83E5-4F39-822C-E81DAB011306}"/>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Complementary controls and residual risk</a:t>
            </a:r>
          </a:p>
        </p:txBody>
      </p:sp>
      <p:sp>
        <p:nvSpPr>
          <p:cNvPr id="9" name="index-3">
            <a:extLst xmlns:a="http://schemas.openxmlformats.org/drawingml/2006/main">
              <a:ext uri="{FF2B5EF4-FFF2-40B4-BE49-F238E27FC236}">
                <a16:creationId xmlns:a16="http://schemas.microsoft.com/office/drawing/2014/main" id="{B5DDA0CD-D730-4043-BA62-D61EBEB3106D}"/>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1890DBC0-1D07-4745-82D3-2ECA1CC8E8CB}"/>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Individual exit ticket</a:t>
            </a:r>
          </a:p>
        </p:txBody>
      </p:sp>
      <p:sp>
        <p:nvSpPr>
          <p:cNvPr id="11" name="footer">
            <a:extLst xmlns:a="http://schemas.openxmlformats.org/drawingml/2006/main">
              <a:ext uri="{FF2B5EF4-FFF2-40B4-BE49-F238E27FC236}">
                <a16:creationId xmlns:a16="http://schemas.microsoft.com/office/drawing/2014/main" id="{641DFC5E-54EC-441A-9C68-31EE5380BEB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DA242D83-8DF7-49C2-B07C-D3D768D824DC}"/>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04</a:t>
            </a:r>
          </a:p>
        </p:txBody>
      </p:sp>
    </p:spTree>
    <p:extLst>
      <p:ext uri="{BB962C8B-B14F-4D97-AF65-F5344CB8AC3E}">
        <p14:creationId xmlns:p14="http://schemas.microsoft.com/office/powerpoint/2010/main" val="582200509"/>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93534B69-A9AA-4FC2-93AD-A12883D909CA}"/>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19 OCT</a:t>
            </a:r>
          </a:p>
        </p:txBody>
      </p:sp>
      <p:sp>
        <p:nvSpPr>
          <p:cNvPr id="2" name="heading">
            <a:extLst xmlns:a="http://schemas.openxmlformats.org/drawingml/2006/main">
              <a:ext uri="{FF2B5EF4-FFF2-40B4-BE49-F238E27FC236}">
                <a16:creationId xmlns:a16="http://schemas.microsoft.com/office/drawing/2014/main" id="{CCB44A40-C099-4B42-BB28-DE04AFEBFA70}"/>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Course work and ethical AI</a:t>
            </a:r>
          </a:p>
        </p:txBody>
      </p:sp>
      <p:sp>
        <p:nvSpPr>
          <p:cNvPr id="3" name="index-0">
            <a:extLst xmlns:a="http://schemas.openxmlformats.org/drawingml/2006/main">
              <a:ext uri="{FF2B5EF4-FFF2-40B4-BE49-F238E27FC236}">
                <a16:creationId xmlns:a16="http://schemas.microsoft.com/office/drawing/2014/main" id="{BAA294F1-C02A-4101-ADDD-AEF33DC1728F}"/>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033B7B7-C49D-494D-9C95-5945D7D105F2}"/>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Professional projects develop organizational risk work</a:t>
            </a:r>
          </a:p>
        </p:txBody>
      </p:sp>
      <p:sp>
        <p:nvSpPr>
          <p:cNvPr id="5" name="index-1">
            <a:extLst xmlns:a="http://schemas.openxmlformats.org/drawingml/2006/main">
              <a:ext uri="{FF2B5EF4-FFF2-40B4-BE49-F238E27FC236}">
                <a16:creationId xmlns:a16="http://schemas.microsoft.com/office/drawing/2014/main" id="{3712AE6B-2E5C-4218-811A-EAB0AF0C8006}"/>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0A976CE-71DC-403D-9F22-816EA1265251}"/>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Research milestones develop a separate investigation</a:t>
            </a:r>
          </a:p>
        </p:txBody>
      </p:sp>
      <p:sp>
        <p:nvSpPr>
          <p:cNvPr id="7" name="index-2">
            <a:extLst xmlns:a="http://schemas.openxmlformats.org/drawingml/2006/main">
              <a:ext uri="{FF2B5EF4-FFF2-40B4-BE49-F238E27FC236}">
                <a16:creationId xmlns:a16="http://schemas.microsoft.com/office/drawing/2014/main" id="{39FC1DE6-3F0B-4A50-A63C-CF236788C351}"/>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BB20CD0F-6F81-4998-AB09-3E708D8C585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AI George explains and gives feedback on reasoning</a:t>
            </a:r>
          </a:p>
        </p:txBody>
      </p:sp>
      <p:sp>
        <p:nvSpPr>
          <p:cNvPr id="9" name="index-3">
            <a:extLst xmlns:a="http://schemas.openxmlformats.org/drawingml/2006/main">
              <a:ext uri="{FF2B5EF4-FFF2-40B4-BE49-F238E27FC236}">
                <a16:creationId xmlns:a16="http://schemas.microsoft.com/office/drawing/2014/main" id="{2823D24C-6712-447F-AD56-0730E596EF83}"/>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CC4C150-72D7-406B-BBD1-F2579F1F84A5}"/>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Students verify sources and write their own submissions</a:t>
            </a:r>
          </a:p>
        </p:txBody>
      </p:sp>
      <p:sp>
        <p:nvSpPr>
          <p:cNvPr id="11" name="footer">
            <a:extLst xmlns:a="http://schemas.openxmlformats.org/drawingml/2006/main">
              <a:ext uri="{FF2B5EF4-FFF2-40B4-BE49-F238E27FC236}">
                <a16:creationId xmlns:a16="http://schemas.microsoft.com/office/drawing/2014/main" id="{FE7DDCF9-1E99-4904-AD38-5570F19393D7}"/>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8F3DCCB8-15D5-43B3-9F5E-2944BE36EA6E}"/>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05</a:t>
            </a:r>
          </a:p>
        </p:txBody>
      </p:sp>
    </p:spTree>
    <p:extLst>
      <p:ext uri="{BB962C8B-B14F-4D97-AF65-F5344CB8AC3E}">
        <p14:creationId xmlns:p14="http://schemas.microsoft.com/office/powerpoint/2010/main" val="1281613581"/>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7864CEF5-B3B0-44ED-BEA8-84530819D02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19 OCT</a:t>
            </a:r>
          </a:p>
        </p:txBody>
      </p:sp>
      <p:sp>
        <p:nvSpPr>
          <p:cNvPr id="2" name="heading">
            <a:extLst xmlns:a="http://schemas.openxmlformats.org/drawingml/2006/main">
              <a:ext uri="{FF2B5EF4-FFF2-40B4-BE49-F238E27FC236}">
                <a16:creationId xmlns:a16="http://schemas.microsoft.com/office/drawing/2014/main" id="{C27A5DE1-202C-4125-B2B1-5AEE4BD76CD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Risk vocabulary</a:t>
            </a:r>
          </a:p>
        </p:txBody>
      </p:sp>
      <p:graphicFrame>
        <p:nvGraphicFramePr>
          <p:cNvPr id="3" name="">
            <a:extLst xmlns:a="http://schemas.openxmlformats.org/drawingml/2006/main">
              <a:ext uri="{FF2B5EF4-FFF2-40B4-BE49-F238E27FC236}">
                <a16:creationId xmlns:a16="http://schemas.microsoft.com/office/drawing/2014/main" id="{9F35DE70-32A7-4035-B298-FA0CF92A8057}"/>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Term</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Meaning</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Bookstore example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Asset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Something of value</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Order records</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Threat event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Potential harmful occurrence</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Account takeover</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Vulnerability</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Exploitable weakness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Shared administrator account</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Impact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Business consequence</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Order-processing disruption</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12A5E4FE-BDB7-48AC-90EA-19072C49AC1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5" name="page">
            <a:extLst xmlns:a="http://schemas.openxmlformats.org/drawingml/2006/main">
              <a:ext uri="{FF2B5EF4-FFF2-40B4-BE49-F238E27FC236}">
                <a16:creationId xmlns:a16="http://schemas.microsoft.com/office/drawing/2014/main" id="{14D01C05-006A-4A59-92C3-BD4CC02382FC}"/>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06</a:t>
            </a:r>
          </a:p>
        </p:txBody>
      </p:sp>
    </p:spTree>
    <p:extLst>
      <p:ext uri="{BB962C8B-B14F-4D97-AF65-F5344CB8AC3E}">
        <p14:creationId xmlns:p14="http://schemas.microsoft.com/office/powerpoint/2010/main" val="2046671149"/>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C79500B-1B7A-4F08-BDF8-FA4DCCA9FDFD}"/>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19 OCT</a:t>
            </a:r>
          </a:p>
        </p:txBody>
      </p:sp>
      <p:sp>
        <p:nvSpPr>
          <p:cNvPr id="2" name="heading">
            <a:extLst xmlns:a="http://schemas.openxmlformats.org/drawingml/2006/main">
              <a:ext uri="{FF2B5EF4-FFF2-40B4-BE49-F238E27FC236}">
                <a16:creationId xmlns:a16="http://schemas.microsoft.com/office/drawing/2014/main" id="{2562BC84-FF82-41EA-8434-0895859B63B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Confidentiality integrity and availability</a:t>
            </a:r>
          </a:p>
        </p:txBody>
      </p:sp>
      <p:sp>
        <p:nvSpPr>
          <p:cNvPr id="3" name="index-0">
            <a:extLst xmlns:a="http://schemas.openxmlformats.org/drawingml/2006/main">
              <a:ext uri="{FF2B5EF4-FFF2-40B4-BE49-F238E27FC236}">
                <a16:creationId xmlns:a16="http://schemas.microsoft.com/office/drawing/2014/main" id="{1687D1F9-0A86-45E6-A252-6071FD5A5DF1}"/>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F4105218-5CD4-44C0-BAC5-0420EDD87CB7}"/>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Confidentiality concerns authorized access</a:t>
            </a:r>
          </a:p>
        </p:txBody>
      </p:sp>
      <p:sp>
        <p:nvSpPr>
          <p:cNvPr id="5" name="index-1">
            <a:extLst xmlns:a="http://schemas.openxmlformats.org/drawingml/2006/main">
              <a:ext uri="{FF2B5EF4-FFF2-40B4-BE49-F238E27FC236}">
                <a16:creationId xmlns:a16="http://schemas.microsoft.com/office/drawing/2014/main" id="{A4F852C3-7535-4AAB-82FC-6F8B7343D6E7}"/>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0C016FD5-7ABD-4C07-8020-B2A665BA4843}"/>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Integrity concerns trustworthy information and changes</a:t>
            </a:r>
          </a:p>
        </p:txBody>
      </p:sp>
      <p:sp>
        <p:nvSpPr>
          <p:cNvPr id="7" name="index-2">
            <a:extLst xmlns:a="http://schemas.openxmlformats.org/drawingml/2006/main">
              <a:ext uri="{FF2B5EF4-FFF2-40B4-BE49-F238E27FC236}">
                <a16:creationId xmlns:a16="http://schemas.microsoft.com/office/drawing/2014/main" id="{F491755C-07AC-45A4-B6A8-65A9905EF844}"/>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4111E1E4-3EA8-4106-8654-F22E2258779B}"/>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Availability concerns usable services when needed</a:t>
            </a:r>
          </a:p>
        </p:txBody>
      </p:sp>
      <p:sp>
        <p:nvSpPr>
          <p:cNvPr id="9" name="index-3">
            <a:extLst xmlns:a="http://schemas.openxmlformats.org/drawingml/2006/main">
              <a:ext uri="{FF2B5EF4-FFF2-40B4-BE49-F238E27FC236}">
                <a16:creationId xmlns:a16="http://schemas.microsoft.com/office/drawing/2014/main" id="{8DD1CCB9-E5DD-408E-B5E0-30AD0C1072D5}"/>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6D7FE25D-BFE4-49D9-AA0F-EAC8175D2918}"/>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One incident can affect several objectives</a:t>
            </a:r>
          </a:p>
        </p:txBody>
      </p:sp>
      <p:sp>
        <p:nvSpPr>
          <p:cNvPr id="11" name="footer">
            <a:extLst xmlns:a="http://schemas.openxmlformats.org/drawingml/2006/main">
              <a:ext uri="{FF2B5EF4-FFF2-40B4-BE49-F238E27FC236}">
                <a16:creationId xmlns:a16="http://schemas.microsoft.com/office/drawing/2014/main" id="{3E7A2441-01FB-4ADF-A16B-6093E96A982F}"/>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DBE96993-A34F-4435-A563-9C36536A35C0}"/>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07</a:t>
            </a:r>
          </a:p>
        </p:txBody>
      </p:sp>
    </p:spTree>
    <p:extLst>
      <p:ext uri="{BB962C8B-B14F-4D97-AF65-F5344CB8AC3E}">
        <p14:creationId xmlns:p14="http://schemas.microsoft.com/office/powerpoint/2010/main" val="71460963"/>
      </p:ext>
    </p:extLst>
  </p:cSld>
</p:sld>
</file>

<file path=ppt/slides/slide8.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39CF4065-8E09-4648-B3B5-ACD8BCC25BC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MONDAY 19 OCT</a:t>
            </a:r>
          </a:p>
        </p:txBody>
      </p:sp>
      <p:sp>
        <p:nvSpPr>
          <p:cNvPr id="2" name="heading">
            <a:extLst xmlns:a="http://schemas.openxmlformats.org/drawingml/2006/main">
              <a:ext uri="{FF2B5EF4-FFF2-40B4-BE49-F238E27FC236}">
                <a16:creationId xmlns:a16="http://schemas.microsoft.com/office/drawing/2014/main" id="{F2E9A92A-6FAF-4440-B95E-129C05B76D3B}"/>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A1 evidence and terminology sort</a:t>
            </a:r>
          </a:p>
        </p:txBody>
      </p:sp>
      <p:sp>
        <p:nvSpPr>
          <p:cNvPr id="3" name="index-0">
            <a:extLst xmlns:a="http://schemas.openxmlformats.org/drawingml/2006/main">
              <a:ext uri="{FF2B5EF4-FFF2-40B4-BE49-F238E27FC236}">
                <a16:creationId xmlns:a16="http://schemas.microsoft.com/office/drawing/2014/main" id="{DB5A3BA2-5DA1-485A-B7D9-4BDAFBD583EC}"/>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E9DAD14-1C74-4AB0-AEAD-87F54542B2A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Classify six statements before comparing answers</a:t>
            </a:r>
          </a:p>
        </p:txBody>
      </p:sp>
      <p:sp>
        <p:nvSpPr>
          <p:cNvPr id="5" name="index-1">
            <a:extLst xmlns:a="http://schemas.openxmlformats.org/drawingml/2006/main">
              <a:ext uri="{FF2B5EF4-FFF2-40B4-BE49-F238E27FC236}">
                <a16:creationId xmlns:a16="http://schemas.microsoft.com/office/drawing/2014/main" id="{FE9BBA93-A5FB-4044-B200-29DB41E68CC0}"/>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437C43B1-CE06-4AF4-8FA1-7CAD539407AE}"/>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Distinguish observation from confirmed compromise</a:t>
            </a:r>
          </a:p>
        </p:txBody>
      </p:sp>
      <p:sp>
        <p:nvSpPr>
          <p:cNvPr id="7" name="index-2">
            <a:extLst xmlns:a="http://schemas.openxmlformats.org/drawingml/2006/main">
              <a:ext uri="{FF2B5EF4-FFF2-40B4-BE49-F238E27FC236}">
                <a16:creationId xmlns:a16="http://schemas.microsoft.com/office/drawing/2014/main" id="{A3313ABC-28C7-45F5-A493-03E6CB033706}"/>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A2E3295B-148F-44C1-A76E-7B64388FDC1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Record one disagreement and resolve it with evidence</a:t>
            </a:r>
          </a:p>
        </p:txBody>
      </p:sp>
      <p:sp>
        <p:nvSpPr>
          <p:cNvPr id="9" name="index-3">
            <a:extLst xmlns:a="http://schemas.openxmlformats.org/drawingml/2006/main">
              <a:ext uri="{FF2B5EF4-FFF2-40B4-BE49-F238E27FC236}">
                <a16:creationId xmlns:a16="http://schemas.microsoft.com/office/drawing/2014/main" id="{DE32B9AC-7528-4E98-ADDC-E55B2BCE43CC}"/>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BD6F296F-21D4-4378-AC14-43C467EF75F8}"/>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20 minutes in pairs</a:t>
            </a:r>
          </a:p>
        </p:txBody>
      </p:sp>
      <p:sp>
        <p:nvSpPr>
          <p:cNvPr id="11" name="footer">
            <a:extLst xmlns:a="http://schemas.openxmlformats.org/drawingml/2006/main">
              <a:ext uri="{FF2B5EF4-FFF2-40B4-BE49-F238E27FC236}">
                <a16:creationId xmlns:a16="http://schemas.microsoft.com/office/drawing/2014/main" id="{3E3F08E1-5E5E-4CFD-A142-E323A5B9537D}"/>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05A839AE-51A1-4E91-9D62-C3BDF859E7A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08</a:t>
            </a:r>
          </a:p>
        </p:txBody>
      </p:sp>
    </p:spTree>
    <p:extLst>
      <p:ext uri="{BB962C8B-B14F-4D97-AF65-F5344CB8AC3E}">
        <p14:creationId xmlns:p14="http://schemas.microsoft.com/office/powerpoint/2010/main" val="1769082664"/>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16F5DE74-2DBC-4007-AADD-EF02EE49AF2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19 OCT</a:t>
            </a:r>
          </a:p>
        </p:txBody>
      </p:sp>
      <p:sp>
        <p:nvSpPr>
          <p:cNvPr id="2" name="heading">
            <a:extLst xmlns:a="http://schemas.openxmlformats.org/drawingml/2006/main">
              <a:ext uri="{FF2B5EF4-FFF2-40B4-BE49-F238E27FC236}">
                <a16:creationId xmlns:a16="http://schemas.microsoft.com/office/drawing/2014/main" id="{609CDD88-2635-4C65-8E9F-2CF81E27D743}"/>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Defense in Depth</a:t>
            </a:r>
          </a:p>
        </p:txBody>
      </p:sp>
      <p:sp>
        <p:nvSpPr>
          <p:cNvPr id="3" name="index-0">
            <a:extLst xmlns:a="http://schemas.openxmlformats.org/drawingml/2006/main">
              <a:ext uri="{FF2B5EF4-FFF2-40B4-BE49-F238E27FC236}">
                <a16:creationId xmlns:a16="http://schemas.microsoft.com/office/drawing/2014/main" id="{36F3412C-1D61-4848-80C8-0083632E2333}"/>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279431EC-753F-4085-8BB9-569E0BF2D8EA}"/>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Different safeguards address different failure paths</a:t>
            </a:r>
          </a:p>
        </p:txBody>
      </p:sp>
      <p:sp>
        <p:nvSpPr>
          <p:cNvPr id="5" name="index-1">
            <a:extLst xmlns:a="http://schemas.openxmlformats.org/drawingml/2006/main">
              <a:ext uri="{FF2B5EF4-FFF2-40B4-BE49-F238E27FC236}">
                <a16:creationId xmlns:a16="http://schemas.microsoft.com/office/drawing/2014/main" id="{966C1541-73DE-4846-98D2-37F26C2700A7}"/>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DD30E82B-DF37-45EB-9069-414EF2BFEC21}"/>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Prevention reduces the chance of an event</a:t>
            </a:r>
          </a:p>
        </p:txBody>
      </p:sp>
      <p:sp>
        <p:nvSpPr>
          <p:cNvPr id="7" name="index-2">
            <a:extLst xmlns:a="http://schemas.openxmlformats.org/drawingml/2006/main">
              <a:ext uri="{FF2B5EF4-FFF2-40B4-BE49-F238E27FC236}">
                <a16:creationId xmlns:a16="http://schemas.microsoft.com/office/drawing/2014/main" id="{60803FA5-38F2-4804-A34A-6CB1B3D5B468}"/>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3F551510-AC2C-4FFF-BB33-1065D93CD794}"/>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Detection supports timely recognition and response</a:t>
            </a:r>
          </a:p>
        </p:txBody>
      </p:sp>
      <p:sp>
        <p:nvSpPr>
          <p:cNvPr id="9" name="index-3">
            <a:extLst xmlns:a="http://schemas.openxmlformats.org/drawingml/2006/main">
              <a:ext uri="{FF2B5EF4-FFF2-40B4-BE49-F238E27FC236}">
                <a16:creationId xmlns:a16="http://schemas.microsoft.com/office/drawing/2014/main" id="{37EB4030-1823-4BA8-91B2-DF0409F9B455}"/>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8BB7136D-DD5C-4493-8A37-578C35C4845F}"/>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Recovery restores usable capabilities</a:t>
            </a:r>
          </a:p>
        </p:txBody>
      </p:sp>
      <p:sp>
        <p:nvSpPr>
          <p:cNvPr id="11" name="footer">
            <a:extLst xmlns:a="http://schemas.openxmlformats.org/drawingml/2006/main">
              <a:ext uri="{FF2B5EF4-FFF2-40B4-BE49-F238E27FC236}">
                <a16:creationId xmlns:a16="http://schemas.microsoft.com/office/drawing/2014/main" id="{54E0478D-A139-4440-B4E8-056344A13829}"/>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A101F1AD-A2C3-4E79-A9EC-0B7BA2C2830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09</a:t>
            </a:r>
          </a:p>
        </p:txBody>
      </p:sp>
    </p:spTree>
    <p:extLst>
      <p:ext uri="{BB962C8B-B14F-4D97-AF65-F5344CB8AC3E}">
        <p14:creationId xmlns:p14="http://schemas.microsoft.com/office/powerpoint/2010/main" val="1686656530"/>
      </p:ext>
    </p:extLst>
  </p:cSld>
</p:sld>
</file>

<file path=ppt/slides/slide10.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A8160FE-036D-48B6-A75E-3F52FCBB1651}"/>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MONDAY 19 OCT</a:t>
            </a:r>
          </a:p>
        </p:txBody>
      </p:sp>
      <p:sp>
        <p:nvSpPr>
          <p:cNvPr id="2" name="heading">
            <a:extLst xmlns:a="http://schemas.openxmlformats.org/drawingml/2006/main">
              <a:ext uri="{FF2B5EF4-FFF2-40B4-BE49-F238E27FC236}">
                <a16:creationId xmlns:a16="http://schemas.microsoft.com/office/drawing/2014/main" id="{93234DCB-38A0-4624-8AFE-8C0D165345B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A2 complementary control choices</a:t>
            </a:r>
          </a:p>
        </p:txBody>
      </p:sp>
      <p:sp>
        <p:nvSpPr>
          <p:cNvPr id="3" name="index-0">
            <a:extLst xmlns:a="http://schemas.openxmlformats.org/drawingml/2006/main">
              <a:ext uri="{FF2B5EF4-FFF2-40B4-BE49-F238E27FC236}">
                <a16:creationId xmlns:a16="http://schemas.microsoft.com/office/drawing/2014/main" id="{F2C6E733-16B9-437F-96A9-7A0F10CFDE8A}"/>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CB8D7970-B8F9-423E-9D82-9FE30DE1299D}"/>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Select three safeguards for account compromise</a:t>
            </a:r>
          </a:p>
        </p:txBody>
      </p:sp>
      <p:sp>
        <p:nvSpPr>
          <p:cNvPr id="5" name="index-1">
            <a:extLst xmlns:a="http://schemas.openxmlformats.org/drawingml/2006/main">
              <a:ext uri="{FF2B5EF4-FFF2-40B4-BE49-F238E27FC236}">
                <a16:creationId xmlns:a16="http://schemas.microsoft.com/office/drawing/2014/main" id="{1654293B-BB23-4950-9189-2370D21D384E}"/>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E467B168-5531-467D-8C08-9AE23A46C803}"/>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Explain each function and one dependency</a:t>
            </a:r>
          </a:p>
        </p:txBody>
      </p:sp>
      <p:sp>
        <p:nvSpPr>
          <p:cNvPr id="7" name="index-2">
            <a:extLst xmlns:a="http://schemas.openxmlformats.org/drawingml/2006/main">
              <a:ext uri="{FF2B5EF4-FFF2-40B4-BE49-F238E27FC236}">
                <a16:creationId xmlns:a16="http://schemas.microsoft.com/office/drawing/2014/main" id="{66050643-C97B-4ACC-83E5-5EF1295ED927}"/>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0FB80B66-D49C-433F-9E43-2ECDC182FA6D}"/>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Identify evidence that each safeguard operates</a:t>
            </a:r>
          </a:p>
        </p:txBody>
      </p:sp>
      <p:sp>
        <p:nvSpPr>
          <p:cNvPr id="9" name="index-3">
            <a:extLst xmlns:a="http://schemas.openxmlformats.org/drawingml/2006/main">
              <a:ext uri="{FF2B5EF4-FFF2-40B4-BE49-F238E27FC236}">
                <a16:creationId xmlns:a16="http://schemas.microsoft.com/office/drawing/2014/main" id="{4F3EF2BD-463C-45F9-9AE4-7946C3ED5F9A}"/>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E5F4310D-3F44-4751-9F54-8ECA82777524}"/>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including peer challenge</a:t>
            </a:r>
          </a:p>
        </p:txBody>
      </p:sp>
      <p:sp>
        <p:nvSpPr>
          <p:cNvPr id="11" name="footer">
            <a:extLst xmlns:a="http://schemas.openxmlformats.org/drawingml/2006/main">
              <a:ext uri="{FF2B5EF4-FFF2-40B4-BE49-F238E27FC236}">
                <a16:creationId xmlns:a16="http://schemas.microsoft.com/office/drawing/2014/main" id="{34D7DF3A-300A-4C6B-994B-11866D9F8930}"/>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E196AA47-EEDF-46F5-B7A1-14CFFB1377D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10</a:t>
            </a:r>
          </a:p>
        </p:txBody>
      </p:sp>
    </p:spTree>
    <p:extLst>
      <p:ext uri="{BB962C8B-B14F-4D97-AF65-F5344CB8AC3E}">
        <p14:creationId xmlns:p14="http://schemas.microsoft.com/office/powerpoint/2010/main" val="1873061315"/>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32778CB-8450-40BF-A1F1-1A05559D7DC9}"/>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19 OCT</a:t>
            </a:r>
          </a:p>
        </p:txBody>
      </p:sp>
      <p:sp>
        <p:nvSpPr>
          <p:cNvPr id="2" name="heading">
            <a:extLst xmlns:a="http://schemas.openxmlformats.org/drawingml/2006/main">
              <a:ext uri="{FF2B5EF4-FFF2-40B4-BE49-F238E27FC236}">
                <a16:creationId xmlns:a16="http://schemas.microsoft.com/office/drawing/2014/main" id="{27A0FE88-E089-46AC-A9B8-C942537F3A11}"/>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Seven domains of IT infrastructure</a:t>
            </a:r>
          </a:p>
        </p:txBody>
      </p:sp>
      <p:sp>
        <p:nvSpPr>
          <p:cNvPr id="3" name="index-0">
            <a:extLst xmlns:a="http://schemas.openxmlformats.org/drawingml/2006/main">
              <a:ext uri="{FF2B5EF4-FFF2-40B4-BE49-F238E27FC236}">
                <a16:creationId xmlns:a16="http://schemas.microsoft.com/office/drawing/2014/main" id="{FA0A9564-92F8-475B-9BBF-4E4BD8CB966F}"/>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2EED5387-27E2-4AC9-8211-37E916D8EA12}"/>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User and workstation domains</a:t>
            </a:r>
          </a:p>
        </p:txBody>
      </p:sp>
      <p:sp>
        <p:nvSpPr>
          <p:cNvPr id="5" name="index-1">
            <a:extLst xmlns:a="http://schemas.openxmlformats.org/drawingml/2006/main">
              <a:ext uri="{FF2B5EF4-FFF2-40B4-BE49-F238E27FC236}">
                <a16:creationId xmlns:a16="http://schemas.microsoft.com/office/drawing/2014/main" id="{2EDD2031-F88B-4B7D-9E7B-5ADCA4DD4A33}"/>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A89803C9-2E81-4C75-9A6F-B209502C8CF1}"/>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LAN and LAN-to-WAN domains</a:t>
            </a:r>
          </a:p>
        </p:txBody>
      </p:sp>
      <p:sp>
        <p:nvSpPr>
          <p:cNvPr id="7" name="index-2">
            <a:extLst xmlns:a="http://schemas.openxmlformats.org/drawingml/2006/main">
              <a:ext uri="{FF2B5EF4-FFF2-40B4-BE49-F238E27FC236}">
                <a16:creationId xmlns:a16="http://schemas.microsoft.com/office/drawing/2014/main" id="{9320C5B0-93E2-40F0-A9B5-1FA57FEC7701}"/>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271942A-BFA0-4D6C-B27B-274B4922173B}"/>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WAN and remote access domains</a:t>
            </a:r>
          </a:p>
        </p:txBody>
      </p:sp>
      <p:sp>
        <p:nvSpPr>
          <p:cNvPr id="9" name="index-3">
            <a:extLst xmlns:a="http://schemas.openxmlformats.org/drawingml/2006/main">
              <a:ext uri="{FF2B5EF4-FFF2-40B4-BE49-F238E27FC236}">
                <a16:creationId xmlns:a16="http://schemas.microsoft.com/office/drawing/2014/main" id="{7A54B761-816F-4AD6-B5AD-D66B71E39C8E}"/>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894907A2-7A91-4EBE-B125-AC21CD518BD9}"/>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System and application domain</a:t>
            </a:r>
          </a:p>
        </p:txBody>
      </p:sp>
      <p:sp>
        <p:nvSpPr>
          <p:cNvPr id="11" name="footer">
            <a:extLst xmlns:a="http://schemas.openxmlformats.org/drawingml/2006/main">
              <a:ext uri="{FF2B5EF4-FFF2-40B4-BE49-F238E27FC236}">
                <a16:creationId xmlns:a16="http://schemas.microsoft.com/office/drawing/2014/main" id="{90DBAF59-1A60-4830-83BB-D1854C756FF7}"/>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8E5DA168-2554-435C-BB00-2468F16D6CF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11</a:t>
            </a:r>
          </a:p>
        </p:txBody>
      </p:sp>
    </p:spTree>
    <p:extLst>
      <p:ext uri="{BB962C8B-B14F-4D97-AF65-F5344CB8AC3E}">
        <p14:creationId xmlns:p14="http://schemas.microsoft.com/office/powerpoint/2010/main" val="1359546803"/>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73091CE-C025-4100-8358-E63F3B9E7FF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MONDAY 19 OCT</a:t>
            </a:r>
          </a:p>
        </p:txBody>
      </p:sp>
      <p:sp>
        <p:nvSpPr>
          <p:cNvPr id="2" name="heading">
            <a:extLst xmlns:a="http://schemas.openxmlformats.org/drawingml/2006/main">
              <a:ext uri="{FF2B5EF4-FFF2-40B4-BE49-F238E27FC236}">
                <a16:creationId xmlns:a16="http://schemas.microsoft.com/office/drawing/2014/main" id="{C5D20D8D-95A7-44CE-97F2-DD4E56CB3B80}"/>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Monday exit and next steps</a:t>
            </a:r>
          </a:p>
        </p:txBody>
      </p:sp>
      <p:sp>
        <p:nvSpPr>
          <p:cNvPr id="3" name="index-0">
            <a:extLst xmlns:a="http://schemas.openxmlformats.org/drawingml/2006/main">
              <a:ext uri="{FF2B5EF4-FFF2-40B4-BE49-F238E27FC236}">
                <a16:creationId xmlns:a16="http://schemas.microsoft.com/office/drawing/2014/main" id="{83C8423E-EF5D-4808-B481-2C8ED1C3DC46}"/>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EF04C737-ECE0-4ECA-902F-031332435CC1}"/>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Threat event versus vulnerability</a:t>
            </a:r>
          </a:p>
        </p:txBody>
      </p:sp>
      <p:sp>
        <p:nvSpPr>
          <p:cNvPr id="5" name="index-1">
            <a:extLst xmlns:a="http://schemas.openxmlformats.org/drawingml/2006/main">
              <a:ext uri="{FF2B5EF4-FFF2-40B4-BE49-F238E27FC236}">
                <a16:creationId xmlns:a16="http://schemas.microsoft.com/office/drawing/2014/main" id="{BFDB11CC-5560-4C21-8EF2-C661970A0F92}"/>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08140D74-1475-4AC2-8760-18E7232D31B1}"/>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Backups versus phishing prevention</a:t>
            </a:r>
          </a:p>
        </p:txBody>
      </p:sp>
      <p:sp>
        <p:nvSpPr>
          <p:cNvPr id="7" name="index-2">
            <a:extLst xmlns:a="http://schemas.openxmlformats.org/drawingml/2006/main">
              <a:ext uri="{FF2B5EF4-FFF2-40B4-BE49-F238E27FC236}">
                <a16:creationId xmlns:a16="http://schemas.microsoft.com/office/drawing/2014/main" id="{A6855FED-6100-4DD2-98AA-39ACB513BE1A}"/>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E77A53BD-4471-453B-909D-0AB4F6A8AA7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One unanswered evidence question</a:t>
            </a:r>
          </a:p>
        </p:txBody>
      </p:sp>
      <p:sp>
        <p:nvSpPr>
          <p:cNvPr id="9" name="index-3">
            <a:extLst xmlns:a="http://schemas.openxmlformats.org/drawingml/2006/main">
              <a:ext uri="{FF2B5EF4-FFF2-40B4-BE49-F238E27FC236}">
                <a16:creationId xmlns:a16="http://schemas.microsoft.com/office/drawing/2014/main" id="{6E586CE9-6D3A-429F-9D41-6B13FB9DB67D}"/>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8BB826FA-C485-4ACC-AF8A-8020358D537C}"/>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Prepare for threats and vulnerabilities tomorrow</a:t>
            </a:r>
          </a:p>
        </p:txBody>
      </p:sp>
      <p:sp>
        <p:nvSpPr>
          <p:cNvPr id="11" name="footer">
            <a:extLst xmlns:a="http://schemas.openxmlformats.org/drawingml/2006/main">
              <a:ext uri="{FF2B5EF4-FFF2-40B4-BE49-F238E27FC236}">
                <a16:creationId xmlns:a16="http://schemas.microsoft.com/office/drawing/2014/main" id="{C959B6E9-B974-4BF7-823E-67DA2DABA70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2ACB63AE-1836-4EC3-A0DD-231763F08FDF}"/>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12</a:t>
            </a:r>
          </a:p>
        </p:txBody>
      </p:sp>
    </p:spTree>
    <p:extLst>
      <p:ext uri="{BB962C8B-B14F-4D97-AF65-F5344CB8AC3E}">
        <p14:creationId xmlns:p14="http://schemas.microsoft.com/office/powerpoint/2010/main" val="188881771"/>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51AA9BD-2FFB-416F-91D7-FE1C33F863F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20 OCT</a:t>
            </a:r>
          </a:p>
        </p:txBody>
      </p:sp>
      <p:sp>
        <p:nvSpPr>
          <p:cNvPr id="2" name="heading">
            <a:extLst xmlns:a="http://schemas.openxmlformats.org/drawingml/2006/main">
              <a:ext uri="{FF2B5EF4-FFF2-40B4-BE49-F238E27FC236}">
                <a16:creationId xmlns:a16="http://schemas.microsoft.com/office/drawing/2014/main" id="{F9BABE76-0C58-4888-83E3-A2CD140B721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Tuesday learning route</a:t>
            </a:r>
          </a:p>
        </p:txBody>
      </p:sp>
      <p:sp>
        <p:nvSpPr>
          <p:cNvPr id="3" name="index-0">
            <a:extLst xmlns:a="http://schemas.openxmlformats.org/drawingml/2006/main">
              <a:ext uri="{FF2B5EF4-FFF2-40B4-BE49-F238E27FC236}">
                <a16:creationId xmlns:a16="http://schemas.microsoft.com/office/drawing/2014/main" id="{10813549-3AA1-4FCF-9B14-307F1ED922CD}"/>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4C46530B-881A-4EB1-89A3-ABCD246B48F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Threat sources events and weaknesses</a:t>
            </a:r>
          </a:p>
        </p:txBody>
      </p:sp>
      <p:sp>
        <p:nvSpPr>
          <p:cNvPr id="5" name="index-1">
            <a:extLst xmlns:a="http://schemas.openxmlformats.org/drawingml/2006/main">
              <a:ext uri="{FF2B5EF4-FFF2-40B4-BE49-F238E27FC236}">
                <a16:creationId xmlns:a16="http://schemas.microsoft.com/office/drawing/2014/main" id="{8379A609-21AA-421E-B249-B5D70D203250}"/>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15BAC7C-5933-4DF8-90F0-32C75BD4FDC2}"/>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A3 risk statement clinic</a:t>
            </a:r>
          </a:p>
        </p:txBody>
      </p:sp>
      <p:sp>
        <p:nvSpPr>
          <p:cNvPr id="7" name="index-2">
            <a:extLst xmlns:a="http://schemas.openxmlformats.org/drawingml/2006/main">
              <a:ext uri="{FF2B5EF4-FFF2-40B4-BE49-F238E27FC236}">
                <a16:creationId xmlns:a16="http://schemas.microsoft.com/office/drawing/2014/main" id="{860BB7DE-005C-4319-843B-220234F46B51}"/>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3B568151-2B5C-4447-906E-E17BA18BE4B1}"/>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Practice scoring and treatment choices</a:t>
            </a:r>
          </a:p>
        </p:txBody>
      </p:sp>
      <p:sp>
        <p:nvSpPr>
          <p:cNvPr id="9" name="index-3">
            <a:extLst xmlns:a="http://schemas.openxmlformats.org/drawingml/2006/main">
              <a:ext uri="{FF2B5EF4-FFF2-40B4-BE49-F238E27FC236}">
                <a16:creationId xmlns:a16="http://schemas.microsoft.com/office/drawing/2014/main" id="{0309DE14-72E0-4A58-8299-1FA32F88AEE5}"/>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AD574C82-1149-4BF3-9813-7B18DE18B2AF}"/>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A4 evidence for a treatment decision</a:t>
            </a:r>
          </a:p>
        </p:txBody>
      </p:sp>
      <p:sp>
        <p:nvSpPr>
          <p:cNvPr id="11" name="footer">
            <a:extLst xmlns:a="http://schemas.openxmlformats.org/drawingml/2006/main">
              <a:ext uri="{FF2B5EF4-FFF2-40B4-BE49-F238E27FC236}">
                <a16:creationId xmlns:a16="http://schemas.microsoft.com/office/drawing/2014/main" id="{DC7902CF-35D5-4587-87F8-DDB88C1A3A1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1BC6B9B3-DC07-41CF-8603-49FE3790980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13</a:t>
            </a:r>
          </a:p>
        </p:txBody>
      </p:sp>
    </p:spTree>
    <p:extLst>
      <p:ext uri="{BB962C8B-B14F-4D97-AF65-F5344CB8AC3E}">
        <p14:creationId xmlns:p14="http://schemas.microsoft.com/office/powerpoint/2010/main" val="1345508628"/>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95BA43FC-AA57-4819-A1D4-A51284E2397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20 OCT</a:t>
            </a:r>
          </a:p>
        </p:txBody>
      </p:sp>
      <p:sp>
        <p:nvSpPr>
          <p:cNvPr id="2" name="heading">
            <a:extLst xmlns:a="http://schemas.openxmlformats.org/drawingml/2006/main">
              <a:ext uri="{FF2B5EF4-FFF2-40B4-BE49-F238E27FC236}">
                <a16:creationId xmlns:a16="http://schemas.microsoft.com/office/drawing/2014/main" id="{A3BE0A24-2084-4FE5-8F7F-E744D33A7B6D}"/>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Threat sources and events</a:t>
            </a:r>
          </a:p>
        </p:txBody>
      </p:sp>
      <p:sp>
        <p:nvSpPr>
          <p:cNvPr id="3" name="index-0">
            <a:extLst xmlns:a="http://schemas.openxmlformats.org/drawingml/2006/main">
              <a:ext uri="{FF2B5EF4-FFF2-40B4-BE49-F238E27FC236}">
                <a16:creationId xmlns:a16="http://schemas.microsoft.com/office/drawing/2014/main" id="{A1CDF185-9F4A-4990-B26A-D30F4C01B577}"/>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4B54DE30-558A-4F6F-9239-50389037F41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Intentional actions can exploit weaknesses</a:t>
            </a:r>
          </a:p>
        </p:txBody>
      </p:sp>
      <p:sp>
        <p:nvSpPr>
          <p:cNvPr id="5" name="index-1">
            <a:extLst xmlns:a="http://schemas.openxmlformats.org/drawingml/2006/main">
              <a:ext uri="{FF2B5EF4-FFF2-40B4-BE49-F238E27FC236}">
                <a16:creationId xmlns:a16="http://schemas.microsoft.com/office/drawing/2014/main" id="{8F0EE99A-9514-434C-959F-2E5F2700CA2C}"/>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A9F0704A-C054-4038-A0B3-782C2AA23B65}"/>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Accidental actions can cause harmful changes</a:t>
            </a:r>
          </a:p>
        </p:txBody>
      </p:sp>
      <p:sp>
        <p:nvSpPr>
          <p:cNvPr id="7" name="index-2">
            <a:extLst xmlns:a="http://schemas.openxmlformats.org/drawingml/2006/main">
              <a:ext uri="{FF2B5EF4-FFF2-40B4-BE49-F238E27FC236}">
                <a16:creationId xmlns:a16="http://schemas.microsoft.com/office/drawing/2014/main" id="{1B9EB21C-12C0-4DEA-A144-E062A384BFE2}"/>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FB20B05-3618-4310-B90C-DFBA9A877D8C}"/>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Environmental events can disrupt services</a:t>
            </a:r>
          </a:p>
        </p:txBody>
      </p:sp>
      <p:sp>
        <p:nvSpPr>
          <p:cNvPr id="9" name="index-3">
            <a:extLst xmlns:a="http://schemas.openxmlformats.org/drawingml/2006/main">
              <a:ext uri="{FF2B5EF4-FFF2-40B4-BE49-F238E27FC236}">
                <a16:creationId xmlns:a16="http://schemas.microsoft.com/office/drawing/2014/main" id="{7039802C-B89D-462F-AB2C-E558BCFDE224}"/>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6BC6637B-94DD-495B-95C4-50A8C1E90F8D}"/>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Exposure and context influence consequences</a:t>
            </a:r>
          </a:p>
        </p:txBody>
      </p:sp>
      <p:sp>
        <p:nvSpPr>
          <p:cNvPr id="11" name="footer">
            <a:extLst xmlns:a="http://schemas.openxmlformats.org/drawingml/2006/main">
              <a:ext uri="{FF2B5EF4-FFF2-40B4-BE49-F238E27FC236}">
                <a16:creationId xmlns:a16="http://schemas.microsoft.com/office/drawing/2014/main" id="{E93C0724-BAF2-4D6C-817D-71D76C920D9D}"/>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3193596B-4A6B-4801-8CD0-E0B92C8FCB52}"/>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14</a:t>
            </a:r>
          </a:p>
        </p:txBody>
      </p:sp>
    </p:spTree>
    <p:extLst>
      <p:ext uri="{BB962C8B-B14F-4D97-AF65-F5344CB8AC3E}">
        <p14:creationId xmlns:p14="http://schemas.microsoft.com/office/powerpoint/2010/main" val="1398886159"/>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116B8CB1-C164-4887-88A6-31275283CA51}"/>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20 OCT</a:t>
            </a:r>
          </a:p>
        </p:txBody>
      </p:sp>
      <p:sp>
        <p:nvSpPr>
          <p:cNvPr id="2" name="heading">
            <a:extLst xmlns:a="http://schemas.openxmlformats.org/drawingml/2006/main">
              <a:ext uri="{FF2B5EF4-FFF2-40B4-BE49-F238E27FC236}">
                <a16:creationId xmlns:a16="http://schemas.microsoft.com/office/drawing/2014/main" id="{81A246FB-F2EC-4D2C-990F-7E24983F4365}"/>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Evidence along an attack path</a:t>
            </a:r>
          </a:p>
        </p:txBody>
      </p:sp>
      <p:graphicFrame>
        <p:nvGraphicFramePr>
          <p:cNvPr id="3" name="">
            <a:extLst xmlns:a="http://schemas.openxmlformats.org/drawingml/2006/main">
              <a:ext uri="{FF2B5EF4-FFF2-40B4-BE49-F238E27FC236}">
                <a16:creationId xmlns:a16="http://schemas.microsoft.com/office/drawing/2014/main" id="{4BBF822C-0222-4D83-9EB5-F1242C3FA689}"/>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869156">
                <a:tc>
                  <a:txBody>
                    <a:bodyPr/>
                    <a:lstStyle/>
                    <a:p>
                      <a:r>
                        <a:rPr sz="1725" b="1">
                          <a:solidFill>
                            <a:srgbClr val="FFFFFF"/>
                          </a:solidFill>
                          <a:latin typeface="Arial"/>
                          <a:ea typeface="Arial"/>
                          <a:cs typeface="Arial"/>
                        </a:rPr>
                        <a:t>Observed fact</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Supported inference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Still unknown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869156">
                <a:tc>
                  <a:txBody>
                    <a:bodyPr/>
                    <a:lstStyle/>
                    <a:p>
                      <a:r>
                        <a:rPr sz="1725" b="0">
                          <a:solidFill>
                            <a:srgbClr val="102F40"/>
                          </a:solidFill>
                          <a:latin typeface="Arial"/>
                          <a:ea typeface="Arial"/>
                          <a:cs typeface="Arial"/>
                        </a:rPr>
                        <a:t>Failed remote logins</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Someone or something attempted access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Whether any access succeeded</a:t>
                      </a:r>
                    </a:p>
                  </a:txBody>
                  <a:tcPr marL="91440" marR="91440" marT="45720" marB="45720">
                    <a:lnR w="9525">
                      <a:solidFill>
                        <a:srgbClr val="CBD5DA"/>
                      </a:solidFill>
                      <a:prstDash val="solid"/>
                    </a:lnR>
                    <a:lnB w="9525">
                      <a:solidFill>
                        <a:srgbClr val="CBD5DA"/>
                      </a:solidFill>
                      <a:prstDash val="solid"/>
                    </a:lnB>
                    <a:solidFill>
                      <a:srgbClr val="FFFFFF"/>
                    </a:solidFill>
                  </a:tcPr>
                </a:tc>
              </a:tr>
              <a:tr h="869156">
                <a:tc>
                  <a:txBody>
                    <a:bodyPr/>
                    <a:lstStyle/>
                    <a:p>
                      <a:r>
                        <a:rPr sz="1725" b="0">
                          <a:solidFill>
                            <a:srgbClr val="102F40"/>
                          </a:solidFill>
                          <a:latin typeface="Arial"/>
                          <a:ea typeface="Arial"/>
                          <a:cs typeface="Arial"/>
                        </a:rPr>
                        <a:t>Shared admin account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Individual attribution is harder</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Who used it at a given time</a:t>
                      </a:r>
                    </a:p>
                  </a:txBody>
                  <a:tcPr marL="91440" marR="91440" marT="45720" marB="45720">
                    <a:lnR w="9525">
                      <a:solidFill>
                        <a:srgbClr val="CBD5DA"/>
                      </a:solidFill>
                      <a:prstDash val="solid"/>
                    </a:lnR>
                    <a:lnB w="9525">
                      <a:solidFill>
                        <a:srgbClr val="CBD5DA"/>
                      </a:solidFill>
                      <a:prstDash val="solid"/>
                    </a:lnB>
                    <a:solidFill>
                      <a:srgbClr val="EBF0F2"/>
                    </a:solidFill>
                  </a:tcPr>
                </a:tc>
              </a:tr>
              <a:tr h="869156">
                <a:tc>
                  <a:txBody>
                    <a:bodyPr/>
                    <a:lstStyle/>
                    <a:p>
                      <a:r>
                        <a:rPr sz="1725" b="0">
                          <a:solidFill>
                            <a:srgbClr val="102F40"/>
                          </a:solidFill>
                          <a:latin typeface="Arial"/>
                          <a:ea typeface="Arial"/>
                          <a:cs typeface="Arial"/>
                        </a:rPr>
                        <a:t>Backup job success</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Job reported completion</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Whether business data restores correctly</a:t>
                      </a:r>
                    </a:p>
                  </a:txBody>
                  <a:tcPr marL="91440" marR="91440" marT="45720" marB="45720">
                    <a:lnR w="9525">
                      <a:solidFill>
                        <a:srgbClr val="CBD5DA"/>
                      </a:solidFill>
                      <a:prstDash val="solid"/>
                    </a:lnR>
                    <a:lnB w="9525">
                      <a:solidFill>
                        <a:srgbClr val="CBD5DA"/>
                      </a:solidFill>
                      <a:prstDash val="solid"/>
                    </a:lnB>
                    <a:solidFill>
                      <a:srgbClr val="FFFFFF"/>
                    </a:solidFill>
                  </a:tcPr>
                </a:tc>
              </a:tr>
            </a:tbl>
          </a:graphicData>
        </a:graphic>
      </p:graphicFrame>
      <p:sp>
        <p:nvSpPr>
          <p:cNvPr id="4" name="footer">
            <a:extLst xmlns:a="http://schemas.openxmlformats.org/drawingml/2006/main">
              <a:ext uri="{FF2B5EF4-FFF2-40B4-BE49-F238E27FC236}">
                <a16:creationId xmlns:a16="http://schemas.microsoft.com/office/drawing/2014/main" id="{841DA5B3-7950-4C69-848A-5B1355FFE9AD}"/>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5" name="page">
            <a:extLst xmlns:a="http://schemas.openxmlformats.org/drawingml/2006/main">
              <a:ext uri="{FF2B5EF4-FFF2-40B4-BE49-F238E27FC236}">
                <a16:creationId xmlns:a16="http://schemas.microsoft.com/office/drawing/2014/main" id="{EE76F5E6-CBDC-4134-83C7-DA59DA1C7EAC}"/>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15</a:t>
            </a:r>
          </a:p>
        </p:txBody>
      </p:sp>
    </p:spTree>
    <p:extLst>
      <p:ext uri="{BB962C8B-B14F-4D97-AF65-F5344CB8AC3E}">
        <p14:creationId xmlns:p14="http://schemas.microsoft.com/office/powerpoint/2010/main" val="29235717"/>
      </p:ext>
    </p:extLst>
  </p:cSld>
</p:sld>
</file>

<file path=ppt/slides/slide16.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8375EDCA-1483-4301-9DF0-5AC8F0E633D2}"/>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TUESDAY 20 OCT</a:t>
            </a:r>
          </a:p>
        </p:txBody>
      </p:sp>
      <p:sp>
        <p:nvSpPr>
          <p:cNvPr id="2" name="heading">
            <a:extLst xmlns:a="http://schemas.openxmlformats.org/drawingml/2006/main">
              <a:ext uri="{FF2B5EF4-FFF2-40B4-BE49-F238E27FC236}">
                <a16:creationId xmlns:a16="http://schemas.microsoft.com/office/drawing/2014/main" id="{8D8BDAD7-6686-4B8D-B890-977AA077B76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A3 risk statement clinic</a:t>
            </a:r>
          </a:p>
        </p:txBody>
      </p:sp>
      <p:sp>
        <p:nvSpPr>
          <p:cNvPr id="3" name="index-0">
            <a:extLst xmlns:a="http://schemas.openxmlformats.org/drawingml/2006/main">
              <a:ext uri="{FF2B5EF4-FFF2-40B4-BE49-F238E27FC236}">
                <a16:creationId xmlns:a16="http://schemas.microsoft.com/office/drawing/2014/main" id="{13C38B8A-FEAF-4D83-8F04-BFD6A98472B8}"/>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1BA4BB0-951F-40AE-8893-5ACF36DC3C38}"/>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one condition and related event</a:t>
            </a:r>
          </a:p>
        </p:txBody>
      </p:sp>
      <p:sp>
        <p:nvSpPr>
          <p:cNvPr id="5" name="index-1">
            <a:extLst xmlns:a="http://schemas.openxmlformats.org/drawingml/2006/main">
              <a:ext uri="{FF2B5EF4-FFF2-40B4-BE49-F238E27FC236}">
                <a16:creationId xmlns:a16="http://schemas.microsoft.com/office/drawing/2014/main" id="{ABEDCBEE-82F4-42B4-84A3-BE41EC1A4E64}"/>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BACAC6C-CDD0-4E5C-97EA-B3344A412E62}"/>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Connect them to a business consequence</a:t>
            </a:r>
          </a:p>
        </p:txBody>
      </p:sp>
      <p:sp>
        <p:nvSpPr>
          <p:cNvPr id="7" name="index-2">
            <a:extLst xmlns:a="http://schemas.openxmlformats.org/drawingml/2006/main">
              <a:ext uri="{FF2B5EF4-FFF2-40B4-BE49-F238E27FC236}">
                <a16:creationId xmlns:a16="http://schemas.microsoft.com/office/drawing/2014/main" id="{56515493-0716-4779-9042-F2C965254574}"/>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49A090CD-C871-4424-A94B-D48230FBA0C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Underline facts and label assumptions</a:t>
            </a:r>
          </a:p>
        </p:txBody>
      </p:sp>
      <p:sp>
        <p:nvSpPr>
          <p:cNvPr id="9" name="index-3">
            <a:extLst xmlns:a="http://schemas.openxmlformats.org/drawingml/2006/main">
              <a:ext uri="{FF2B5EF4-FFF2-40B4-BE49-F238E27FC236}">
                <a16:creationId xmlns:a16="http://schemas.microsoft.com/office/drawing/2014/main" id="{C21C96C6-5177-4717-9F82-92868225D193}"/>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C5CA056B-F29C-4599-BDCD-076A34BEE21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20 minutes with peer review</a:t>
            </a:r>
          </a:p>
        </p:txBody>
      </p:sp>
      <p:sp>
        <p:nvSpPr>
          <p:cNvPr id="11" name="footer">
            <a:extLst xmlns:a="http://schemas.openxmlformats.org/drawingml/2006/main">
              <a:ext uri="{FF2B5EF4-FFF2-40B4-BE49-F238E27FC236}">
                <a16:creationId xmlns:a16="http://schemas.microsoft.com/office/drawing/2014/main" id="{DED0BB90-7E93-4DEE-A46A-2D1594F0C6BD}"/>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18A73636-5D47-4E4F-BE92-7DBD3A979B4E}"/>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16</a:t>
            </a:r>
          </a:p>
        </p:txBody>
      </p:sp>
    </p:spTree>
    <p:extLst>
      <p:ext uri="{BB962C8B-B14F-4D97-AF65-F5344CB8AC3E}">
        <p14:creationId xmlns:p14="http://schemas.microsoft.com/office/powerpoint/2010/main" val="4566076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BDD297C6-A562-43F6-98A8-281C99F3BBBA}"/>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20 OCT</a:t>
            </a:r>
          </a:p>
        </p:txBody>
      </p:sp>
      <p:sp>
        <p:nvSpPr>
          <p:cNvPr id="2" name="heading">
            <a:extLst xmlns:a="http://schemas.openxmlformats.org/drawingml/2006/main">
              <a:ext uri="{FF2B5EF4-FFF2-40B4-BE49-F238E27FC236}">
                <a16:creationId xmlns:a16="http://schemas.microsoft.com/office/drawing/2014/main" id="{B2548CFA-2DCE-42AB-A39D-E3DFA107696D}"/>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Risk treatment choices</a:t>
            </a:r>
          </a:p>
        </p:txBody>
      </p:sp>
      <p:graphicFrame>
        <p:nvGraphicFramePr>
          <p:cNvPr id="3" name="">
            <a:extLst xmlns:a="http://schemas.openxmlformats.org/drawingml/2006/main">
              <a:ext uri="{FF2B5EF4-FFF2-40B4-BE49-F238E27FC236}">
                <a16:creationId xmlns:a16="http://schemas.microsoft.com/office/drawing/2014/main" id="{3B07B9CE-4D4B-440E-85DA-D4B8701F7F9B}"/>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Choice</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Decision focus</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Question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Avoid</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Change or stop the activity</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Can we remove the exposure?</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Reduce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Alter likelihood or consequences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Which safeguard addresses the mechanism?</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Share</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Allocate specified consequences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What remains our responsibility?</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Accept</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Retain risk with authority</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Who approves and when is it reviewed?</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E22569BE-A785-4000-AD24-507708EEB78F}"/>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5" name="page">
            <a:extLst xmlns:a="http://schemas.openxmlformats.org/drawingml/2006/main">
              <a:ext uri="{FF2B5EF4-FFF2-40B4-BE49-F238E27FC236}">
                <a16:creationId xmlns:a16="http://schemas.microsoft.com/office/drawing/2014/main" id="{3AB69093-533A-4E83-B0B4-30144DB520A2}"/>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17</a:t>
            </a:r>
          </a:p>
        </p:txBody>
      </p:sp>
    </p:spTree>
    <p:extLst>
      <p:ext uri="{BB962C8B-B14F-4D97-AF65-F5344CB8AC3E}">
        <p14:creationId xmlns:p14="http://schemas.microsoft.com/office/powerpoint/2010/main" val="775874114"/>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17ABA321-446A-4C75-BC25-4D9C44DDFB95}"/>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20 OCT</a:t>
            </a:r>
          </a:p>
        </p:txBody>
      </p:sp>
      <p:sp>
        <p:nvSpPr>
          <p:cNvPr id="2" name="heading">
            <a:extLst xmlns:a="http://schemas.openxmlformats.org/drawingml/2006/main">
              <a:ext uri="{FF2B5EF4-FFF2-40B4-BE49-F238E27FC236}">
                <a16:creationId xmlns:a16="http://schemas.microsoft.com/office/drawing/2014/main" id="{95CF524E-EB33-419B-853E-3DA381148CC5}"/>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Practice scoring assumptions</a:t>
            </a:r>
          </a:p>
        </p:txBody>
      </p:sp>
      <p:sp>
        <p:nvSpPr>
          <p:cNvPr id="3" name="index-0">
            <a:extLst xmlns:a="http://schemas.openxmlformats.org/drawingml/2006/main">
              <a:ext uri="{FF2B5EF4-FFF2-40B4-BE49-F238E27FC236}">
                <a16:creationId xmlns:a16="http://schemas.microsoft.com/office/drawing/2014/main" id="{D2B04316-08D8-44C1-9913-DD958A2C01AE}"/>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2C69FC8A-72A5-4A7A-9DF3-70FB9AA33FCD}"/>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Likelihood uses an exercise scale of 1 to 3</a:t>
            </a:r>
          </a:p>
        </p:txBody>
      </p:sp>
      <p:sp>
        <p:nvSpPr>
          <p:cNvPr id="5" name="index-1">
            <a:extLst xmlns:a="http://schemas.openxmlformats.org/drawingml/2006/main">
              <a:ext uri="{FF2B5EF4-FFF2-40B4-BE49-F238E27FC236}">
                <a16:creationId xmlns:a16="http://schemas.microsoft.com/office/drawing/2014/main" id="{A877BC1F-154C-48BD-8B4E-64C8282F944F}"/>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812CBF6-4628-4841-A2B4-321E0006410A}"/>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Impact uses an exercise scale of 1 to 3</a:t>
            </a:r>
          </a:p>
        </p:txBody>
      </p:sp>
      <p:sp>
        <p:nvSpPr>
          <p:cNvPr id="7" name="index-2">
            <a:extLst xmlns:a="http://schemas.openxmlformats.org/drawingml/2006/main">
              <a:ext uri="{FF2B5EF4-FFF2-40B4-BE49-F238E27FC236}">
                <a16:creationId xmlns:a16="http://schemas.microsoft.com/office/drawing/2014/main" id="{2F6E723E-AD01-4148-BEF4-9F1F13FCC069}"/>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9C83E6BC-1F93-4020-91E3-DF24396996B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Supplied ratings are L 2 and I 3</a:t>
            </a:r>
          </a:p>
        </p:txBody>
      </p:sp>
      <p:sp>
        <p:nvSpPr>
          <p:cNvPr id="9" name="index-3">
            <a:extLst xmlns:a="http://schemas.openxmlformats.org/drawingml/2006/main">
              <a:ext uri="{FF2B5EF4-FFF2-40B4-BE49-F238E27FC236}">
                <a16:creationId xmlns:a16="http://schemas.microsoft.com/office/drawing/2014/main" id="{1CDAC5E5-EA78-43C1-99DD-7C8401F329F8}"/>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0D7616C7-C33F-4054-965E-247B1B17EE35}"/>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The index supports discussion rather than measurement</a:t>
            </a:r>
          </a:p>
        </p:txBody>
      </p:sp>
      <p:sp>
        <p:nvSpPr>
          <p:cNvPr id="11" name="footer">
            <a:extLst xmlns:a="http://schemas.openxmlformats.org/drawingml/2006/main">
              <a:ext uri="{FF2B5EF4-FFF2-40B4-BE49-F238E27FC236}">
                <a16:creationId xmlns:a16="http://schemas.microsoft.com/office/drawing/2014/main" id="{F16755D1-131E-4F0A-A74E-7E3EAFAB892C}"/>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C8EFCAF3-8356-43B3-9DF3-6168D35A34A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18</a:t>
            </a:r>
          </a:p>
        </p:txBody>
      </p:sp>
    </p:spTree>
    <p:extLst>
      <p:ext uri="{BB962C8B-B14F-4D97-AF65-F5344CB8AC3E}">
        <p14:creationId xmlns:p14="http://schemas.microsoft.com/office/powerpoint/2010/main" val="1115539421"/>
      </p:ext>
    </p:extLst>
  </p:cSld>
</p:sld>
</file>

<file path=ppt/slides/slide19.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73613F9-CDDF-47EB-B453-E1919D2E1D4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TUESDAY 20 OCT</a:t>
            </a:r>
          </a:p>
        </p:txBody>
      </p:sp>
      <p:sp>
        <p:nvSpPr>
          <p:cNvPr id="2" name="heading">
            <a:extLst xmlns:a="http://schemas.openxmlformats.org/drawingml/2006/main">
              <a:ext uri="{FF2B5EF4-FFF2-40B4-BE49-F238E27FC236}">
                <a16:creationId xmlns:a16="http://schemas.microsoft.com/office/drawing/2014/main" id="{9F384094-F411-4299-9A2B-577EECB0CC5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A4 treatment decision lab</a:t>
            </a:r>
          </a:p>
        </p:txBody>
      </p:sp>
      <p:sp>
        <p:nvSpPr>
          <p:cNvPr id="3" name="index-0">
            <a:extLst xmlns:a="http://schemas.openxmlformats.org/drawingml/2006/main">
              <a:ext uri="{FF2B5EF4-FFF2-40B4-BE49-F238E27FC236}">
                <a16:creationId xmlns:a16="http://schemas.microsoft.com/office/drawing/2014/main" id="{14A0A02C-916A-4F6A-9A3E-59832182BC54}"/>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3F40A519-677E-49E6-8247-F7BEC1AF1BB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Calculate the stated practice index</a:t>
            </a:r>
          </a:p>
        </p:txBody>
      </p:sp>
      <p:sp>
        <p:nvSpPr>
          <p:cNvPr id="5" name="index-1">
            <a:extLst xmlns:a="http://schemas.openxmlformats.org/drawingml/2006/main">
              <a:ext uri="{FF2B5EF4-FFF2-40B4-BE49-F238E27FC236}">
                <a16:creationId xmlns:a16="http://schemas.microsoft.com/office/drawing/2014/main" id="{91DC05B4-618A-48E0-AB2C-835C519D888B}"/>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E2E8BC8A-D664-4485-BFDC-F45BBA22C1B6}"/>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Propose treatment and explain the mechanism</a:t>
            </a:r>
          </a:p>
        </p:txBody>
      </p:sp>
      <p:sp>
        <p:nvSpPr>
          <p:cNvPr id="7" name="index-2">
            <a:extLst xmlns:a="http://schemas.openxmlformats.org/drawingml/2006/main">
              <a:ext uri="{FF2B5EF4-FFF2-40B4-BE49-F238E27FC236}">
                <a16:creationId xmlns:a16="http://schemas.microsoft.com/office/drawing/2014/main" id="{79B1E6D0-C3C0-4579-A567-342FCC4A60B0}"/>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18F8E985-869D-475A-A0FF-C1297431DBD2}"/>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Assign an owner and evidence of operation</a:t>
            </a:r>
          </a:p>
        </p:txBody>
      </p:sp>
      <p:sp>
        <p:nvSpPr>
          <p:cNvPr id="9" name="index-3">
            <a:extLst xmlns:a="http://schemas.openxmlformats.org/drawingml/2006/main">
              <a:ext uri="{FF2B5EF4-FFF2-40B4-BE49-F238E27FC236}">
                <a16:creationId xmlns:a16="http://schemas.microsoft.com/office/drawing/2014/main" id="{2A8A1110-89D8-4E9E-AE29-C97364A4D267}"/>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1574B86B-8DEA-4CBF-AFAE-874A69871206}"/>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State what remains uncertain</a:t>
            </a:r>
          </a:p>
        </p:txBody>
      </p:sp>
      <p:sp>
        <p:nvSpPr>
          <p:cNvPr id="11" name="footer">
            <a:extLst xmlns:a="http://schemas.openxmlformats.org/drawingml/2006/main">
              <a:ext uri="{FF2B5EF4-FFF2-40B4-BE49-F238E27FC236}">
                <a16:creationId xmlns:a16="http://schemas.microsoft.com/office/drawing/2014/main" id="{02D5E0D0-C523-4183-8EA1-3B61A0A7BE0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4F3959C3-5EBC-498A-999E-D1F3EE39AF80}"/>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19</a:t>
            </a:r>
          </a:p>
        </p:txBody>
      </p:sp>
    </p:spTree>
    <p:extLst>
      <p:ext uri="{BB962C8B-B14F-4D97-AF65-F5344CB8AC3E}">
        <p14:creationId xmlns:p14="http://schemas.microsoft.com/office/powerpoint/2010/main" val="1494306921"/>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402AEC5A-F84E-4E05-AA2D-730A6E22DB2D}"/>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20 OCT</a:t>
            </a:r>
          </a:p>
        </p:txBody>
      </p:sp>
      <p:sp>
        <p:nvSpPr>
          <p:cNvPr id="2" name="heading">
            <a:extLst xmlns:a="http://schemas.openxmlformats.org/drawingml/2006/main">
              <a:ext uri="{FF2B5EF4-FFF2-40B4-BE49-F238E27FC236}">
                <a16:creationId xmlns:a16="http://schemas.microsoft.com/office/drawing/2014/main" id="{4216461B-D40B-4680-90E9-96B807D420C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Control performance and residual risk</a:t>
            </a:r>
          </a:p>
        </p:txBody>
      </p:sp>
      <p:sp>
        <p:nvSpPr>
          <p:cNvPr id="3" name="index-0">
            <a:extLst xmlns:a="http://schemas.openxmlformats.org/drawingml/2006/main">
              <a:ext uri="{FF2B5EF4-FFF2-40B4-BE49-F238E27FC236}">
                <a16:creationId xmlns:a16="http://schemas.microsoft.com/office/drawing/2014/main" id="{13921526-BA77-4C32-B5F7-4E530839ECE2}"/>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7E0837E-785A-4946-B4F1-B82EE058BE53}"/>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Design addresses an intended risk</a:t>
            </a:r>
          </a:p>
        </p:txBody>
      </p:sp>
      <p:sp>
        <p:nvSpPr>
          <p:cNvPr id="5" name="index-1">
            <a:extLst xmlns:a="http://schemas.openxmlformats.org/drawingml/2006/main">
              <a:ext uri="{FF2B5EF4-FFF2-40B4-BE49-F238E27FC236}">
                <a16:creationId xmlns:a16="http://schemas.microsoft.com/office/drawing/2014/main" id="{22A42AB8-54D2-4922-B81C-A959F9A73D32}"/>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50BB5D14-E714-415D-81A1-CB83F8F5ED04}"/>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Implementation puts the design into operation</a:t>
            </a:r>
          </a:p>
        </p:txBody>
      </p:sp>
      <p:sp>
        <p:nvSpPr>
          <p:cNvPr id="7" name="index-2">
            <a:extLst xmlns:a="http://schemas.openxmlformats.org/drawingml/2006/main">
              <a:ext uri="{FF2B5EF4-FFF2-40B4-BE49-F238E27FC236}">
                <a16:creationId xmlns:a16="http://schemas.microsoft.com/office/drawing/2014/main" id="{844B01EC-407B-4209-83D9-2D3DD4C5B640}"/>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F8000227-44E5-4BBD-9CC7-8D2A358621E0}"/>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Testing examines performance under conditions</a:t>
            </a:r>
          </a:p>
        </p:txBody>
      </p:sp>
      <p:sp>
        <p:nvSpPr>
          <p:cNvPr id="9" name="index-3">
            <a:extLst xmlns:a="http://schemas.openxmlformats.org/drawingml/2006/main">
              <a:ext uri="{FF2B5EF4-FFF2-40B4-BE49-F238E27FC236}">
                <a16:creationId xmlns:a16="http://schemas.microsoft.com/office/drawing/2014/main" id="{B08118C4-6D02-47B2-8741-DB0AABC288C0}"/>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B12E80C-9483-4313-95E7-5332649BE878}"/>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Residual risk depends on the controls actually operating</a:t>
            </a:r>
          </a:p>
        </p:txBody>
      </p:sp>
      <p:sp>
        <p:nvSpPr>
          <p:cNvPr id="11" name="footer">
            <a:extLst xmlns:a="http://schemas.openxmlformats.org/drawingml/2006/main">
              <a:ext uri="{FF2B5EF4-FFF2-40B4-BE49-F238E27FC236}">
                <a16:creationId xmlns:a16="http://schemas.microsoft.com/office/drawing/2014/main" id="{7EF53BB6-E1A0-4FE7-85B1-142453246F72}"/>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914A3A97-0360-4E67-9D7F-8D75B88824E4}"/>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20</a:t>
            </a:r>
          </a:p>
        </p:txBody>
      </p:sp>
    </p:spTree>
    <p:extLst>
      <p:ext uri="{BB962C8B-B14F-4D97-AF65-F5344CB8AC3E}">
        <p14:creationId xmlns:p14="http://schemas.microsoft.com/office/powerpoint/2010/main" val="1529790335"/>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69472DA-CB98-4CD0-B29C-F9C6212AA88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TUESDAY 20 OCT</a:t>
            </a:r>
          </a:p>
        </p:txBody>
      </p:sp>
      <p:sp>
        <p:nvSpPr>
          <p:cNvPr id="2" name="heading">
            <a:extLst xmlns:a="http://schemas.openxmlformats.org/drawingml/2006/main">
              <a:ext uri="{FF2B5EF4-FFF2-40B4-BE49-F238E27FC236}">
                <a16:creationId xmlns:a16="http://schemas.microsoft.com/office/drawing/2014/main" id="{9DC6CECE-9B8B-4CFF-A6FF-167D2F0B8CA5}"/>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Tuesday exit and homework bridge</a:t>
            </a:r>
          </a:p>
        </p:txBody>
      </p:sp>
      <p:sp>
        <p:nvSpPr>
          <p:cNvPr id="3" name="index-0">
            <a:extLst xmlns:a="http://schemas.openxmlformats.org/drawingml/2006/main">
              <a:ext uri="{FF2B5EF4-FFF2-40B4-BE49-F238E27FC236}">
                <a16:creationId xmlns:a16="http://schemas.microsoft.com/office/drawing/2014/main" id="{538B9E00-DE80-4C80-A3BB-5AAEB5D3B004}"/>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26C5F865-5CE2-4B99-A851-B5C62A6DD35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Separate attempted access from compromise</a:t>
            </a:r>
          </a:p>
        </p:txBody>
      </p:sp>
      <p:sp>
        <p:nvSpPr>
          <p:cNvPr id="5" name="index-1">
            <a:extLst xmlns:a="http://schemas.openxmlformats.org/drawingml/2006/main">
              <a:ext uri="{FF2B5EF4-FFF2-40B4-BE49-F238E27FC236}">
                <a16:creationId xmlns:a16="http://schemas.microsoft.com/office/drawing/2014/main" id="{3C3EF8CC-BD60-4B53-8941-616BCB897708}"/>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F30EBE4F-C7E9-4636-9DF9-4B33635FD717}"/>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Explain the limits of a matrix index</a:t>
            </a:r>
          </a:p>
        </p:txBody>
      </p:sp>
      <p:sp>
        <p:nvSpPr>
          <p:cNvPr id="7" name="index-2">
            <a:extLst xmlns:a="http://schemas.openxmlformats.org/drawingml/2006/main">
              <a:ext uri="{FF2B5EF4-FFF2-40B4-BE49-F238E27FC236}">
                <a16:creationId xmlns:a16="http://schemas.microsoft.com/office/drawing/2014/main" id="{F28F6054-EB0E-46A4-9A73-0C51E12CDAEA}"/>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21962A49-F29E-46DD-9667-A331A8A6081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evidence for a control decision</a:t>
            </a:r>
          </a:p>
        </p:txBody>
      </p:sp>
      <p:sp>
        <p:nvSpPr>
          <p:cNvPr id="9" name="index-3">
            <a:extLst xmlns:a="http://schemas.openxmlformats.org/drawingml/2006/main">
              <a:ext uri="{FF2B5EF4-FFF2-40B4-BE49-F238E27FC236}">
                <a16:creationId xmlns:a16="http://schemas.microsoft.com/office/drawing/2014/main" id="{6773857A-A555-4E8C-8648-7F02B57E2FD7}"/>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62AFB262-1983-4E3D-A713-D2D890237BA7}"/>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Prepare for compliance and source evaluation</a:t>
            </a:r>
          </a:p>
        </p:txBody>
      </p:sp>
      <p:sp>
        <p:nvSpPr>
          <p:cNvPr id="11" name="footer">
            <a:extLst xmlns:a="http://schemas.openxmlformats.org/drawingml/2006/main">
              <a:ext uri="{FF2B5EF4-FFF2-40B4-BE49-F238E27FC236}">
                <a16:creationId xmlns:a16="http://schemas.microsoft.com/office/drawing/2014/main" id="{5F5AEA7C-F859-4845-B3C2-8CBE250409DC}"/>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737AC024-D04A-456B-8257-0C33BA92679D}"/>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21</a:t>
            </a:r>
          </a:p>
        </p:txBody>
      </p:sp>
    </p:spTree>
    <p:extLst>
      <p:ext uri="{BB962C8B-B14F-4D97-AF65-F5344CB8AC3E}">
        <p14:creationId xmlns:p14="http://schemas.microsoft.com/office/powerpoint/2010/main" val="1100432262"/>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852CF298-6F9A-41C5-8CFD-591169D135B9}"/>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21 OCT</a:t>
            </a:r>
          </a:p>
        </p:txBody>
      </p:sp>
      <p:sp>
        <p:nvSpPr>
          <p:cNvPr id="2" name="heading">
            <a:extLst xmlns:a="http://schemas.openxmlformats.org/drawingml/2006/main">
              <a:ext uri="{FF2B5EF4-FFF2-40B4-BE49-F238E27FC236}">
                <a16:creationId xmlns:a16="http://schemas.microsoft.com/office/drawing/2014/main" id="{5798FF51-4259-4D69-9695-296387ADF538}"/>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Wednesday learning route</a:t>
            </a:r>
          </a:p>
        </p:txBody>
      </p:sp>
      <p:sp>
        <p:nvSpPr>
          <p:cNvPr id="3" name="index-0">
            <a:extLst xmlns:a="http://schemas.openxmlformats.org/drawingml/2006/main">
              <a:ext uri="{FF2B5EF4-FFF2-40B4-BE49-F238E27FC236}">
                <a16:creationId xmlns:a16="http://schemas.microsoft.com/office/drawing/2014/main" id="{91E8C74D-B2C8-4C1A-A697-1E8068B0291E}"/>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365ED135-9CD4-457D-BEA7-F731CDE638D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Authority and applicability</a:t>
            </a:r>
          </a:p>
        </p:txBody>
      </p:sp>
      <p:sp>
        <p:nvSpPr>
          <p:cNvPr id="5" name="index-1">
            <a:extLst xmlns:a="http://schemas.openxmlformats.org/drawingml/2006/main">
              <a:ext uri="{FF2B5EF4-FFF2-40B4-BE49-F238E27FC236}">
                <a16:creationId xmlns:a16="http://schemas.microsoft.com/office/drawing/2014/main" id="{EF5EEE37-4F05-44E5-A98B-FCBC22CE25E8}"/>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8D79800E-7E75-417F-8BFD-8E1FDF3D05CA}"/>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A5 source investigation</a:t>
            </a:r>
          </a:p>
        </p:txBody>
      </p:sp>
      <p:sp>
        <p:nvSpPr>
          <p:cNvPr id="7" name="index-2">
            <a:extLst xmlns:a="http://schemas.openxmlformats.org/drawingml/2006/main">
              <a:ext uri="{FF2B5EF4-FFF2-40B4-BE49-F238E27FC236}">
                <a16:creationId xmlns:a16="http://schemas.microsoft.com/office/drawing/2014/main" id="{24BC5BD1-81A6-4DA0-AA96-A9B16F9EDA91}"/>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ECEDC244-B2F4-4632-9092-B498AE418406}"/>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Evidence and control ownership</a:t>
            </a:r>
          </a:p>
        </p:txBody>
      </p:sp>
      <p:sp>
        <p:nvSpPr>
          <p:cNvPr id="9" name="index-3">
            <a:extLst xmlns:a="http://schemas.openxmlformats.org/drawingml/2006/main">
              <a:ext uri="{FF2B5EF4-FFF2-40B4-BE49-F238E27FC236}">
                <a16:creationId xmlns:a16="http://schemas.microsoft.com/office/drawing/2014/main" id="{81D492DD-43D3-4908-9BA8-01F3B6A0E3D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F371E244-0998-4943-B25E-33173A7B8D25}"/>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Research question and source clinic</a:t>
            </a:r>
          </a:p>
        </p:txBody>
      </p:sp>
      <p:sp>
        <p:nvSpPr>
          <p:cNvPr id="11" name="footer">
            <a:extLst xmlns:a="http://schemas.openxmlformats.org/drawingml/2006/main">
              <a:ext uri="{FF2B5EF4-FFF2-40B4-BE49-F238E27FC236}">
                <a16:creationId xmlns:a16="http://schemas.microsoft.com/office/drawing/2014/main" id="{B31FBF3E-865A-47EE-85F0-9A47D0882DD3}"/>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AA605E84-F7FC-4968-AC02-AFBC4CB5854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22</a:t>
            </a:r>
          </a:p>
        </p:txBody>
      </p:sp>
    </p:spTree>
    <p:extLst>
      <p:ext uri="{BB962C8B-B14F-4D97-AF65-F5344CB8AC3E}">
        <p14:creationId xmlns:p14="http://schemas.microsoft.com/office/powerpoint/2010/main" val="397255449"/>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F8F96D95-6353-4D92-856A-18F065F9DD0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21 OCT</a:t>
            </a:r>
          </a:p>
        </p:txBody>
      </p:sp>
      <p:sp>
        <p:nvSpPr>
          <p:cNvPr id="2" name="heading">
            <a:extLst xmlns:a="http://schemas.openxmlformats.org/drawingml/2006/main">
              <a:ext uri="{FF2B5EF4-FFF2-40B4-BE49-F238E27FC236}">
                <a16:creationId xmlns:a16="http://schemas.microsoft.com/office/drawing/2014/main" id="{EDE3A393-7000-4D25-9E7F-225E8CAE87E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Law standard framework and policy</a:t>
            </a:r>
          </a:p>
        </p:txBody>
      </p:sp>
      <p:graphicFrame>
        <p:nvGraphicFramePr>
          <p:cNvPr id="3" name="">
            <a:extLst xmlns:a="http://schemas.openxmlformats.org/drawingml/2006/main">
              <a:ext uri="{FF2B5EF4-FFF2-40B4-BE49-F238E27FC236}">
                <a16:creationId xmlns:a16="http://schemas.microsoft.com/office/drawing/2014/main" id="{A9644AEE-CB4F-4F83-A1F1-D86B85DCEADC}"/>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Type</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Example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Applicability question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Law and rules</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HIPAA and implementing rules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What regulated role and information?</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Industry standard</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PCI DSS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What payment-data scope and obligations?</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Framework</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NIST CSF</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What risk and governance purpose?</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Internal policy</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Approved access policy</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Who approved it and to whom does it apply?</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509498E6-1291-457C-8C3F-D11FDC6577B0}"/>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5" name="page">
            <a:extLst xmlns:a="http://schemas.openxmlformats.org/drawingml/2006/main">
              <a:ext uri="{FF2B5EF4-FFF2-40B4-BE49-F238E27FC236}">
                <a16:creationId xmlns:a16="http://schemas.microsoft.com/office/drawing/2014/main" id="{9374755A-9134-4F38-AF8E-5365133594AD}"/>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23</a:t>
            </a:r>
          </a:p>
        </p:txBody>
      </p:sp>
    </p:spTree>
    <p:extLst>
      <p:ext uri="{BB962C8B-B14F-4D97-AF65-F5344CB8AC3E}">
        <p14:creationId xmlns:p14="http://schemas.microsoft.com/office/powerpoint/2010/main" val="18850222"/>
      </p:ext>
    </p:extLst>
  </p:cSld>
</p:sld>
</file>

<file path=ppt/slides/slide2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A54909BB-3260-4CDC-9335-AF49C940522A}"/>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21 OCT</a:t>
            </a:r>
          </a:p>
        </p:txBody>
      </p:sp>
      <p:sp>
        <p:nvSpPr>
          <p:cNvPr id="2" name="heading">
            <a:extLst xmlns:a="http://schemas.openxmlformats.org/drawingml/2006/main">
              <a:ext uri="{FF2B5EF4-FFF2-40B4-BE49-F238E27FC236}">
                <a16:creationId xmlns:a16="http://schemas.microsoft.com/office/drawing/2014/main" id="{3740DE8C-369F-486F-95D9-3D62C12D089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Applicability before compliance claims</a:t>
            </a:r>
          </a:p>
        </p:txBody>
      </p:sp>
      <p:sp>
        <p:nvSpPr>
          <p:cNvPr id="3" name="index-0">
            <a:extLst xmlns:a="http://schemas.openxmlformats.org/drawingml/2006/main">
              <a:ext uri="{FF2B5EF4-FFF2-40B4-BE49-F238E27FC236}">
                <a16:creationId xmlns:a16="http://schemas.microsoft.com/office/drawing/2014/main" id="{F49273C5-DED5-4C60-A0F2-52AAF7344383}"/>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D9B5A139-4C81-4B12-B3DF-372E45D154C5}"/>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the activity and data involved</a:t>
            </a:r>
          </a:p>
        </p:txBody>
      </p:sp>
      <p:sp>
        <p:nvSpPr>
          <p:cNvPr id="5" name="index-1">
            <a:extLst xmlns:a="http://schemas.openxmlformats.org/drawingml/2006/main">
              <a:ext uri="{FF2B5EF4-FFF2-40B4-BE49-F238E27FC236}">
                <a16:creationId xmlns:a16="http://schemas.microsoft.com/office/drawing/2014/main" id="{A2A2A7DB-AEF1-4366-9D45-AE24C7F80CE6}"/>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DC6FAB33-9111-4513-9578-1CA944C8BD07}"/>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Check the regulated or contractual role</a:t>
            </a:r>
          </a:p>
        </p:txBody>
      </p:sp>
      <p:sp>
        <p:nvSpPr>
          <p:cNvPr id="7" name="index-2">
            <a:extLst xmlns:a="http://schemas.openxmlformats.org/drawingml/2006/main">
              <a:ext uri="{FF2B5EF4-FFF2-40B4-BE49-F238E27FC236}">
                <a16:creationId xmlns:a16="http://schemas.microsoft.com/office/drawing/2014/main" id="{78E2B5E1-901E-46C7-95D3-74E5F29C97EF}"/>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04ADB010-D2C9-44EC-89FC-8EB66C1261F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Read the applicable source and edition</a:t>
            </a:r>
          </a:p>
        </p:txBody>
      </p:sp>
      <p:sp>
        <p:nvSpPr>
          <p:cNvPr id="9" name="index-3">
            <a:extLst xmlns:a="http://schemas.openxmlformats.org/drawingml/2006/main">
              <a:ext uri="{FF2B5EF4-FFF2-40B4-BE49-F238E27FC236}">
                <a16:creationId xmlns:a16="http://schemas.microsoft.com/office/drawing/2014/main" id="{32CD8FCD-E32E-4399-B2E8-8A71EA91716F}"/>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FE7329A6-C335-4E16-938D-B17FAB723ABA}"/>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Document what remains unknown</a:t>
            </a:r>
          </a:p>
        </p:txBody>
      </p:sp>
      <p:sp>
        <p:nvSpPr>
          <p:cNvPr id="11" name="footer">
            <a:extLst xmlns:a="http://schemas.openxmlformats.org/drawingml/2006/main">
              <a:ext uri="{FF2B5EF4-FFF2-40B4-BE49-F238E27FC236}">
                <a16:creationId xmlns:a16="http://schemas.microsoft.com/office/drawing/2014/main" id="{3D1FE45F-B1AC-4AA8-AB56-A5C8B7149F00}"/>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7D370560-3679-479B-9764-9AE9162380D6}"/>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24</a:t>
            </a:r>
          </a:p>
        </p:txBody>
      </p:sp>
    </p:spTree>
    <p:extLst>
      <p:ext uri="{BB962C8B-B14F-4D97-AF65-F5344CB8AC3E}">
        <p14:creationId xmlns:p14="http://schemas.microsoft.com/office/powerpoint/2010/main" val="1669693161"/>
      </p:ext>
    </p:extLst>
  </p:cSld>
</p:sld>
</file>

<file path=ppt/slides/slide25.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67054B73-1566-4CD7-B506-091E1190467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WEDNESDAY 21 OCT</a:t>
            </a:r>
          </a:p>
        </p:txBody>
      </p:sp>
      <p:sp>
        <p:nvSpPr>
          <p:cNvPr id="2" name="heading">
            <a:extLst xmlns:a="http://schemas.openxmlformats.org/drawingml/2006/main">
              <a:ext uri="{FF2B5EF4-FFF2-40B4-BE49-F238E27FC236}">
                <a16:creationId xmlns:a16="http://schemas.microsoft.com/office/drawing/2014/main" id="{3A15AED4-A6CF-4CD9-A5CF-898CE0E72B03}"/>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A5 applicability investigation</a:t>
            </a:r>
          </a:p>
        </p:txBody>
      </p:sp>
      <p:sp>
        <p:nvSpPr>
          <p:cNvPr id="3" name="index-0">
            <a:extLst xmlns:a="http://schemas.openxmlformats.org/drawingml/2006/main">
              <a:ext uri="{FF2B5EF4-FFF2-40B4-BE49-F238E27FC236}">
                <a16:creationId xmlns:a16="http://schemas.microsoft.com/office/drawing/2014/main" id="{0475AD32-2995-42C9-BBC0-45F7729FB93E}"/>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C084BADE-3F10-4DC4-88B6-4E77F459845C}"/>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Classify four types of authority</a:t>
            </a:r>
          </a:p>
        </p:txBody>
      </p:sp>
      <p:sp>
        <p:nvSpPr>
          <p:cNvPr id="5" name="index-1">
            <a:extLst xmlns:a="http://schemas.openxmlformats.org/drawingml/2006/main">
              <a:ext uri="{FF2B5EF4-FFF2-40B4-BE49-F238E27FC236}">
                <a16:creationId xmlns:a16="http://schemas.microsoft.com/office/drawing/2014/main" id="{48810C17-677A-4864-A288-C182AB172398}"/>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1525489A-E071-4CD7-A913-F42A304BA8E3}"/>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Inspect a supplied official source</a:t>
            </a:r>
          </a:p>
        </p:txBody>
      </p:sp>
      <p:sp>
        <p:nvSpPr>
          <p:cNvPr id="7" name="index-2">
            <a:extLst xmlns:a="http://schemas.openxmlformats.org/drawingml/2006/main">
              <a:ext uri="{FF2B5EF4-FFF2-40B4-BE49-F238E27FC236}">
                <a16:creationId xmlns:a16="http://schemas.microsoft.com/office/drawing/2014/main" id="{1C3C0FA1-EB26-411E-AFE6-9F1B6361FB49}"/>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B3A2D4D5-3642-442F-9278-AA787DC19C92}"/>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Write two questions about scope</a:t>
            </a:r>
          </a:p>
        </p:txBody>
      </p:sp>
      <p:sp>
        <p:nvSpPr>
          <p:cNvPr id="9" name="index-3">
            <a:extLst xmlns:a="http://schemas.openxmlformats.org/drawingml/2006/main">
              <a:ext uri="{FF2B5EF4-FFF2-40B4-BE49-F238E27FC236}">
                <a16:creationId xmlns:a16="http://schemas.microsoft.com/office/drawing/2014/main" id="{6285FE81-92EF-4767-9609-7A8C51F9ADD9}"/>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63EE230B-E3C3-4965-A1C1-97BC78AAD05C}"/>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and a short report</a:t>
            </a:r>
          </a:p>
        </p:txBody>
      </p:sp>
      <p:sp>
        <p:nvSpPr>
          <p:cNvPr id="11" name="footer">
            <a:extLst xmlns:a="http://schemas.openxmlformats.org/drawingml/2006/main">
              <a:ext uri="{FF2B5EF4-FFF2-40B4-BE49-F238E27FC236}">
                <a16:creationId xmlns:a16="http://schemas.microsoft.com/office/drawing/2014/main" id="{355421D4-0203-449F-916D-DFDE4A0637DE}"/>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425FEE05-4A4F-4ECE-BB3D-12E5A7E20594}"/>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25</a:t>
            </a:r>
          </a:p>
        </p:txBody>
      </p:sp>
    </p:spTree>
    <p:extLst>
      <p:ext uri="{BB962C8B-B14F-4D97-AF65-F5344CB8AC3E}">
        <p14:creationId xmlns:p14="http://schemas.microsoft.com/office/powerpoint/2010/main" val="617715852"/>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94315241-7C48-4F3A-885B-0D3A91F109B8}"/>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21 OCT</a:t>
            </a:r>
          </a:p>
        </p:txBody>
      </p:sp>
      <p:sp>
        <p:nvSpPr>
          <p:cNvPr id="2" name="heading">
            <a:extLst xmlns:a="http://schemas.openxmlformats.org/drawingml/2006/main">
              <a:ext uri="{FF2B5EF4-FFF2-40B4-BE49-F238E27FC236}">
                <a16:creationId xmlns:a16="http://schemas.microsoft.com/office/drawing/2014/main" id="{08A9FDD0-FA55-487D-A2CC-1869D5F3336E}"/>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Sources and traceable claims</a:t>
            </a:r>
          </a:p>
        </p:txBody>
      </p:sp>
      <p:sp>
        <p:nvSpPr>
          <p:cNvPr id="3" name="index-0">
            <a:extLst xmlns:a="http://schemas.openxmlformats.org/drawingml/2006/main">
              <a:ext uri="{FF2B5EF4-FFF2-40B4-BE49-F238E27FC236}">
                <a16:creationId xmlns:a16="http://schemas.microsoft.com/office/drawing/2014/main" id="{55EA4FA2-2083-485F-B530-7DD9204431A9}"/>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B14C8573-1F00-4D46-A078-F80B6269E5D6}"/>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Author or issuing organization</a:t>
            </a:r>
          </a:p>
        </p:txBody>
      </p:sp>
      <p:sp>
        <p:nvSpPr>
          <p:cNvPr id="5" name="index-1">
            <a:extLst xmlns:a="http://schemas.openxmlformats.org/drawingml/2006/main">
              <a:ext uri="{FF2B5EF4-FFF2-40B4-BE49-F238E27FC236}">
                <a16:creationId xmlns:a16="http://schemas.microsoft.com/office/drawing/2014/main" id="{EEC6949B-6173-40A7-904B-B6637723B2C0}"/>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328AD6B7-7B22-491B-835B-FC2E634ACF06}"/>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Title publication date and edition</a:t>
            </a:r>
          </a:p>
        </p:txBody>
      </p:sp>
      <p:sp>
        <p:nvSpPr>
          <p:cNvPr id="7" name="index-2">
            <a:extLst xmlns:a="http://schemas.openxmlformats.org/drawingml/2006/main">
              <a:ext uri="{FF2B5EF4-FFF2-40B4-BE49-F238E27FC236}">
                <a16:creationId xmlns:a16="http://schemas.microsoft.com/office/drawing/2014/main" id="{AB39FE42-D34A-4CFF-94FF-A7E22E4CC81F}"/>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782DBFD1-C33F-41E8-83BC-774B84137973}"/>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Passage supporting the precise claim</a:t>
            </a:r>
          </a:p>
        </p:txBody>
      </p:sp>
      <p:sp>
        <p:nvSpPr>
          <p:cNvPr id="9" name="index-3">
            <a:extLst xmlns:a="http://schemas.openxmlformats.org/drawingml/2006/main">
              <a:ext uri="{FF2B5EF4-FFF2-40B4-BE49-F238E27FC236}">
                <a16:creationId xmlns:a16="http://schemas.microsoft.com/office/drawing/2014/main" id="{807E1EE3-7DBA-48DA-9717-A90FCA54F6E3}"/>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23B259DA-5121-429C-97F0-25F1D1CADEC8}"/>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Limits and applicability conditions</a:t>
            </a:r>
          </a:p>
        </p:txBody>
      </p:sp>
      <p:sp>
        <p:nvSpPr>
          <p:cNvPr id="11" name="footer">
            <a:extLst xmlns:a="http://schemas.openxmlformats.org/drawingml/2006/main">
              <a:ext uri="{FF2B5EF4-FFF2-40B4-BE49-F238E27FC236}">
                <a16:creationId xmlns:a16="http://schemas.microsoft.com/office/drawing/2014/main" id="{655D1575-AB0C-431C-BDA7-C58F8479B42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76178708-F4D9-4166-AE4C-FFBA821203A0}"/>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26</a:t>
            </a:r>
          </a:p>
        </p:txBody>
      </p:sp>
    </p:spTree>
    <p:extLst>
      <p:ext uri="{BB962C8B-B14F-4D97-AF65-F5344CB8AC3E}">
        <p14:creationId xmlns:p14="http://schemas.microsoft.com/office/powerpoint/2010/main" val="1437566501"/>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72BB6DC8-2E5B-4061-991B-51020146A173}"/>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21 OCT</a:t>
            </a:r>
          </a:p>
        </p:txBody>
      </p:sp>
      <p:sp>
        <p:nvSpPr>
          <p:cNvPr id="2" name="heading">
            <a:extLst xmlns:a="http://schemas.openxmlformats.org/drawingml/2006/main">
              <a:ext uri="{FF2B5EF4-FFF2-40B4-BE49-F238E27FC236}">
                <a16:creationId xmlns:a16="http://schemas.microsoft.com/office/drawing/2014/main" id="{A12554C9-7537-47DF-A38E-E6F6FBCCACE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Evidence of control operation</a:t>
            </a:r>
          </a:p>
        </p:txBody>
      </p:sp>
      <p:graphicFrame>
        <p:nvGraphicFramePr>
          <p:cNvPr id="3" name="">
            <a:extLst xmlns:a="http://schemas.openxmlformats.org/drawingml/2006/main">
              <a:ext uri="{FF2B5EF4-FFF2-40B4-BE49-F238E27FC236}">
                <a16:creationId xmlns:a16="http://schemas.microsoft.com/office/drawing/2014/main" id="{3B0B3319-1839-436D-B5EE-29B7EE08E92C}"/>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869156">
                <a:tc>
                  <a:txBody>
                    <a:bodyPr/>
                    <a:lstStyle/>
                    <a:p>
                      <a:r>
                        <a:rPr sz="1725" b="1">
                          <a:solidFill>
                            <a:srgbClr val="FFFFFF"/>
                          </a:solidFill>
                          <a:latin typeface="Arial"/>
                          <a:ea typeface="Arial"/>
                          <a:cs typeface="Arial"/>
                        </a:rPr>
                        <a:t>Claim</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Possible evidence</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Limitation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869156">
                <a:tc>
                  <a:txBody>
                    <a:bodyPr/>
                    <a:lstStyle/>
                    <a:p>
                      <a:r>
                        <a:rPr sz="1725" b="0">
                          <a:solidFill>
                            <a:srgbClr val="102F40"/>
                          </a:solidFill>
                          <a:latin typeface="Arial"/>
                          <a:ea typeface="Arial"/>
                          <a:cs typeface="Arial"/>
                        </a:rPr>
                        <a:t>Policy exists</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Approved dated policy</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Does not prove execution</a:t>
                      </a:r>
                    </a:p>
                  </a:txBody>
                  <a:tcPr marL="91440" marR="91440" marT="45720" marB="45720">
                    <a:lnR w="9525">
                      <a:solidFill>
                        <a:srgbClr val="CBD5DA"/>
                      </a:solidFill>
                      <a:prstDash val="solid"/>
                    </a:lnR>
                    <a:lnB w="9525">
                      <a:solidFill>
                        <a:srgbClr val="CBD5DA"/>
                      </a:solidFill>
                      <a:prstDash val="solid"/>
                    </a:lnB>
                    <a:solidFill>
                      <a:srgbClr val="FFFFFF"/>
                    </a:solidFill>
                  </a:tcPr>
                </a:tc>
              </a:tr>
              <a:tr h="869156">
                <a:tc>
                  <a:txBody>
                    <a:bodyPr/>
                    <a:lstStyle/>
                    <a:p>
                      <a:r>
                        <a:rPr sz="1725" b="0">
                          <a:solidFill>
                            <a:srgbClr val="102F40"/>
                          </a:solidFill>
                          <a:latin typeface="Arial"/>
                          <a:ea typeface="Arial"/>
                          <a:cs typeface="Arial"/>
                        </a:rPr>
                        <a:t>Access is reviewed</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Review record and resolved exceptions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Check account scope and date</a:t>
                      </a:r>
                    </a:p>
                  </a:txBody>
                  <a:tcPr marL="91440" marR="91440" marT="45720" marB="45720">
                    <a:lnR w="9525">
                      <a:solidFill>
                        <a:srgbClr val="CBD5DA"/>
                      </a:solidFill>
                      <a:prstDash val="solid"/>
                    </a:lnR>
                    <a:lnB w="9525">
                      <a:solidFill>
                        <a:srgbClr val="CBD5DA"/>
                      </a:solidFill>
                      <a:prstDash val="solid"/>
                    </a:lnB>
                    <a:solidFill>
                      <a:srgbClr val="EBF0F2"/>
                    </a:solidFill>
                  </a:tcPr>
                </a:tc>
              </a:tr>
              <a:tr h="869156">
                <a:tc>
                  <a:txBody>
                    <a:bodyPr/>
                    <a:lstStyle/>
                    <a:p>
                      <a:r>
                        <a:rPr sz="1725" b="0">
                          <a:solidFill>
                            <a:srgbClr val="102F40"/>
                          </a:solidFill>
                          <a:latin typeface="Arial"/>
                          <a:ea typeface="Arial"/>
                          <a:cs typeface="Arial"/>
                        </a:rPr>
                        <a:t>Backup restores</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Restoration test and validation</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Test conditions may differ from an incident</a:t>
                      </a:r>
                    </a:p>
                  </a:txBody>
                  <a:tcPr marL="91440" marR="91440" marT="45720" marB="45720">
                    <a:lnR w="9525">
                      <a:solidFill>
                        <a:srgbClr val="CBD5DA"/>
                      </a:solidFill>
                      <a:prstDash val="solid"/>
                    </a:lnR>
                    <a:lnB w="9525">
                      <a:solidFill>
                        <a:srgbClr val="CBD5DA"/>
                      </a:solidFill>
                      <a:prstDash val="solid"/>
                    </a:lnB>
                    <a:solidFill>
                      <a:srgbClr val="FFFFFF"/>
                    </a:solidFill>
                  </a:tcPr>
                </a:tc>
              </a:tr>
            </a:tbl>
          </a:graphicData>
        </a:graphic>
      </p:graphicFrame>
      <p:sp>
        <p:nvSpPr>
          <p:cNvPr id="4" name="footer">
            <a:extLst xmlns:a="http://schemas.openxmlformats.org/drawingml/2006/main">
              <a:ext uri="{FF2B5EF4-FFF2-40B4-BE49-F238E27FC236}">
                <a16:creationId xmlns:a16="http://schemas.microsoft.com/office/drawing/2014/main" id="{3201F5E5-343E-4BFF-AA85-1111F0E4E91C}"/>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5" name="page">
            <a:extLst xmlns:a="http://schemas.openxmlformats.org/drawingml/2006/main">
              <a:ext uri="{FF2B5EF4-FFF2-40B4-BE49-F238E27FC236}">
                <a16:creationId xmlns:a16="http://schemas.microsoft.com/office/drawing/2014/main" id="{EE215B63-DA4B-496C-A0CA-CB4AA14EB4EC}"/>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27</a:t>
            </a:r>
          </a:p>
        </p:txBody>
      </p:sp>
    </p:spTree>
    <p:extLst>
      <p:ext uri="{BB962C8B-B14F-4D97-AF65-F5344CB8AC3E}">
        <p14:creationId xmlns:p14="http://schemas.microsoft.com/office/powerpoint/2010/main" val="1325532028"/>
      </p:ext>
    </p:extLst>
  </p:cSld>
</p:sld>
</file>

<file path=ppt/slides/slide28.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3D692194-13D2-4C3F-8D27-F2355BC9249D}"/>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WEDNESDAY 21 OCT</a:t>
            </a:r>
          </a:p>
        </p:txBody>
      </p:sp>
      <p:sp>
        <p:nvSpPr>
          <p:cNvPr id="2" name="heading">
            <a:extLst xmlns:a="http://schemas.openxmlformats.org/drawingml/2006/main">
              <a:ext uri="{FF2B5EF4-FFF2-40B4-BE49-F238E27FC236}">
                <a16:creationId xmlns:a16="http://schemas.microsoft.com/office/drawing/2014/main" id="{7D74B87C-2C91-426E-B593-D811831C7993}"/>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A6 source and evidence check</a:t>
            </a:r>
          </a:p>
        </p:txBody>
      </p:sp>
      <p:sp>
        <p:nvSpPr>
          <p:cNvPr id="3" name="index-0">
            <a:extLst xmlns:a="http://schemas.openxmlformats.org/drawingml/2006/main">
              <a:ext uri="{FF2B5EF4-FFF2-40B4-BE49-F238E27FC236}">
                <a16:creationId xmlns:a16="http://schemas.microsoft.com/office/drawing/2014/main" id="{25EAD637-7166-4BEE-9E22-1029DDAE1AC9}"/>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2B53AB0-AF74-4BAE-A90D-1B21BC98C525}"/>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Inspect the unsupported AI claim</a:t>
            </a:r>
          </a:p>
        </p:txBody>
      </p:sp>
      <p:sp>
        <p:nvSpPr>
          <p:cNvPr id="5" name="index-1">
            <a:extLst xmlns:a="http://schemas.openxmlformats.org/drawingml/2006/main">
              <a:ext uri="{FF2B5EF4-FFF2-40B4-BE49-F238E27FC236}">
                <a16:creationId xmlns:a16="http://schemas.microsoft.com/office/drawing/2014/main" id="{59E61F8F-79A7-4423-A48D-E46D2A9513F8}"/>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EC6DC8BD-D1A1-4472-AC97-467A60DC769F}"/>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Locate what a primary source supports</a:t>
            </a:r>
          </a:p>
        </p:txBody>
      </p:sp>
      <p:sp>
        <p:nvSpPr>
          <p:cNvPr id="7" name="index-2">
            <a:extLst xmlns:a="http://schemas.openxmlformats.org/drawingml/2006/main">
              <a:ext uri="{FF2B5EF4-FFF2-40B4-BE49-F238E27FC236}">
                <a16:creationId xmlns:a16="http://schemas.microsoft.com/office/drawing/2014/main" id="{0B586EF3-8EFE-43F3-A07F-9DE8B0A492FA}"/>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460FF915-A5D3-4AFD-AF1E-1723B0CDFBE1}"/>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Request evidence with an owner and scope</a:t>
            </a:r>
          </a:p>
        </p:txBody>
      </p:sp>
      <p:sp>
        <p:nvSpPr>
          <p:cNvPr id="9" name="index-3">
            <a:extLst xmlns:a="http://schemas.openxmlformats.org/drawingml/2006/main">
              <a:ext uri="{FF2B5EF4-FFF2-40B4-BE49-F238E27FC236}">
                <a16:creationId xmlns:a16="http://schemas.microsoft.com/office/drawing/2014/main" id="{706D922F-DBC6-4A47-9AD5-B4CC4EBF9E70}"/>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CC151A6-EF36-4A7E-B844-41E4CAC16D2C}"/>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with peer challenge</a:t>
            </a:r>
          </a:p>
        </p:txBody>
      </p:sp>
      <p:sp>
        <p:nvSpPr>
          <p:cNvPr id="11" name="footer">
            <a:extLst xmlns:a="http://schemas.openxmlformats.org/drawingml/2006/main">
              <a:ext uri="{FF2B5EF4-FFF2-40B4-BE49-F238E27FC236}">
                <a16:creationId xmlns:a16="http://schemas.microsoft.com/office/drawing/2014/main" id="{3B985202-74D3-4474-BAEF-CDCAA559B030}"/>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58CDFD59-3BFD-4F0C-85F5-2E5E7186E37B}"/>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28</a:t>
            </a:r>
          </a:p>
        </p:txBody>
      </p:sp>
    </p:spTree>
    <p:extLst>
      <p:ext uri="{BB962C8B-B14F-4D97-AF65-F5344CB8AC3E}">
        <p14:creationId xmlns:p14="http://schemas.microsoft.com/office/powerpoint/2010/main" val="1844652525"/>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E6ABB8EA-59B2-476A-8CA6-65B077484121}"/>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21 OCT</a:t>
            </a:r>
          </a:p>
        </p:txBody>
      </p:sp>
      <p:sp>
        <p:nvSpPr>
          <p:cNvPr id="2" name="heading">
            <a:extLst xmlns:a="http://schemas.openxmlformats.org/drawingml/2006/main">
              <a:ext uri="{FF2B5EF4-FFF2-40B4-BE49-F238E27FC236}">
                <a16:creationId xmlns:a16="http://schemas.microsoft.com/office/drawing/2014/main" id="{D600DC88-28EE-4558-87E0-67B9545A7067}"/>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Research question clinic</a:t>
            </a:r>
          </a:p>
        </p:txBody>
      </p:sp>
      <p:sp>
        <p:nvSpPr>
          <p:cNvPr id="3" name="index-0">
            <a:extLst xmlns:a="http://schemas.openxmlformats.org/drawingml/2006/main">
              <a:ext uri="{FF2B5EF4-FFF2-40B4-BE49-F238E27FC236}">
                <a16:creationId xmlns:a16="http://schemas.microsoft.com/office/drawing/2014/main" id="{437B4F12-1282-4560-97F6-3A486253AF06}"/>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2706B39-AFE1-422B-945B-C13E84990115}"/>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Choose a focused cybersecurity question</a:t>
            </a:r>
          </a:p>
        </p:txBody>
      </p:sp>
      <p:sp>
        <p:nvSpPr>
          <p:cNvPr id="5" name="index-1">
            <a:extLst xmlns:a="http://schemas.openxmlformats.org/drawingml/2006/main">
              <a:ext uri="{FF2B5EF4-FFF2-40B4-BE49-F238E27FC236}">
                <a16:creationId xmlns:a16="http://schemas.microsoft.com/office/drawing/2014/main" id="{80EF2BF8-16CB-4B83-8E01-B3B39B854C76}"/>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DDB561BD-2A6A-4361-BC68-F0921A7AF80C}"/>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a credible source that informs it</a:t>
            </a:r>
          </a:p>
        </p:txBody>
      </p:sp>
      <p:sp>
        <p:nvSpPr>
          <p:cNvPr id="7" name="index-2">
            <a:extLst xmlns:a="http://schemas.openxmlformats.org/drawingml/2006/main">
              <a:ext uri="{FF2B5EF4-FFF2-40B4-BE49-F238E27FC236}">
                <a16:creationId xmlns:a16="http://schemas.microsoft.com/office/drawing/2014/main" id="{990A9250-541B-4530-83C2-AB14E50C4DB9}"/>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C5484D60-2A21-413F-9883-73D2E69AC056}"/>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Explain scope and an unresolved question</a:t>
            </a:r>
          </a:p>
        </p:txBody>
      </p:sp>
      <p:sp>
        <p:nvSpPr>
          <p:cNvPr id="9" name="index-3">
            <a:extLst xmlns:a="http://schemas.openxmlformats.org/drawingml/2006/main">
              <a:ext uri="{FF2B5EF4-FFF2-40B4-BE49-F238E27FC236}">
                <a16:creationId xmlns:a16="http://schemas.microsoft.com/office/drawing/2014/main" id="{5918727E-9078-43B8-8A4A-30119A5B16C9}"/>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921C59B-EA31-4A95-91F6-31E85A6FF2CA}"/>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Keep the research track distinct from organizational projects</a:t>
            </a:r>
          </a:p>
        </p:txBody>
      </p:sp>
      <p:sp>
        <p:nvSpPr>
          <p:cNvPr id="11" name="footer">
            <a:extLst xmlns:a="http://schemas.openxmlformats.org/drawingml/2006/main">
              <a:ext uri="{FF2B5EF4-FFF2-40B4-BE49-F238E27FC236}">
                <a16:creationId xmlns:a16="http://schemas.microsoft.com/office/drawing/2014/main" id="{48D62F04-DA8D-4DCF-B533-4A27389DE23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5C45AEB2-993E-491E-86ED-C3E60BAB1C7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29</a:t>
            </a:r>
          </a:p>
        </p:txBody>
      </p:sp>
    </p:spTree>
    <p:extLst>
      <p:ext uri="{BB962C8B-B14F-4D97-AF65-F5344CB8AC3E}">
        <p14:creationId xmlns:p14="http://schemas.microsoft.com/office/powerpoint/2010/main" val="920938023"/>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D3477D48-EDBB-48FB-A9BF-8B7ACD922198}"/>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WEDNESDAY 21 OCT</a:t>
            </a:r>
          </a:p>
        </p:txBody>
      </p:sp>
      <p:sp>
        <p:nvSpPr>
          <p:cNvPr id="2" name="heading">
            <a:extLst xmlns:a="http://schemas.openxmlformats.org/drawingml/2006/main">
              <a:ext uri="{FF2B5EF4-FFF2-40B4-BE49-F238E27FC236}">
                <a16:creationId xmlns:a16="http://schemas.microsoft.com/office/drawing/2014/main" id="{9B6C87AC-C99C-4072-9EF2-88837534667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Wednesday exit and next steps</a:t>
            </a:r>
          </a:p>
        </p:txBody>
      </p:sp>
      <p:sp>
        <p:nvSpPr>
          <p:cNvPr id="3" name="index-0">
            <a:extLst xmlns:a="http://schemas.openxmlformats.org/drawingml/2006/main">
              <a:ext uri="{FF2B5EF4-FFF2-40B4-BE49-F238E27FC236}">
                <a16:creationId xmlns:a16="http://schemas.microsoft.com/office/drawing/2014/main" id="{159C92C1-4A7C-47CE-A33D-B2BC2698B1B8}"/>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31D8A2B3-3815-45BF-89F3-2B740D3D0356}"/>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Distinguish authority types</a:t>
            </a:r>
          </a:p>
        </p:txBody>
      </p:sp>
      <p:sp>
        <p:nvSpPr>
          <p:cNvPr id="5" name="index-1">
            <a:extLst xmlns:a="http://schemas.openxmlformats.org/drawingml/2006/main">
              <a:ext uri="{FF2B5EF4-FFF2-40B4-BE49-F238E27FC236}">
                <a16:creationId xmlns:a16="http://schemas.microsoft.com/office/drawing/2014/main" id="{A98C14DA-4CCA-4BF1-B8EE-BD242063E521}"/>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D6EC406-2A57-49E9-BDF6-65AC0061EBB9}"/>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Name an applicability fact to verify</a:t>
            </a:r>
          </a:p>
        </p:txBody>
      </p:sp>
      <p:sp>
        <p:nvSpPr>
          <p:cNvPr id="7" name="index-2">
            <a:extLst xmlns:a="http://schemas.openxmlformats.org/drawingml/2006/main">
              <a:ext uri="{FF2B5EF4-FFF2-40B4-BE49-F238E27FC236}">
                <a16:creationId xmlns:a16="http://schemas.microsoft.com/office/drawing/2014/main" id="{8807C1FD-202F-4B92-83B6-1C1BF8ED3220}"/>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803C96F8-0768-4C4C-A929-E78757E64260}"/>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a traceable source detail</a:t>
            </a:r>
          </a:p>
        </p:txBody>
      </p:sp>
      <p:sp>
        <p:nvSpPr>
          <p:cNvPr id="9" name="index-3">
            <a:extLst xmlns:a="http://schemas.openxmlformats.org/drawingml/2006/main">
              <a:ext uri="{FF2B5EF4-FFF2-40B4-BE49-F238E27FC236}">
                <a16:creationId xmlns:a16="http://schemas.microsoft.com/office/drawing/2014/main" id="{723EF377-CF5D-47F0-86DB-462E417820FB}"/>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2C74254F-5088-4E72-B909-4AC277790E4C}"/>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Prepare for scope roles and planning</a:t>
            </a:r>
          </a:p>
        </p:txBody>
      </p:sp>
      <p:sp>
        <p:nvSpPr>
          <p:cNvPr id="11" name="footer">
            <a:extLst xmlns:a="http://schemas.openxmlformats.org/drawingml/2006/main">
              <a:ext uri="{FF2B5EF4-FFF2-40B4-BE49-F238E27FC236}">
                <a16:creationId xmlns:a16="http://schemas.microsoft.com/office/drawing/2014/main" id="{3265A6C5-947C-4A28-9955-EAFF776F9E0D}"/>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8D8342C3-5F87-4094-A8F2-6DBB294BD6A2}"/>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30</a:t>
            </a:r>
          </a:p>
        </p:txBody>
      </p:sp>
    </p:spTree>
    <p:extLst>
      <p:ext uri="{BB962C8B-B14F-4D97-AF65-F5344CB8AC3E}">
        <p14:creationId xmlns:p14="http://schemas.microsoft.com/office/powerpoint/2010/main" val="532595337"/>
      </p:ext>
    </p:extLst>
  </p:cSld>
</p:sld>
</file>

<file path=ppt/slides/slide3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FAE7DAC9-C97C-4AA6-8712-5D2F0FD38DF6}"/>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22 OCT</a:t>
            </a:r>
          </a:p>
        </p:txBody>
      </p:sp>
      <p:sp>
        <p:nvSpPr>
          <p:cNvPr id="2" name="heading">
            <a:extLst xmlns:a="http://schemas.openxmlformats.org/drawingml/2006/main">
              <a:ext uri="{FF2B5EF4-FFF2-40B4-BE49-F238E27FC236}">
                <a16:creationId xmlns:a16="http://schemas.microsoft.com/office/drawing/2014/main" id="{F13CD1CE-6832-442F-9DB6-F22D7BF3829F}"/>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Thursday learning route</a:t>
            </a:r>
          </a:p>
        </p:txBody>
      </p:sp>
      <p:sp>
        <p:nvSpPr>
          <p:cNvPr id="3" name="index-0">
            <a:extLst xmlns:a="http://schemas.openxmlformats.org/drawingml/2006/main">
              <a:ext uri="{FF2B5EF4-FFF2-40B4-BE49-F238E27FC236}">
                <a16:creationId xmlns:a16="http://schemas.microsoft.com/office/drawing/2014/main" id="{D31C5B78-E6C9-46E9-AC9C-26B36EDC8788}"/>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0924E3D1-E4DC-485E-9DC7-48B017323749}"/>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Purpose scope and authority</a:t>
            </a:r>
          </a:p>
        </p:txBody>
      </p:sp>
      <p:sp>
        <p:nvSpPr>
          <p:cNvPr id="5" name="index-1">
            <a:extLst xmlns:a="http://schemas.openxmlformats.org/drawingml/2006/main">
              <a:ext uri="{FF2B5EF4-FFF2-40B4-BE49-F238E27FC236}">
                <a16:creationId xmlns:a16="http://schemas.microsoft.com/office/drawing/2014/main" id="{0D774E2A-0447-4171-BEF4-75EE0AE6B174}"/>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EF3D36E1-9144-41FB-A313-89C8548660D5}"/>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A7 one-decision planning board</a:t>
            </a:r>
          </a:p>
        </p:txBody>
      </p:sp>
      <p:sp>
        <p:nvSpPr>
          <p:cNvPr id="7" name="index-2">
            <a:extLst xmlns:a="http://schemas.openxmlformats.org/drawingml/2006/main">
              <a:ext uri="{FF2B5EF4-FFF2-40B4-BE49-F238E27FC236}">
                <a16:creationId xmlns:a16="http://schemas.microsoft.com/office/drawing/2014/main" id="{F5919736-1806-4103-8809-C71487FB8053}"/>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8B78F88B-73BA-4958-8B0D-E59F0FBF053F}"/>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Milestones and evidence</a:t>
            </a:r>
          </a:p>
        </p:txBody>
      </p:sp>
      <p:sp>
        <p:nvSpPr>
          <p:cNvPr id="9" name="index-3">
            <a:extLst xmlns:a="http://schemas.openxmlformats.org/drawingml/2006/main">
              <a:ext uri="{FF2B5EF4-FFF2-40B4-BE49-F238E27FC236}">
                <a16:creationId xmlns:a16="http://schemas.microsoft.com/office/drawing/2014/main" id="{4817A85F-D3E2-4586-98AB-12B8536A4E0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5C2379B3-2578-406F-8327-E3A9C124DEE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A8 tabletop and independent homework clinic</a:t>
            </a:r>
          </a:p>
        </p:txBody>
      </p:sp>
      <p:sp>
        <p:nvSpPr>
          <p:cNvPr id="11" name="footer">
            <a:extLst xmlns:a="http://schemas.openxmlformats.org/drawingml/2006/main">
              <a:ext uri="{FF2B5EF4-FFF2-40B4-BE49-F238E27FC236}">
                <a16:creationId xmlns:a16="http://schemas.microsoft.com/office/drawing/2014/main" id="{3F2B5F20-DB03-4AE6-BCF0-B46F16A93E2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C89E95D5-CA1A-4D1C-A73A-9AC803AFF7F8}"/>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31</a:t>
            </a:r>
          </a:p>
        </p:txBody>
      </p:sp>
    </p:spTree>
    <p:extLst>
      <p:ext uri="{BB962C8B-B14F-4D97-AF65-F5344CB8AC3E}">
        <p14:creationId xmlns:p14="http://schemas.microsoft.com/office/powerpoint/2010/main" val="1975539640"/>
      </p:ext>
    </p:extLst>
  </p:cSld>
</p:sld>
</file>

<file path=ppt/slides/slide3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8ABB262C-EAEB-487A-9439-D5A30769DCF4}"/>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22 OCT</a:t>
            </a:r>
          </a:p>
        </p:txBody>
      </p:sp>
      <p:sp>
        <p:nvSpPr>
          <p:cNvPr id="2" name="heading">
            <a:extLst xmlns:a="http://schemas.openxmlformats.org/drawingml/2006/main">
              <a:ext uri="{FF2B5EF4-FFF2-40B4-BE49-F238E27FC236}">
                <a16:creationId xmlns:a16="http://schemas.microsoft.com/office/drawing/2014/main" id="{17A995BD-6898-407C-800A-8573DBCECC1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Risk management plan components</a:t>
            </a:r>
          </a:p>
        </p:txBody>
      </p:sp>
      <p:sp>
        <p:nvSpPr>
          <p:cNvPr id="3" name="index-0">
            <a:extLst xmlns:a="http://schemas.openxmlformats.org/drawingml/2006/main">
              <a:ext uri="{FF2B5EF4-FFF2-40B4-BE49-F238E27FC236}">
                <a16:creationId xmlns:a16="http://schemas.microsoft.com/office/drawing/2014/main" id="{56835804-5A9C-48B3-B40C-501CB1A85AA5}"/>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8296BACC-A1E8-4AB6-B05C-3C9E626E0455}"/>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Purpose explains the business need</a:t>
            </a:r>
          </a:p>
        </p:txBody>
      </p:sp>
      <p:sp>
        <p:nvSpPr>
          <p:cNvPr id="5" name="index-1">
            <a:extLst xmlns:a="http://schemas.openxmlformats.org/drawingml/2006/main">
              <a:ext uri="{FF2B5EF4-FFF2-40B4-BE49-F238E27FC236}">
                <a16:creationId xmlns:a16="http://schemas.microsoft.com/office/drawing/2014/main" id="{E85169E8-C2B3-40AE-B5FD-954154F6B1CD}"/>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872E6F8-2838-4BCA-8B2E-A6E886C74AD1}"/>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Scope identifies boundaries and dependencies</a:t>
            </a:r>
          </a:p>
        </p:txBody>
      </p:sp>
      <p:sp>
        <p:nvSpPr>
          <p:cNvPr id="7" name="index-2">
            <a:extLst xmlns:a="http://schemas.openxmlformats.org/drawingml/2006/main">
              <a:ext uri="{FF2B5EF4-FFF2-40B4-BE49-F238E27FC236}">
                <a16:creationId xmlns:a16="http://schemas.microsoft.com/office/drawing/2014/main" id="{9FC019EC-6442-4388-8E64-564576BA977F}"/>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0A07A69A-A4A7-4B3E-809B-6D9097C0A7C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Responsibilities establish decision authority</a:t>
            </a:r>
          </a:p>
        </p:txBody>
      </p:sp>
      <p:sp>
        <p:nvSpPr>
          <p:cNvPr id="9" name="index-3">
            <a:extLst xmlns:a="http://schemas.openxmlformats.org/drawingml/2006/main">
              <a:ext uri="{FF2B5EF4-FFF2-40B4-BE49-F238E27FC236}">
                <a16:creationId xmlns:a16="http://schemas.microsoft.com/office/drawing/2014/main" id="{33CA728A-99D7-4BDD-82AD-C5843A42F5D2}"/>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E2E1CCE6-B7E7-46FD-B7D1-687EEB86F574}"/>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Schedule and review keep the program usable</a:t>
            </a:r>
          </a:p>
        </p:txBody>
      </p:sp>
      <p:sp>
        <p:nvSpPr>
          <p:cNvPr id="11" name="footer">
            <a:extLst xmlns:a="http://schemas.openxmlformats.org/drawingml/2006/main">
              <a:ext uri="{FF2B5EF4-FFF2-40B4-BE49-F238E27FC236}">
                <a16:creationId xmlns:a16="http://schemas.microsoft.com/office/drawing/2014/main" id="{53CC3FD5-4562-46C9-9A3D-D0401876071B}"/>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0A1F5D85-7392-4693-BFDD-6033A42712B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32</a:t>
            </a:r>
          </a:p>
        </p:txBody>
      </p:sp>
    </p:spTree>
    <p:extLst>
      <p:ext uri="{BB962C8B-B14F-4D97-AF65-F5344CB8AC3E}">
        <p14:creationId xmlns:p14="http://schemas.microsoft.com/office/powerpoint/2010/main" val="1837590799"/>
      </p:ext>
    </p:extLst>
  </p:cSld>
</p:sld>
</file>

<file path=ppt/slides/slide3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D0419D0-7362-41C2-9ED9-6ED46226BEB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22 OCT</a:t>
            </a:r>
          </a:p>
        </p:txBody>
      </p:sp>
      <p:sp>
        <p:nvSpPr>
          <p:cNvPr id="2" name="heading">
            <a:extLst xmlns:a="http://schemas.openxmlformats.org/drawingml/2006/main">
              <a:ext uri="{FF2B5EF4-FFF2-40B4-BE49-F238E27FC236}">
                <a16:creationId xmlns:a16="http://schemas.microsoft.com/office/drawing/2014/main" id="{7BE9E715-9269-4CFD-B478-A09AA43E0F7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Scope boundaries and dependencies</a:t>
            </a:r>
          </a:p>
        </p:txBody>
      </p:sp>
      <p:sp>
        <p:nvSpPr>
          <p:cNvPr id="3" name="index-0">
            <a:extLst xmlns:a="http://schemas.openxmlformats.org/drawingml/2006/main">
              <a:ext uri="{FF2B5EF4-FFF2-40B4-BE49-F238E27FC236}">
                <a16:creationId xmlns:a16="http://schemas.microsoft.com/office/drawing/2014/main" id="{C4AE653A-C2B2-4485-936D-F454411F31DD}"/>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4A4ECE6C-CD96-4617-91B6-72605B9D6C8B}"/>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Identify included activities and information</a:t>
            </a:r>
          </a:p>
        </p:txBody>
      </p:sp>
      <p:sp>
        <p:nvSpPr>
          <p:cNvPr id="5" name="index-1">
            <a:extLst xmlns:a="http://schemas.openxmlformats.org/drawingml/2006/main">
              <a:ext uri="{FF2B5EF4-FFF2-40B4-BE49-F238E27FC236}">
                <a16:creationId xmlns:a16="http://schemas.microsoft.com/office/drawing/2014/main" id="{79B8AAAA-C136-4DD8-9186-514C4CB80DB0}"/>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14203D6D-3373-4F7D-B1C3-1A9AE044485C}"/>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Explain exclusions and remaining interfaces</a:t>
            </a:r>
          </a:p>
        </p:txBody>
      </p:sp>
      <p:sp>
        <p:nvSpPr>
          <p:cNvPr id="7" name="index-2">
            <a:extLst xmlns:a="http://schemas.openxmlformats.org/drawingml/2006/main">
              <a:ext uri="{FF2B5EF4-FFF2-40B4-BE49-F238E27FC236}">
                <a16:creationId xmlns:a16="http://schemas.microsoft.com/office/drawing/2014/main" id="{964CCC16-2FDF-44B7-8EE1-D35243605548}"/>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1BA6B0FF-2B33-478B-AD90-4A4C58EEAFCA}"/>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State assumptions and missing facts</a:t>
            </a:r>
          </a:p>
        </p:txBody>
      </p:sp>
      <p:sp>
        <p:nvSpPr>
          <p:cNvPr id="9" name="index-3">
            <a:extLst xmlns:a="http://schemas.openxmlformats.org/drawingml/2006/main">
              <a:ext uri="{FF2B5EF4-FFF2-40B4-BE49-F238E27FC236}">
                <a16:creationId xmlns:a16="http://schemas.microsoft.com/office/drawing/2014/main" id="{97A842C4-8523-485C-A816-B9D033785A69}"/>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6DD06BF2-A2C7-4A5B-9844-D56BB7A7CBC1}"/>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Retain visibility into third-party dependencies</a:t>
            </a:r>
          </a:p>
        </p:txBody>
      </p:sp>
      <p:sp>
        <p:nvSpPr>
          <p:cNvPr id="11" name="footer">
            <a:extLst xmlns:a="http://schemas.openxmlformats.org/drawingml/2006/main">
              <a:ext uri="{FF2B5EF4-FFF2-40B4-BE49-F238E27FC236}">
                <a16:creationId xmlns:a16="http://schemas.microsoft.com/office/drawing/2014/main" id="{06BC8D94-4BBA-4FA8-8287-6AB05812F40A}"/>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7CD17572-90AC-45CE-9191-1DC1CFE7F90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33</a:t>
            </a:r>
          </a:p>
        </p:txBody>
      </p:sp>
    </p:spTree>
    <p:extLst>
      <p:ext uri="{BB962C8B-B14F-4D97-AF65-F5344CB8AC3E}">
        <p14:creationId xmlns:p14="http://schemas.microsoft.com/office/powerpoint/2010/main" val="1608004238"/>
      </p:ext>
    </p:extLst>
  </p:cSld>
</p:sld>
</file>

<file path=ppt/slides/slide3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CB868C06-1FF0-48CA-A0B0-FB79AED4BF0E}"/>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22 OCT</a:t>
            </a:r>
          </a:p>
        </p:txBody>
      </p:sp>
      <p:sp>
        <p:nvSpPr>
          <p:cNvPr id="2" name="heading">
            <a:extLst xmlns:a="http://schemas.openxmlformats.org/drawingml/2006/main">
              <a:ext uri="{FF2B5EF4-FFF2-40B4-BE49-F238E27FC236}">
                <a16:creationId xmlns:a16="http://schemas.microsoft.com/office/drawing/2014/main" id="{5E66AB38-5E34-4480-8162-6997325E0AE9}"/>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Ownership and authority</a:t>
            </a:r>
          </a:p>
        </p:txBody>
      </p:sp>
      <p:graphicFrame>
        <p:nvGraphicFramePr>
          <p:cNvPr id="3" name="">
            <a:extLst xmlns:a="http://schemas.openxmlformats.org/drawingml/2006/main">
              <a:ext uri="{FF2B5EF4-FFF2-40B4-BE49-F238E27FC236}">
                <a16:creationId xmlns:a16="http://schemas.microsoft.com/office/drawing/2014/main" id="{8F8D3A14-70E8-42B4-994B-7C560A598EB4}"/>
              </a:ext>
            </a:extLst>
          </p:cNvPr>
          <p:cNvGraphicFramePr/>
          <p:nvPr/>
        </p:nvGraphicFramePr>
        <p:xfrm>
          <a:off xmlns:a="http://schemas.openxmlformats.org/drawingml/2006/main" x="609600" y="2114550"/>
          <a:ext xmlns:a="http://schemas.openxmlformats.org/drawingml/2006/main" cx="10972800" cy="3476625"/>
        </p:xfrm>
        <a:graphic xmlns:a="http://schemas.openxmlformats.org/drawingml/2006/main">
          <a:graphicData uri="http://schemas.openxmlformats.org/drawingml/2006/table">
            <a:tbl>
              <a:tblPr/>
              <a:tblGrid>
                <a:gridCol w="2333625"/>
                <a:gridCol w="4000500"/>
                <a:gridCol w="4638675"/>
              </a:tblGrid>
              <a:tr h="695325">
                <a:tc>
                  <a:txBody>
                    <a:bodyPr/>
                    <a:lstStyle/>
                    <a:p>
                      <a:r>
                        <a:rPr sz="1725" b="1">
                          <a:solidFill>
                            <a:srgbClr val="FFFFFF"/>
                          </a:solidFill>
                          <a:latin typeface="Arial"/>
                          <a:ea typeface="Arial"/>
                          <a:cs typeface="Arial"/>
                        </a:rPr>
                        <a:t>Role</a:t>
                      </a:r>
                    </a:p>
                  </a:txBody>
                  <a:tcPr marL="91440" marR="91440" marT="45720" marB="45720">
                    <a:lnL w="9525">
                      <a:solidFill>
                        <a:srgbClr val="CBD5DA"/>
                      </a:solidFill>
                      <a:prstDash val="solid"/>
                    </a:lnL>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Practice responsibility</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c>
                  <a:txBody>
                    <a:bodyPr/>
                    <a:lstStyle/>
                    <a:p>
                      <a:r>
                        <a:rPr sz="1725" b="1">
                          <a:solidFill>
                            <a:srgbClr val="FFFFFF"/>
                          </a:solidFill>
                          <a:latin typeface="Arial"/>
                          <a:ea typeface="Arial"/>
                          <a:cs typeface="Arial"/>
                        </a:rPr>
                        <a:t>Question</a:t>
                      </a:r>
                    </a:p>
                  </a:txBody>
                  <a:tcPr marL="91440" marR="91440" marT="45720" marB="45720">
                    <a:lnR w="9525">
                      <a:solidFill>
                        <a:srgbClr val="CBD5DA"/>
                      </a:solidFill>
                      <a:prstDash val="solid"/>
                    </a:lnR>
                    <a:lnT w="9525">
                      <a:solidFill>
                        <a:srgbClr val="CBD5DA"/>
                      </a:solidFill>
                      <a:prstDash val="solid"/>
                    </a:lnT>
                    <a:lnB w="9525">
                      <a:solidFill>
                        <a:srgbClr val="CBD5DA"/>
                      </a:solidFill>
                      <a:prstDash val="solid"/>
                    </a:lnB>
                    <a:solidFill>
                      <a:srgbClr val="173B50"/>
                    </a:solidFill>
                  </a:tcPr>
                </a:tc>
              </a:tr>
              <a:tr h="695325">
                <a:tc>
                  <a:txBody>
                    <a:bodyPr/>
                    <a:lstStyle/>
                    <a:p>
                      <a:r>
                        <a:rPr sz="1725" b="0">
                          <a:solidFill>
                            <a:srgbClr val="102F40"/>
                          </a:solidFill>
                          <a:latin typeface="Arial"/>
                          <a:ea typeface="Arial"/>
                          <a:cs typeface="Arial"/>
                        </a:rPr>
                        <a:t>Business manager</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Owns business decisions</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Who accepts remaining risk?</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IT provider</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Operates agreed controls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What evidence is available?</a:t>
                      </a:r>
                    </a:p>
                  </a:txBody>
                  <a:tcPr marL="91440" marR="91440" marT="45720" marB="45720">
                    <a:lnR w="9525">
                      <a:solidFill>
                        <a:srgbClr val="CBD5DA"/>
                      </a:solidFill>
                      <a:prstDash val="solid"/>
                    </a:lnR>
                    <a:lnB w="9525">
                      <a:solidFill>
                        <a:srgbClr val="CBD5DA"/>
                      </a:solidFill>
                      <a:prstDash val="solid"/>
                    </a:lnB>
                    <a:solidFill>
                      <a:srgbClr val="EBF0F2"/>
                    </a:solidFill>
                  </a:tcPr>
                </a:tc>
              </a:tr>
              <a:tr h="695325">
                <a:tc>
                  <a:txBody>
                    <a:bodyPr/>
                    <a:lstStyle/>
                    <a:p>
                      <a:r>
                        <a:rPr sz="1725" b="0">
                          <a:solidFill>
                            <a:srgbClr val="102F40"/>
                          </a:solidFill>
                          <a:latin typeface="Arial"/>
                          <a:ea typeface="Arial"/>
                          <a:cs typeface="Arial"/>
                        </a:rPr>
                        <a:t>Staff</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Follow procedures and report</a:t>
                      </a:r>
                    </a:p>
                  </a:txBody>
                  <a:tcPr marL="91440" marR="91440" marT="45720" marB="45720">
                    <a:lnR w="9525">
                      <a:solidFill>
                        <a:srgbClr val="CBD5DA"/>
                      </a:solidFill>
                      <a:prstDash val="solid"/>
                    </a:lnR>
                    <a:lnB w="9525">
                      <a:solidFill>
                        <a:srgbClr val="CBD5DA"/>
                      </a:solidFill>
                      <a:prstDash val="solid"/>
                    </a:lnB>
                    <a:solidFill>
                      <a:srgbClr val="FFFFFF"/>
                    </a:solidFill>
                  </a:tcPr>
                </a:tc>
                <a:tc>
                  <a:txBody>
                    <a:bodyPr/>
                    <a:lstStyle/>
                    <a:p>
                      <a:r>
                        <a:rPr sz="1725" b="0">
                          <a:solidFill>
                            <a:srgbClr val="102F40"/>
                          </a:solidFill>
                          <a:latin typeface="Arial"/>
                          <a:ea typeface="Arial"/>
                          <a:cs typeface="Arial"/>
                        </a:rPr>
                        <a:t>What reporting route is clear?</a:t>
                      </a:r>
                    </a:p>
                  </a:txBody>
                  <a:tcPr marL="91440" marR="91440" marT="45720" marB="45720">
                    <a:lnR w="9525">
                      <a:solidFill>
                        <a:srgbClr val="CBD5DA"/>
                      </a:solidFill>
                      <a:prstDash val="solid"/>
                    </a:lnR>
                    <a:lnB w="9525">
                      <a:solidFill>
                        <a:srgbClr val="CBD5DA"/>
                      </a:solidFill>
                      <a:prstDash val="solid"/>
                    </a:lnB>
                    <a:solidFill>
                      <a:srgbClr val="FFFFFF"/>
                    </a:solidFill>
                  </a:tcPr>
                </a:tc>
              </a:tr>
              <a:tr h="695325">
                <a:tc>
                  <a:txBody>
                    <a:bodyPr/>
                    <a:lstStyle/>
                    <a:p>
                      <a:r>
                        <a:rPr sz="1725" b="0">
                          <a:solidFill>
                            <a:srgbClr val="102F40"/>
                          </a:solidFill>
                          <a:latin typeface="Arial"/>
                          <a:ea typeface="Arial"/>
                          <a:cs typeface="Arial"/>
                        </a:rPr>
                        <a:t>Reviewer</a:t>
                      </a:r>
                    </a:p>
                  </a:txBody>
                  <a:tcPr marL="91440" marR="91440" marT="45720" marB="45720">
                    <a:lnL w="9525">
                      <a:solidFill>
                        <a:srgbClr val="CBD5DA"/>
                      </a:solidFill>
                      <a:prstDash val="solid"/>
                    </a:lnL>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Checks evidence and exceptions</a:t>
                      </a:r>
                    </a:p>
                  </a:txBody>
                  <a:tcPr marL="91440" marR="91440" marT="45720" marB="45720">
                    <a:lnR w="9525">
                      <a:solidFill>
                        <a:srgbClr val="CBD5DA"/>
                      </a:solidFill>
                      <a:prstDash val="solid"/>
                    </a:lnR>
                    <a:lnB w="9525">
                      <a:solidFill>
                        <a:srgbClr val="CBD5DA"/>
                      </a:solidFill>
                      <a:prstDash val="solid"/>
                    </a:lnB>
                    <a:solidFill>
                      <a:srgbClr val="EBF0F2"/>
                    </a:solidFill>
                  </a:tcPr>
                </a:tc>
                <a:tc>
                  <a:txBody>
                    <a:bodyPr/>
                    <a:lstStyle/>
                    <a:p>
                      <a:r>
                        <a:rPr sz="1725" b="0">
                          <a:solidFill>
                            <a:srgbClr val="102F40"/>
                          </a:solidFill>
                          <a:latin typeface="Arial"/>
                          <a:ea typeface="Arial"/>
                          <a:cs typeface="Arial"/>
                        </a:rPr>
                        <a:t>What requires escalation?</a:t>
                      </a:r>
                    </a:p>
                  </a:txBody>
                  <a:tcPr marL="91440" marR="91440" marT="45720" marB="45720">
                    <a:lnR w="9525">
                      <a:solidFill>
                        <a:srgbClr val="CBD5DA"/>
                      </a:solidFill>
                      <a:prstDash val="solid"/>
                    </a:lnR>
                    <a:lnB w="9525">
                      <a:solidFill>
                        <a:srgbClr val="CBD5DA"/>
                      </a:solidFill>
                      <a:prstDash val="solid"/>
                    </a:lnB>
                    <a:solidFill>
                      <a:srgbClr val="EBF0F2"/>
                    </a:solidFill>
                  </a:tcPr>
                </a:tc>
              </a:tr>
            </a:tbl>
          </a:graphicData>
        </a:graphic>
      </p:graphicFrame>
      <p:sp>
        <p:nvSpPr>
          <p:cNvPr id="4" name="footer">
            <a:extLst xmlns:a="http://schemas.openxmlformats.org/drawingml/2006/main">
              <a:ext uri="{FF2B5EF4-FFF2-40B4-BE49-F238E27FC236}">
                <a16:creationId xmlns:a16="http://schemas.microsoft.com/office/drawing/2014/main" id="{A01E113F-4347-47AA-B018-7FE193FAE107}"/>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5" name="page">
            <a:extLst xmlns:a="http://schemas.openxmlformats.org/drawingml/2006/main">
              <a:ext uri="{FF2B5EF4-FFF2-40B4-BE49-F238E27FC236}">
                <a16:creationId xmlns:a16="http://schemas.microsoft.com/office/drawing/2014/main" id="{B81F0BA2-BA2F-4987-BBD1-0CA4DEB1A939}"/>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34</a:t>
            </a:r>
          </a:p>
        </p:txBody>
      </p:sp>
    </p:spTree>
    <p:extLst>
      <p:ext uri="{BB962C8B-B14F-4D97-AF65-F5344CB8AC3E}">
        <p14:creationId xmlns:p14="http://schemas.microsoft.com/office/powerpoint/2010/main" val="1541628882"/>
      </p:ext>
    </p:extLst>
  </p:cSld>
</p:sld>
</file>

<file path=ppt/slides/slide35.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62241E5B-D380-4818-B051-6552C815A38D}"/>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THURSDAY 22 OCT</a:t>
            </a:r>
          </a:p>
        </p:txBody>
      </p:sp>
      <p:sp>
        <p:nvSpPr>
          <p:cNvPr id="2" name="heading">
            <a:extLst xmlns:a="http://schemas.openxmlformats.org/drawingml/2006/main">
              <a:ext uri="{FF2B5EF4-FFF2-40B4-BE49-F238E27FC236}">
                <a16:creationId xmlns:a16="http://schemas.microsoft.com/office/drawing/2014/main" id="{E647737D-4F1A-44B2-8F48-8B8F35A6F4A6}"/>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A7 one-decision planning board</a:t>
            </a:r>
          </a:p>
        </p:txBody>
      </p:sp>
      <p:sp>
        <p:nvSpPr>
          <p:cNvPr id="3" name="index-0">
            <a:extLst xmlns:a="http://schemas.openxmlformats.org/drawingml/2006/main">
              <a:ext uri="{FF2B5EF4-FFF2-40B4-BE49-F238E27FC236}">
                <a16:creationId xmlns:a16="http://schemas.microsoft.com/office/drawing/2014/main" id="{ADFA2914-6D54-46EC-9E5C-968A8B484C10}"/>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0C9354D-8524-44A9-842F-45517F8D4AA1}"/>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a scope or responsibility decision</a:t>
            </a:r>
          </a:p>
        </p:txBody>
      </p:sp>
      <p:sp>
        <p:nvSpPr>
          <p:cNvPr id="5" name="index-1">
            <a:extLst xmlns:a="http://schemas.openxmlformats.org/drawingml/2006/main">
              <a:ext uri="{FF2B5EF4-FFF2-40B4-BE49-F238E27FC236}">
                <a16:creationId xmlns:a16="http://schemas.microsoft.com/office/drawing/2014/main" id="{F0A5871C-1B1B-44D0-9DBD-EC2289B4AC8A}"/>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65750907-867A-42BD-A26F-3CF8E073B5CB}"/>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Name authority and an operating role</a:t>
            </a:r>
          </a:p>
        </p:txBody>
      </p:sp>
      <p:sp>
        <p:nvSpPr>
          <p:cNvPr id="7" name="index-2">
            <a:extLst xmlns:a="http://schemas.openxmlformats.org/drawingml/2006/main">
              <a:ext uri="{FF2B5EF4-FFF2-40B4-BE49-F238E27FC236}">
                <a16:creationId xmlns:a16="http://schemas.microsoft.com/office/drawing/2014/main" id="{71621EB9-1A12-423A-966C-E20FDCC06DD7}"/>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24A7E440-07DE-404E-A681-D98BC9ED67A3}"/>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Specify completion evidence and a review trigger</a:t>
            </a:r>
          </a:p>
        </p:txBody>
      </p:sp>
      <p:sp>
        <p:nvSpPr>
          <p:cNvPr id="9" name="index-3">
            <a:extLst xmlns:a="http://schemas.openxmlformats.org/drawingml/2006/main">
              <a:ext uri="{FF2B5EF4-FFF2-40B4-BE49-F238E27FC236}">
                <a16:creationId xmlns:a16="http://schemas.microsoft.com/office/drawing/2014/main" id="{BCDFFA27-9DA7-407A-A8EB-5DCF875B5FBF}"/>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85DC364E-2ACC-4D46-95E3-DC56FA437770}"/>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with a feasibility challenge</a:t>
            </a:r>
          </a:p>
        </p:txBody>
      </p:sp>
      <p:sp>
        <p:nvSpPr>
          <p:cNvPr id="11" name="footer">
            <a:extLst xmlns:a="http://schemas.openxmlformats.org/drawingml/2006/main">
              <a:ext uri="{FF2B5EF4-FFF2-40B4-BE49-F238E27FC236}">
                <a16:creationId xmlns:a16="http://schemas.microsoft.com/office/drawing/2014/main" id="{BCE273E0-3535-487E-9FC8-44C039AB133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A119DD3A-98B6-4120-8730-951811F6346A}"/>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35</a:t>
            </a:r>
          </a:p>
        </p:txBody>
      </p:sp>
    </p:spTree>
    <p:extLst>
      <p:ext uri="{BB962C8B-B14F-4D97-AF65-F5344CB8AC3E}">
        <p14:creationId xmlns:p14="http://schemas.microsoft.com/office/powerpoint/2010/main" val="1158695809"/>
      </p:ext>
    </p:extLst>
  </p:cSld>
</p:sld>
</file>

<file path=ppt/slides/slide3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BC47932A-126E-41CE-89A1-28562624FEF5}"/>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22 OCT</a:t>
            </a:r>
          </a:p>
        </p:txBody>
      </p:sp>
      <p:sp>
        <p:nvSpPr>
          <p:cNvPr id="2" name="heading">
            <a:extLst xmlns:a="http://schemas.openxmlformats.org/drawingml/2006/main">
              <a:ext uri="{FF2B5EF4-FFF2-40B4-BE49-F238E27FC236}">
                <a16:creationId xmlns:a16="http://schemas.microsoft.com/office/drawing/2014/main" id="{8D83A5F6-333F-47EE-8C87-D31B827B7AA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Milestones and review evidence</a:t>
            </a:r>
          </a:p>
        </p:txBody>
      </p:sp>
      <p:sp>
        <p:nvSpPr>
          <p:cNvPr id="3" name="index-0">
            <a:extLst xmlns:a="http://schemas.openxmlformats.org/drawingml/2006/main">
              <a:ext uri="{FF2B5EF4-FFF2-40B4-BE49-F238E27FC236}">
                <a16:creationId xmlns:a16="http://schemas.microsoft.com/office/drawing/2014/main" id="{6ACA3BF3-BDD4-493C-92B9-14EB5FD1F830}"/>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9249E51E-718D-476B-ADE1-0B21AAC2889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 milestone describes an observable result</a:t>
            </a:r>
          </a:p>
        </p:txBody>
      </p:sp>
      <p:sp>
        <p:nvSpPr>
          <p:cNvPr id="5" name="index-1">
            <a:extLst xmlns:a="http://schemas.openxmlformats.org/drawingml/2006/main">
              <a:ext uri="{FF2B5EF4-FFF2-40B4-BE49-F238E27FC236}">
                <a16:creationId xmlns:a16="http://schemas.microsoft.com/office/drawing/2014/main" id="{320C04F2-F076-4AC8-909B-5CA2541869D9}"/>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79413D41-16CC-4688-8AB3-B3A8CAF74C38}"/>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An owner coordinates completion</a:t>
            </a:r>
          </a:p>
        </p:txBody>
      </p:sp>
      <p:sp>
        <p:nvSpPr>
          <p:cNvPr id="7" name="index-2">
            <a:extLst xmlns:a="http://schemas.openxmlformats.org/drawingml/2006/main">
              <a:ext uri="{FF2B5EF4-FFF2-40B4-BE49-F238E27FC236}">
                <a16:creationId xmlns:a16="http://schemas.microsoft.com/office/drawing/2014/main" id="{902B0868-922C-45EB-B853-ABEA984F3D44}"/>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5FF57DB2-27A7-4B0E-A5E1-BB19635D495B}"/>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Dependencies affect feasible sequencing</a:t>
            </a:r>
          </a:p>
        </p:txBody>
      </p:sp>
      <p:sp>
        <p:nvSpPr>
          <p:cNvPr id="9" name="index-3">
            <a:extLst xmlns:a="http://schemas.openxmlformats.org/drawingml/2006/main">
              <a:ext uri="{FF2B5EF4-FFF2-40B4-BE49-F238E27FC236}">
                <a16:creationId xmlns:a16="http://schemas.microsoft.com/office/drawing/2014/main" id="{BFB52F32-13CD-49C1-84FB-E5E32754E456}"/>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A58E16EA-A995-435F-805A-10277A0B6401}"/>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Review responds to changed conditions</a:t>
            </a:r>
          </a:p>
        </p:txBody>
      </p:sp>
      <p:sp>
        <p:nvSpPr>
          <p:cNvPr id="11" name="footer">
            <a:extLst xmlns:a="http://schemas.openxmlformats.org/drawingml/2006/main">
              <a:ext uri="{FF2B5EF4-FFF2-40B4-BE49-F238E27FC236}">
                <a16:creationId xmlns:a16="http://schemas.microsoft.com/office/drawing/2014/main" id="{8C4BC78B-39C6-4495-A234-5CA4DF2C9623}"/>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5E02A8AF-57DF-4B4C-A42E-0CC35F8D3097}"/>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36</a:t>
            </a:r>
          </a:p>
        </p:txBody>
      </p:sp>
    </p:spTree>
    <p:extLst>
      <p:ext uri="{BB962C8B-B14F-4D97-AF65-F5344CB8AC3E}">
        <p14:creationId xmlns:p14="http://schemas.microsoft.com/office/powerpoint/2010/main" val="1514461576"/>
      </p:ext>
    </p:extLst>
  </p:cSld>
</p:sld>
</file>

<file path=ppt/slides/slide37.xml><?xml version="1.0" encoding="utf-8"?>
<p:sld xmlns:p="http://schemas.openxmlformats.org/presentationml/2006/main">
  <p:cSld>
    <p:bg>
      <p:bgPr>
        <a:solidFill xmlns:a="http://schemas.openxmlformats.org/drawingml/2006/main">
          <a:srgbClr val="102F40"/>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C1FF0CB2-3665-472E-A7F8-C6AA020DAE7C}"/>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8BD2C9"/>
                </a:solidFill>
                <a:latin typeface="Arial"/>
                <a:ea typeface="Arial"/>
                <a:cs typeface="Arial"/>
              </a:defRPr>
            </a:defPPr>
            <a:lvl1pPr>
              <a:defRPr sz="1275" b="1">
                <a:solidFill>
                  <a:srgbClr val="8BD2C9"/>
                </a:solidFill>
                <a:latin typeface="Arial"/>
                <a:ea typeface="Arial"/>
                <a:cs typeface="Arial"/>
              </a:defRPr>
            </a:lvl1pPr>
            <a:lvl2pPr>
              <a:defRPr sz="1275" b="1">
                <a:solidFill>
                  <a:srgbClr val="8BD2C9"/>
                </a:solidFill>
                <a:latin typeface="Arial"/>
                <a:ea typeface="Arial"/>
                <a:cs typeface="Arial"/>
              </a:defRPr>
            </a:lvl2pPr>
            <a:lvl3pPr>
              <a:defRPr sz="1275" b="1">
                <a:solidFill>
                  <a:srgbClr val="8BD2C9"/>
                </a:solidFill>
                <a:latin typeface="Arial"/>
                <a:ea typeface="Arial"/>
                <a:cs typeface="Arial"/>
              </a:defRPr>
            </a:lvl3pPr>
            <a:lvl4pPr>
              <a:defRPr sz="1275" b="1">
                <a:solidFill>
                  <a:srgbClr val="8BD2C9"/>
                </a:solidFill>
                <a:latin typeface="Arial"/>
                <a:ea typeface="Arial"/>
                <a:cs typeface="Arial"/>
              </a:defRPr>
            </a:lvl4pPr>
            <a:lvl5pPr>
              <a:defRPr sz="1275" b="1">
                <a:solidFill>
                  <a:srgbClr val="8BD2C9"/>
                </a:solidFill>
                <a:latin typeface="Arial"/>
                <a:ea typeface="Arial"/>
                <a:cs typeface="Arial"/>
              </a:defRPr>
            </a:lvl5pPr>
            <a:lvl6pPr>
              <a:defRPr sz="1275" b="1">
                <a:solidFill>
                  <a:srgbClr val="8BD2C9"/>
                </a:solidFill>
                <a:latin typeface="Arial"/>
                <a:ea typeface="Arial"/>
                <a:cs typeface="Arial"/>
              </a:defRPr>
            </a:lvl6pPr>
            <a:lvl7pPr>
              <a:defRPr sz="1275" b="1">
                <a:solidFill>
                  <a:srgbClr val="8BD2C9"/>
                </a:solidFill>
                <a:latin typeface="Arial"/>
                <a:ea typeface="Arial"/>
                <a:cs typeface="Arial"/>
              </a:defRPr>
            </a:lvl7pPr>
            <a:lvl8pPr>
              <a:defRPr sz="1275" b="1">
                <a:solidFill>
                  <a:srgbClr val="8BD2C9"/>
                </a:solidFill>
                <a:latin typeface="Arial"/>
                <a:ea typeface="Arial"/>
                <a:cs typeface="Arial"/>
              </a:defRPr>
            </a:lvl8pPr>
            <a:lvl9pPr>
              <a:defRPr sz="1275" b="1">
                <a:solidFill>
                  <a:srgbClr val="8BD2C9"/>
                </a:solidFill>
                <a:latin typeface="Arial"/>
                <a:ea typeface="Arial"/>
                <a:cs typeface="Arial"/>
              </a:defRPr>
            </a:lvl9pPr>
          </a:lstStyle>
          <a:p xmlns:a="http://schemas.openxmlformats.org/drawingml/2006/main">
            <a:pPr>
              <a:defRPr sz="1275" b="1">
                <a:solidFill>
                  <a:srgbClr val="8BD2C9"/>
                </a:solidFill>
                <a:latin typeface="Arial"/>
                <a:ea typeface="Arial"/>
                <a:cs typeface="Arial"/>
              </a:defRPr>
            </a:pPr>
            <a:r>
              <a:rPr sz="1275" b="1">
                <a:solidFill>
                  <a:srgbClr val="8BD2C9"/>
                </a:solidFill>
                <a:latin typeface="Arial"/>
                <a:ea typeface="Arial"/>
                <a:cs typeface="Arial"/>
              </a:rPr>
              <a:t>THURSDAY 22 OCT</a:t>
            </a:r>
          </a:p>
        </p:txBody>
      </p:sp>
      <p:sp>
        <p:nvSpPr>
          <p:cNvPr id="2" name="heading">
            <a:extLst xmlns:a="http://schemas.openxmlformats.org/drawingml/2006/main">
              <a:ext uri="{FF2B5EF4-FFF2-40B4-BE49-F238E27FC236}">
                <a16:creationId xmlns:a16="http://schemas.microsoft.com/office/drawing/2014/main" id="{332D09FD-3999-4628-A086-E9412A94904C}"/>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A8 tabletop and AI claim audit</a:t>
            </a:r>
          </a:p>
        </p:txBody>
      </p:sp>
      <p:sp>
        <p:nvSpPr>
          <p:cNvPr id="3" name="index-0">
            <a:extLst xmlns:a="http://schemas.openxmlformats.org/drawingml/2006/main">
              <a:ext uri="{FF2B5EF4-FFF2-40B4-BE49-F238E27FC236}">
                <a16:creationId xmlns:a16="http://schemas.microsoft.com/office/drawing/2014/main" id="{E8EDD85A-56D4-4DB2-AF8F-CE690BEA01C4}"/>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DA714D7A-5550-414E-9ACF-9201BE4733DE}"/>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Failed logins do not establish a breach</a:t>
            </a:r>
          </a:p>
        </p:txBody>
      </p:sp>
      <p:sp>
        <p:nvSpPr>
          <p:cNvPr id="5" name="index-1">
            <a:extLst xmlns:a="http://schemas.openxmlformats.org/drawingml/2006/main">
              <a:ext uri="{FF2B5EF4-FFF2-40B4-BE49-F238E27FC236}">
                <a16:creationId xmlns:a16="http://schemas.microsoft.com/office/drawing/2014/main" id="{0C39886C-EE0F-412F-9B0E-E76DEA77015E}"/>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84083A0F-D1DD-4AAC-B086-AB8812BEB605}"/>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Backups do not block remote authentication</a:t>
            </a:r>
          </a:p>
        </p:txBody>
      </p:sp>
      <p:sp>
        <p:nvSpPr>
          <p:cNvPr id="7" name="index-2">
            <a:extLst xmlns:a="http://schemas.openxmlformats.org/drawingml/2006/main">
              <a:ext uri="{FF2B5EF4-FFF2-40B4-BE49-F238E27FC236}">
                <a16:creationId xmlns:a16="http://schemas.microsoft.com/office/drawing/2014/main" id="{D103D7FF-5485-4AE0-A7D0-39CD860527BB}"/>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BB7EAED9-31D6-406D-B5FD-8AA28C81DBD3}"/>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Roles request evidence and justify action</a:t>
            </a:r>
          </a:p>
        </p:txBody>
      </p:sp>
      <p:sp>
        <p:nvSpPr>
          <p:cNvPr id="9" name="index-3">
            <a:extLst xmlns:a="http://schemas.openxmlformats.org/drawingml/2006/main">
              <a:ext uri="{FF2B5EF4-FFF2-40B4-BE49-F238E27FC236}">
                <a16:creationId xmlns:a16="http://schemas.microsoft.com/office/drawing/2014/main" id="{16BBC0C0-012C-43E7-8DCA-AC561A2DC4FF}"/>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8BD2C9"/>
                </a:solidFill>
                <a:latin typeface="Arial"/>
                <a:ea typeface="Arial"/>
                <a:cs typeface="Arial"/>
              </a:defRPr>
            </a:defPPr>
            <a:lvl1pPr>
              <a:defRPr sz="1650" b="1">
                <a:solidFill>
                  <a:srgbClr val="8BD2C9"/>
                </a:solidFill>
                <a:latin typeface="Arial"/>
                <a:ea typeface="Arial"/>
                <a:cs typeface="Arial"/>
              </a:defRPr>
            </a:lvl1pPr>
            <a:lvl2pPr>
              <a:defRPr sz="1650" b="1">
                <a:solidFill>
                  <a:srgbClr val="8BD2C9"/>
                </a:solidFill>
                <a:latin typeface="Arial"/>
                <a:ea typeface="Arial"/>
                <a:cs typeface="Arial"/>
              </a:defRPr>
            </a:lvl2pPr>
            <a:lvl3pPr>
              <a:defRPr sz="1650" b="1">
                <a:solidFill>
                  <a:srgbClr val="8BD2C9"/>
                </a:solidFill>
                <a:latin typeface="Arial"/>
                <a:ea typeface="Arial"/>
                <a:cs typeface="Arial"/>
              </a:defRPr>
            </a:lvl3pPr>
            <a:lvl4pPr>
              <a:defRPr sz="1650" b="1">
                <a:solidFill>
                  <a:srgbClr val="8BD2C9"/>
                </a:solidFill>
                <a:latin typeface="Arial"/>
                <a:ea typeface="Arial"/>
                <a:cs typeface="Arial"/>
              </a:defRPr>
            </a:lvl4pPr>
            <a:lvl5pPr>
              <a:defRPr sz="1650" b="1">
                <a:solidFill>
                  <a:srgbClr val="8BD2C9"/>
                </a:solidFill>
                <a:latin typeface="Arial"/>
                <a:ea typeface="Arial"/>
                <a:cs typeface="Arial"/>
              </a:defRPr>
            </a:lvl5pPr>
            <a:lvl6pPr>
              <a:defRPr sz="1650" b="1">
                <a:solidFill>
                  <a:srgbClr val="8BD2C9"/>
                </a:solidFill>
                <a:latin typeface="Arial"/>
                <a:ea typeface="Arial"/>
                <a:cs typeface="Arial"/>
              </a:defRPr>
            </a:lvl6pPr>
            <a:lvl7pPr>
              <a:defRPr sz="1650" b="1">
                <a:solidFill>
                  <a:srgbClr val="8BD2C9"/>
                </a:solidFill>
                <a:latin typeface="Arial"/>
                <a:ea typeface="Arial"/>
                <a:cs typeface="Arial"/>
              </a:defRPr>
            </a:lvl7pPr>
            <a:lvl8pPr>
              <a:defRPr sz="1650" b="1">
                <a:solidFill>
                  <a:srgbClr val="8BD2C9"/>
                </a:solidFill>
                <a:latin typeface="Arial"/>
                <a:ea typeface="Arial"/>
                <a:cs typeface="Arial"/>
              </a:defRPr>
            </a:lvl8pPr>
            <a:lvl9pPr>
              <a:defRPr sz="1650" b="1">
                <a:solidFill>
                  <a:srgbClr val="8BD2C9"/>
                </a:solidFill>
                <a:latin typeface="Arial"/>
                <a:ea typeface="Arial"/>
                <a:cs typeface="Arial"/>
              </a:defRPr>
            </a:lvl9pPr>
          </a:lstStyle>
          <a:p xmlns:a="http://schemas.openxmlformats.org/drawingml/2006/main">
            <a:pPr>
              <a:defRPr sz="1650" b="1">
                <a:solidFill>
                  <a:srgbClr val="8BD2C9"/>
                </a:solidFill>
                <a:latin typeface="Arial"/>
                <a:ea typeface="Arial"/>
                <a:cs typeface="Arial"/>
              </a:defRPr>
            </a:pPr>
            <a:r>
              <a:rPr sz="1650" b="1">
                <a:solidFill>
                  <a:srgbClr val="8BD2C9"/>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B4426D02-2CCC-4C5B-9081-70B8DC2E3F8A}"/>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25 minutes with a short debrief</a:t>
            </a:r>
          </a:p>
        </p:txBody>
      </p:sp>
      <p:sp>
        <p:nvSpPr>
          <p:cNvPr id="11" name="footer">
            <a:extLst xmlns:a="http://schemas.openxmlformats.org/drawingml/2006/main">
              <a:ext uri="{FF2B5EF4-FFF2-40B4-BE49-F238E27FC236}">
                <a16:creationId xmlns:a16="http://schemas.microsoft.com/office/drawing/2014/main" id="{70E3A954-272D-4215-8ACB-C6F586A1B541}"/>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C833E42B-FD48-47BA-AAF5-B85D8D0BF4DC}"/>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C3D9DE"/>
                </a:solidFill>
                <a:latin typeface="Arial"/>
                <a:ea typeface="Arial"/>
                <a:cs typeface="Arial"/>
              </a:defRPr>
            </a:defPPr>
            <a:lvl1pPr>
              <a:defRPr sz="1125" b="0">
                <a:solidFill>
                  <a:srgbClr val="C3D9DE"/>
                </a:solidFill>
                <a:latin typeface="Arial"/>
                <a:ea typeface="Arial"/>
                <a:cs typeface="Arial"/>
              </a:defRPr>
            </a:lvl1pPr>
            <a:lvl2pPr>
              <a:defRPr sz="1125" b="0">
                <a:solidFill>
                  <a:srgbClr val="C3D9DE"/>
                </a:solidFill>
                <a:latin typeface="Arial"/>
                <a:ea typeface="Arial"/>
                <a:cs typeface="Arial"/>
              </a:defRPr>
            </a:lvl2pPr>
            <a:lvl3pPr>
              <a:defRPr sz="1125" b="0">
                <a:solidFill>
                  <a:srgbClr val="C3D9DE"/>
                </a:solidFill>
                <a:latin typeface="Arial"/>
                <a:ea typeface="Arial"/>
                <a:cs typeface="Arial"/>
              </a:defRPr>
            </a:lvl3pPr>
            <a:lvl4pPr>
              <a:defRPr sz="1125" b="0">
                <a:solidFill>
                  <a:srgbClr val="C3D9DE"/>
                </a:solidFill>
                <a:latin typeface="Arial"/>
                <a:ea typeface="Arial"/>
                <a:cs typeface="Arial"/>
              </a:defRPr>
            </a:lvl4pPr>
            <a:lvl5pPr>
              <a:defRPr sz="1125" b="0">
                <a:solidFill>
                  <a:srgbClr val="C3D9DE"/>
                </a:solidFill>
                <a:latin typeface="Arial"/>
                <a:ea typeface="Arial"/>
                <a:cs typeface="Arial"/>
              </a:defRPr>
            </a:lvl5pPr>
            <a:lvl6pPr>
              <a:defRPr sz="1125" b="0">
                <a:solidFill>
                  <a:srgbClr val="C3D9DE"/>
                </a:solidFill>
                <a:latin typeface="Arial"/>
                <a:ea typeface="Arial"/>
                <a:cs typeface="Arial"/>
              </a:defRPr>
            </a:lvl6pPr>
            <a:lvl7pPr>
              <a:defRPr sz="1125" b="0">
                <a:solidFill>
                  <a:srgbClr val="C3D9DE"/>
                </a:solidFill>
                <a:latin typeface="Arial"/>
                <a:ea typeface="Arial"/>
                <a:cs typeface="Arial"/>
              </a:defRPr>
            </a:lvl7pPr>
            <a:lvl8pPr>
              <a:defRPr sz="1125" b="0">
                <a:solidFill>
                  <a:srgbClr val="C3D9DE"/>
                </a:solidFill>
                <a:latin typeface="Arial"/>
                <a:ea typeface="Arial"/>
                <a:cs typeface="Arial"/>
              </a:defRPr>
            </a:lvl8pPr>
            <a:lvl9pPr>
              <a:defRPr sz="1125" b="0">
                <a:solidFill>
                  <a:srgbClr val="C3D9DE"/>
                </a:solidFill>
                <a:latin typeface="Arial"/>
                <a:ea typeface="Arial"/>
                <a:cs typeface="Arial"/>
              </a:defRPr>
            </a:lvl9pPr>
          </a:lstStyle>
          <a:p xmlns:a="http://schemas.openxmlformats.org/drawingml/2006/main">
            <a:pPr>
              <a:defRPr sz="1125" b="0">
                <a:solidFill>
                  <a:srgbClr val="C3D9DE"/>
                </a:solidFill>
                <a:latin typeface="Arial"/>
                <a:ea typeface="Arial"/>
                <a:cs typeface="Arial"/>
              </a:defRPr>
            </a:pPr>
            <a:r>
              <a:rPr sz="1125" b="0">
                <a:solidFill>
                  <a:srgbClr val="C3D9DE"/>
                </a:solidFill>
                <a:latin typeface="Arial"/>
                <a:ea typeface="Arial"/>
                <a:cs typeface="Arial"/>
              </a:rPr>
              <a:t>37</a:t>
            </a:r>
          </a:p>
        </p:txBody>
      </p:sp>
    </p:spTree>
    <p:extLst>
      <p:ext uri="{BB962C8B-B14F-4D97-AF65-F5344CB8AC3E}">
        <p14:creationId xmlns:p14="http://schemas.microsoft.com/office/powerpoint/2010/main" val="304008474"/>
      </p:ext>
    </p:extLst>
  </p:cSld>
</p:sld>
</file>

<file path=ppt/slides/slide3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06FE22C6-47F6-4080-AA10-D92BE507B79A}"/>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22 OCT</a:t>
            </a:r>
          </a:p>
        </p:txBody>
      </p:sp>
      <p:sp>
        <p:nvSpPr>
          <p:cNvPr id="2" name="heading">
            <a:extLst xmlns:a="http://schemas.openxmlformats.org/drawingml/2006/main">
              <a:ext uri="{FF2B5EF4-FFF2-40B4-BE49-F238E27FC236}">
                <a16:creationId xmlns:a16="http://schemas.microsoft.com/office/drawing/2014/main" id="{E0752610-CC6C-4CD5-92F3-B5E10FC1A1FA}"/>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Independent homework clinic</a:t>
            </a:r>
          </a:p>
        </p:txBody>
      </p:sp>
      <p:sp>
        <p:nvSpPr>
          <p:cNvPr id="3" name="index-0">
            <a:extLst xmlns:a="http://schemas.openxmlformats.org/drawingml/2006/main">
              <a:ext uri="{FF2B5EF4-FFF2-40B4-BE49-F238E27FC236}">
                <a16:creationId xmlns:a16="http://schemas.microsoft.com/office/drawing/2014/main" id="{A39B0B9A-C74F-430A-9F54-22F504380B10}"/>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AEE9E03C-B92C-4F09-8E88-67E4C4D24ED1}"/>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Open each current Canvas assignment</a:t>
            </a:r>
          </a:p>
        </p:txBody>
      </p:sp>
      <p:sp>
        <p:nvSpPr>
          <p:cNvPr id="5" name="index-1">
            <a:extLst xmlns:a="http://schemas.openxmlformats.org/drawingml/2006/main">
              <a:ext uri="{FF2B5EF4-FFF2-40B4-BE49-F238E27FC236}">
                <a16:creationId xmlns:a16="http://schemas.microsoft.com/office/drawing/2014/main" id="{F6E4E4F6-4707-46B6-937A-02516AA352B9}"/>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AA582EFC-76EA-4B96-9A22-F1CF9ECA985A}"/>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Check unanswered requirements with the professor</a:t>
            </a:r>
          </a:p>
        </p:txBody>
      </p:sp>
      <p:sp>
        <p:nvSpPr>
          <p:cNvPr id="7" name="index-2">
            <a:extLst xmlns:a="http://schemas.openxmlformats.org/drawingml/2006/main">
              <a:ext uri="{FF2B5EF4-FFF2-40B4-BE49-F238E27FC236}">
                <a16:creationId xmlns:a16="http://schemas.microsoft.com/office/drawing/2014/main" id="{BB3696FA-E09B-4AE2-996C-172F1A14AEFB}"/>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1301CFA6-65D2-4F3B-890C-A14974C21A0B}"/>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Use sources to develop your own reasoning</a:t>
            </a:r>
          </a:p>
        </p:txBody>
      </p:sp>
      <p:sp>
        <p:nvSpPr>
          <p:cNvPr id="9" name="index-3">
            <a:extLst xmlns:a="http://schemas.openxmlformats.org/drawingml/2006/main">
              <a:ext uri="{FF2B5EF4-FFF2-40B4-BE49-F238E27FC236}">
                <a16:creationId xmlns:a16="http://schemas.microsoft.com/office/drawing/2014/main" id="{F244EAB5-6A51-4EA9-8FCA-613B6240E55D}"/>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3FAA1AD3-B6E7-48D6-9E9E-41ACE0D56027}"/>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Write and disclose AI help according to course instructions</a:t>
            </a:r>
          </a:p>
        </p:txBody>
      </p:sp>
      <p:sp>
        <p:nvSpPr>
          <p:cNvPr id="11" name="footer">
            <a:extLst xmlns:a="http://schemas.openxmlformats.org/drawingml/2006/main">
              <a:ext uri="{FF2B5EF4-FFF2-40B4-BE49-F238E27FC236}">
                <a16:creationId xmlns:a16="http://schemas.microsoft.com/office/drawing/2014/main" id="{71CA9435-C748-4A21-9780-A6A5B602723F}"/>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A9505F78-8853-4DC9-8D81-9A644CDE0616}"/>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38</a:t>
            </a:r>
          </a:p>
        </p:txBody>
      </p:sp>
    </p:spTree>
    <p:extLst>
      <p:ext uri="{BB962C8B-B14F-4D97-AF65-F5344CB8AC3E}">
        <p14:creationId xmlns:p14="http://schemas.microsoft.com/office/powerpoint/2010/main" val="111487389"/>
      </p:ext>
    </p:extLst>
  </p:cSld>
</p:sld>
</file>

<file path=ppt/slides/slide3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33A90B94-F9A4-4AE4-8042-38D6FAEB794F}"/>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THURSDAY 22 OCT</a:t>
            </a:r>
          </a:p>
        </p:txBody>
      </p:sp>
      <p:sp>
        <p:nvSpPr>
          <p:cNvPr id="2" name="heading">
            <a:extLst xmlns:a="http://schemas.openxmlformats.org/drawingml/2006/main">
              <a:ext uri="{FF2B5EF4-FFF2-40B4-BE49-F238E27FC236}">
                <a16:creationId xmlns:a16="http://schemas.microsoft.com/office/drawing/2014/main" id="{7DD628BB-FCA5-405D-8B10-FE94910B2C4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Week 1 close and Week 2 bridge</a:t>
            </a:r>
          </a:p>
        </p:txBody>
      </p:sp>
      <p:sp>
        <p:nvSpPr>
          <p:cNvPr id="3" name="index-0">
            <a:extLst xmlns:a="http://schemas.openxmlformats.org/drawingml/2006/main">
              <a:ext uri="{FF2B5EF4-FFF2-40B4-BE49-F238E27FC236}">
                <a16:creationId xmlns:a16="http://schemas.microsoft.com/office/drawing/2014/main" id="{78057E37-70B8-4194-84BE-AA6EA415F5C4}"/>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CACDA38B-942E-4621-89B5-09375C54BE2F}"/>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DQ1 DQ2 DQ3 Project 1 and Proposal</a:t>
            </a:r>
          </a:p>
        </p:txBody>
      </p:sp>
      <p:sp>
        <p:nvSpPr>
          <p:cNvPr id="5" name="index-1">
            <a:extLst xmlns:a="http://schemas.openxmlformats.org/drawingml/2006/main">
              <a:ext uri="{FF2B5EF4-FFF2-40B4-BE49-F238E27FC236}">
                <a16:creationId xmlns:a16="http://schemas.microsoft.com/office/drawing/2014/main" id="{440A20EF-CAFB-4C45-B426-C2716159E19A}"/>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13F22FB9-D09B-4F6F-8B88-B4121FA75DEA}"/>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Due Sunday October 25 at 11:59 p.m. Eastern</a:t>
            </a:r>
          </a:p>
        </p:txBody>
      </p:sp>
      <p:sp>
        <p:nvSpPr>
          <p:cNvPr id="7" name="index-2">
            <a:extLst xmlns:a="http://schemas.openxmlformats.org/drawingml/2006/main">
              <a:ext uri="{FF2B5EF4-FFF2-40B4-BE49-F238E27FC236}">
                <a16:creationId xmlns:a16="http://schemas.microsoft.com/office/drawing/2014/main" id="{C77D15B2-DA03-401F-A635-0B04CA2E3D12}"/>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7E08E29C-AE1F-4B45-BFE1-901BDBCF41D2}"/>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Check uploads and required AI disclosure</a:t>
            </a:r>
          </a:p>
        </p:txBody>
      </p:sp>
      <p:sp>
        <p:nvSpPr>
          <p:cNvPr id="9" name="index-3">
            <a:extLst xmlns:a="http://schemas.openxmlformats.org/drawingml/2006/main">
              <a:ext uri="{FF2B5EF4-FFF2-40B4-BE49-F238E27FC236}">
                <a16:creationId xmlns:a16="http://schemas.microsoft.com/office/drawing/2014/main" id="{14D2814D-A724-4404-9D75-1A6A6FCB32F9}"/>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74FA56A1-1E67-4521-991E-E20A895DD28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Week 2 develops risk assessment approaches</a:t>
            </a:r>
          </a:p>
        </p:txBody>
      </p:sp>
      <p:sp>
        <p:nvSpPr>
          <p:cNvPr id="11" name="footer">
            <a:extLst xmlns:a="http://schemas.openxmlformats.org/drawingml/2006/main">
              <a:ext uri="{FF2B5EF4-FFF2-40B4-BE49-F238E27FC236}">
                <a16:creationId xmlns:a16="http://schemas.microsoft.com/office/drawing/2014/main" id="{3A375363-6742-4EA5-AC60-D518F7BC0349}"/>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29577E54-6015-4D61-8ECA-95E1029B5B83}"/>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39</a:t>
            </a:r>
          </a:p>
        </p:txBody>
      </p:sp>
    </p:spTree>
    <p:extLst>
      <p:ext uri="{BB962C8B-B14F-4D97-AF65-F5344CB8AC3E}">
        <p14:creationId xmlns:p14="http://schemas.microsoft.com/office/powerpoint/2010/main" val="1125962926"/>
      </p:ext>
    </p:extLst>
  </p:cSld>
</p:sld>
</file>

<file path=ppt/slides/slide4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C209E996-2D3C-40E6-A6D4-4446F645F055}"/>
              </a:ext>
            </a:extLst>
          </p:cNvPr>
          <p:cNvSpPr>
            <a:spLocks xmlns:a="http://schemas.openxmlformats.org/drawingml/2006/main" noGrp="1"/>
          </p:cNvSpPr>
          <p:nvPr/>
        </p:nvSpPr>
        <p:spPr>
          <a:xfrm xmlns:a="http://schemas.openxmlformats.org/drawingml/2006/main">
            <a:off x="609600" y="3238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426C76"/>
                </a:solidFill>
                <a:latin typeface="Arial"/>
                <a:ea typeface="Arial"/>
                <a:cs typeface="Arial"/>
              </a:defRPr>
            </a:defPPr>
            <a:lvl1pPr>
              <a:defRPr sz="1275" b="1">
                <a:solidFill>
                  <a:srgbClr val="426C76"/>
                </a:solidFill>
                <a:latin typeface="Arial"/>
                <a:ea typeface="Arial"/>
                <a:cs typeface="Arial"/>
              </a:defRPr>
            </a:lvl1pPr>
            <a:lvl2pPr>
              <a:defRPr sz="1275" b="1">
                <a:solidFill>
                  <a:srgbClr val="426C76"/>
                </a:solidFill>
                <a:latin typeface="Arial"/>
                <a:ea typeface="Arial"/>
                <a:cs typeface="Arial"/>
              </a:defRPr>
            </a:lvl2pPr>
            <a:lvl3pPr>
              <a:defRPr sz="1275" b="1">
                <a:solidFill>
                  <a:srgbClr val="426C76"/>
                </a:solidFill>
                <a:latin typeface="Arial"/>
                <a:ea typeface="Arial"/>
                <a:cs typeface="Arial"/>
              </a:defRPr>
            </a:lvl3pPr>
            <a:lvl4pPr>
              <a:defRPr sz="1275" b="1">
                <a:solidFill>
                  <a:srgbClr val="426C76"/>
                </a:solidFill>
                <a:latin typeface="Arial"/>
                <a:ea typeface="Arial"/>
                <a:cs typeface="Arial"/>
              </a:defRPr>
            </a:lvl4pPr>
            <a:lvl5pPr>
              <a:defRPr sz="1275" b="1">
                <a:solidFill>
                  <a:srgbClr val="426C76"/>
                </a:solidFill>
                <a:latin typeface="Arial"/>
                <a:ea typeface="Arial"/>
                <a:cs typeface="Arial"/>
              </a:defRPr>
            </a:lvl5pPr>
            <a:lvl6pPr>
              <a:defRPr sz="1275" b="1">
                <a:solidFill>
                  <a:srgbClr val="426C76"/>
                </a:solidFill>
                <a:latin typeface="Arial"/>
                <a:ea typeface="Arial"/>
                <a:cs typeface="Arial"/>
              </a:defRPr>
            </a:lvl6pPr>
            <a:lvl7pPr>
              <a:defRPr sz="1275" b="1">
                <a:solidFill>
                  <a:srgbClr val="426C76"/>
                </a:solidFill>
                <a:latin typeface="Arial"/>
                <a:ea typeface="Arial"/>
                <a:cs typeface="Arial"/>
              </a:defRPr>
            </a:lvl7pPr>
            <a:lvl8pPr>
              <a:defRPr sz="1275" b="1">
                <a:solidFill>
                  <a:srgbClr val="426C76"/>
                </a:solidFill>
                <a:latin typeface="Arial"/>
                <a:ea typeface="Arial"/>
                <a:cs typeface="Arial"/>
              </a:defRPr>
            </a:lvl8pPr>
            <a:lvl9pPr>
              <a:defRPr sz="1275" b="1">
                <a:solidFill>
                  <a:srgbClr val="426C76"/>
                </a:solidFill>
                <a:latin typeface="Arial"/>
                <a:ea typeface="Arial"/>
                <a:cs typeface="Arial"/>
              </a:defRPr>
            </a:lvl9pPr>
          </a:lstStyle>
          <a:p xmlns:a="http://schemas.openxmlformats.org/drawingml/2006/main">
            <a:pPr>
              <a:defRPr sz="1275" b="1">
                <a:solidFill>
                  <a:srgbClr val="426C76"/>
                </a:solidFill>
                <a:latin typeface="Arial"/>
                <a:ea typeface="Arial"/>
                <a:cs typeface="Arial"/>
              </a:defRPr>
            </a:pPr>
            <a:r>
              <a:rPr sz="1275" b="1">
                <a:solidFill>
                  <a:srgbClr val="426C76"/>
                </a:solidFill>
                <a:latin typeface="Arial"/>
                <a:ea typeface="Arial"/>
                <a:cs typeface="Arial"/>
              </a:rPr>
              <a:t>WEEK 1</a:t>
            </a:r>
          </a:p>
        </p:txBody>
      </p:sp>
      <p:sp>
        <p:nvSpPr>
          <p:cNvPr id="2" name="heading">
            <a:extLst xmlns:a="http://schemas.openxmlformats.org/drawingml/2006/main">
              <a:ext uri="{FF2B5EF4-FFF2-40B4-BE49-F238E27FC236}">
                <a16:creationId xmlns:a16="http://schemas.microsoft.com/office/drawing/2014/main" id="{F1C9A45B-A904-4257-A247-1982C9349F74}"/>
              </a:ext>
            </a:extLst>
          </p:cNvPr>
          <p:cNvSpPr>
            <a:spLocks xmlns:a="http://schemas.openxmlformats.org/drawingml/2006/main" noGrp="1"/>
          </p:cNvSpPr>
          <p:nvPr/>
        </p:nvSpPr>
        <p:spPr>
          <a:xfrm xmlns:a="http://schemas.openxmlformats.org/drawingml/2006/main">
            <a:off x="609600" y="87630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F40"/>
                </a:solidFill>
                <a:latin typeface="Arial"/>
                <a:ea typeface="Arial"/>
                <a:cs typeface="Arial"/>
              </a:defRPr>
            </a:defPPr>
            <a:lvl1pPr>
              <a:defRPr sz="3300" b="1">
                <a:solidFill>
                  <a:srgbClr val="102F40"/>
                </a:solidFill>
                <a:latin typeface="Arial"/>
                <a:ea typeface="Arial"/>
                <a:cs typeface="Arial"/>
              </a:defRPr>
            </a:lvl1pPr>
            <a:lvl2pPr>
              <a:defRPr sz="3300" b="1">
                <a:solidFill>
                  <a:srgbClr val="102F40"/>
                </a:solidFill>
                <a:latin typeface="Arial"/>
                <a:ea typeface="Arial"/>
                <a:cs typeface="Arial"/>
              </a:defRPr>
            </a:lvl2pPr>
            <a:lvl3pPr>
              <a:defRPr sz="3300" b="1">
                <a:solidFill>
                  <a:srgbClr val="102F40"/>
                </a:solidFill>
                <a:latin typeface="Arial"/>
                <a:ea typeface="Arial"/>
                <a:cs typeface="Arial"/>
              </a:defRPr>
            </a:lvl3pPr>
            <a:lvl4pPr>
              <a:defRPr sz="3300" b="1">
                <a:solidFill>
                  <a:srgbClr val="102F40"/>
                </a:solidFill>
                <a:latin typeface="Arial"/>
                <a:ea typeface="Arial"/>
                <a:cs typeface="Arial"/>
              </a:defRPr>
            </a:lvl4pPr>
            <a:lvl5pPr>
              <a:defRPr sz="3300" b="1">
                <a:solidFill>
                  <a:srgbClr val="102F40"/>
                </a:solidFill>
                <a:latin typeface="Arial"/>
                <a:ea typeface="Arial"/>
                <a:cs typeface="Arial"/>
              </a:defRPr>
            </a:lvl5pPr>
            <a:lvl6pPr>
              <a:defRPr sz="3300" b="1">
                <a:solidFill>
                  <a:srgbClr val="102F40"/>
                </a:solidFill>
                <a:latin typeface="Arial"/>
                <a:ea typeface="Arial"/>
                <a:cs typeface="Arial"/>
              </a:defRPr>
            </a:lvl6pPr>
            <a:lvl7pPr>
              <a:defRPr sz="3300" b="1">
                <a:solidFill>
                  <a:srgbClr val="102F40"/>
                </a:solidFill>
                <a:latin typeface="Arial"/>
                <a:ea typeface="Arial"/>
                <a:cs typeface="Arial"/>
              </a:defRPr>
            </a:lvl7pPr>
            <a:lvl8pPr>
              <a:defRPr sz="3300" b="1">
                <a:solidFill>
                  <a:srgbClr val="102F40"/>
                </a:solidFill>
                <a:latin typeface="Arial"/>
                <a:ea typeface="Arial"/>
                <a:cs typeface="Arial"/>
              </a:defRPr>
            </a:lvl8pPr>
            <a:lvl9pPr>
              <a:defRPr sz="3300" b="1">
                <a:solidFill>
                  <a:srgbClr val="102F40"/>
                </a:solidFill>
                <a:latin typeface="Arial"/>
                <a:ea typeface="Arial"/>
                <a:cs typeface="Arial"/>
              </a:defRPr>
            </a:lvl9pPr>
          </a:lstStyle>
          <a:p xmlns:a="http://schemas.openxmlformats.org/drawingml/2006/main">
            <a:pPr>
              <a:defRPr sz="3300" b="1">
                <a:solidFill>
                  <a:srgbClr val="102F40"/>
                </a:solidFill>
                <a:latin typeface="Arial"/>
                <a:ea typeface="Arial"/>
                <a:cs typeface="Arial"/>
              </a:defRPr>
            </a:pPr>
            <a:r>
              <a:rPr sz="3300" b="1">
                <a:solidFill>
                  <a:srgbClr val="102F40"/>
                </a:solidFill>
                <a:latin typeface="Arial"/>
                <a:ea typeface="Arial"/>
                <a:cs typeface="Arial"/>
              </a:rPr>
              <a:t>Sources and learning resources</a:t>
            </a:r>
          </a:p>
        </p:txBody>
      </p:sp>
      <p:sp>
        <p:nvSpPr>
          <p:cNvPr id="3" name="index-0">
            <a:extLst xmlns:a="http://schemas.openxmlformats.org/drawingml/2006/main">
              <a:ext uri="{FF2B5EF4-FFF2-40B4-BE49-F238E27FC236}">
                <a16:creationId xmlns:a16="http://schemas.microsoft.com/office/drawing/2014/main" id="{162B9950-CC65-455F-9F3B-CCC49ED17CEC}"/>
              </a:ext>
            </a:extLst>
          </p:cNvPr>
          <p:cNvSpPr>
            <a:spLocks xmlns:a="http://schemas.openxmlformats.org/drawingml/2006/main" noGrp="1"/>
          </p:cNvSpPr>
          <p:nvPr/>
        </p:nvSpPr>
        <p:spPr>
          <a:xfrm xmlns:a="http://schemas.openxmlformats.org/drawingml/2006/main">
            <a:off x="609600" y="22383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01</a:t>
            </a:r>
          </a:p>
        </p:txBody>
      </p:sp>
      <p:sp>
        <p:nvSpPr>
          <p:cNvPr id="4" name="body-0">
            <a:extLst xmlns:a="http://schemas.openxmlformats.org/drawingml/2006/main">
              <a:ext uri="{FF2B5EF4-FFF2-40B4-BE49-F238E27FC236}">
                <a16:creationId xmlns:a16="http://schemas.microsoft.com/office/drawing/2014/main" id="{64F79CF7-B67D-466C-A124-3F6185CB2F35}"/>
              </a:ext>
            </a:extLst>
          </p:cNvPr>
          <p:cNvSpPr>
            <a:spLocks xmlns:a="http://schemas.openxmlformats.org/drawingml/2006/main" noGrp="1"/>
          </p:cNvSpPr>
          <p:nvPr/>
        </p:nvSpPr>
        <p:spPr>
          <a:xfrm xmlns:a="http://schemas.openxmlformats.org/drawingml/2006/main">
            <a:off x="1428750" y="22383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Canvas module objectives and assigned Gibson textbook</a:t>
            </a:r>
          </a:p>
        </p:txBody>
      </p:sp>
      <p:sp>
        <p:nvSpPr>
          <p:cNvPr id="5" name="index-1">
            <a:extLst xmlns:a="http://schemas.openxmlformats.org/drawingml/2006/main">
              <a:ext uri="{FF2B5EF4-FFF2-40B4-BE49-F238E27FC236}">
                <a16:creationId xmlns:a16="http://schemas.microsoft.com/office/drawing/2014/main" id="{A16E1BD6-0AA0-4FA2-A926-97C505C8EC5B}"/>
              </a:ext>
            </a:extLst>
          </p:cNvPr>
          <p:cNvSpPr>
            <a:spLocks xmlns:a="http://schemas.openxmlformats.org/drawingml/2006/main" noGrp="1"/>
          </p:cNvSpPr>
          <p:nvPr/>
        </p:nvSpPr>
        <p:spPr>
          <a:xfrm xmlns:a="http://schemas.openxmlformats.org/drawingml/2006/main">
            <a:off x="609600" y="30194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02</a:t>
            </a:r>
          </a:p>
        </p:txBody>
      </p:sp>
      <p:sp>
        <p:nvSpPr>
          <p:cNvPr id="6" name="body-1">
            <a:extLst xmlns:a="http://schemas.openxmlformats.org/drawingml/2006/main">
              <a:ext uri="{FF2B5EF4-FFF2-40B4-BE49-F238E27FC236}">
                <a16:creationId xmlns:a16="http://schemas.microsoft.com/office/drawing/2014/main" id="{E55CF33A-CEC0-4484-86A4-DED71282C1C6}"/>
              </a:ext>
            </a:extLst>
          </p:cNvPr>
          <p:cNvSpPr>
            <a:spLocks xmlns:a="http://schemas.openxmlformats.org/drawingml/2006/main" noGrp="1"/>
          </p:cNvSpPr>
          <p:nvPr/>
        </p:nvSpPr>
        <p:spPr>
          <a:xfrm xmlns:a="http://schemas.openxmlformats.org/drawingml/2006/main">
            <a:off x="1428750" y="30194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NIST SP 800-30 Rev. 1 for risk assessment concepts</a:t>
            </a:r>
          </a:p>
        </p:txBody>
      </p:sp>
      <p:sp>
        <p:nvSpPr>
          <p:cNvPr id="7" name="index-2">
            <a:extLst xmlns:a="http://schemas.openxmlformats.org/drawingml/2006/main">
              <a:ext uri="{FF2B5EF4-FFF2-40B4-BE49-F238E27FC236}">
                <a16:creationId xmlns:a16="http://schemas.microsoft.com/office/drawing/2014/main" id="{7C0B4C1D-AF60-4EE5-9219-21E3F4CA7346}"/>
              </a:ext>
            </a:extLst>
          </p:cNvPr>
          <p:cNvSpPr>
            <a:spLocks xmlns:a="http://schemas.openxmlformats.org/drawingml/2006/main" noGrp="1"/>
          </p:cNvSpPr>
          <p:nvPr/>
        </p:nvSpPr>
        <p:spPr>
          <a:xfrm xmlns:a="http://schemas.openxmlformats.org/drawingml/2006/main">
            <a:off x="609600" y="380047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03</a:t>
            </a:r>
          </a:p>
        </p:txBody>
      </p:sp>
      <p:sp>
        <p:nvSpPr>
          <p:cNvPr id="8" name="body-2">
            <a:extLst xmlns:a="http://schemas.openxmlformats.org/drawingml/2006/main">
              <a:ext uri="{FF2B5EF4-FFF2-40B4-BE49-F238E27FC236}">
                <a16:creationId xmlns:a16="http://schemas.microsoft.com/office/drawing/2014/main" id="{62CE730B-B2EB-4DA6-8D04-3FAB0ABB62FB}"/>
              </a:ext>
            </a:extLst>
          </p:cNvPr>
          <p:cNvSpPr>
            <a:spLocks xmlns:a="http://schemas.openxmlformats.org/drawingml/2006/main" noGrp="1"/>
          </p:cNvSpPr>
          <p:nvPr/>
        </p:nvSpPr>
        <p:spPr>
          <a:xfrm xmlns:a="http://schemas.openxmlformats.org/drawingml/2006/main">
            <a:off x="1428750" y="380047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HHS for HIPAA roles and applicability</a:t>
            </a:r>
          </a:p>
        </p:txBody>
      </p:sp>
      <p:sp>
        <p:nvSpPr>
          <p:cNvPr id="9" name="index-3">
            <a:extLst xmlns:a="http://schemas.openxmlformats.org/drawingml/2006/main">
              <a:ext uri="{FF2B5EF4-FFF2-40B4-BE49-F238E27FC236}">
                <a16:creationId xmlns:a16="http://schemas.microsoft.com/office/drawing/2014/main" id="{3794C99A-6137-4652-9CFA-A04779D7073B}"/>
              </a:ext>
            </a:extLst>
          </p:cNvPr>
          <p:cNvSpPr>
            <a:spLocks xmlns:a="http://schemas.openxmlformats.org/drawingml/2006/main" noGrp="1"/>
          </p:cNvSpPr>
          <p:nvPr/>
        </p:nvSpPr>
        <p:spPr>
          <a:xfrm xmlns:a="http://schemas.openxmlformats.org/drawingml/2006/main">
            <a:off x="609600" y="4581525"/>
            <a:ext cx="609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426C76"/>
                </a:solidFill>
                <a:latin typeface="Arial"/>
                <a:ea typeface="Arial"/>
                <a:cs typeface="Arial"/>
              </a:defRPr>
            </a:defPPr>
            <a:lvl1pPr>
              <a:defRPr sz="1650" b="1">
                <a:solidFill>
                  <a:srgbClr val="426C76"/>
                </a:solidFill>
                <a:latin typeface="Arial"/>
                <a:ea typeface="Arial"/>
                <a:cs typeface="Arial"/>
              </a:defRPr>
            </a:lvl1pPr>
            <a:lvl2pPr>
              <a:defRPr sz="1650" b="1">
                <a:solidFill>
                  <a:srgbClr val="426C76"/>
                </a:solidFill>
                <a:latin typeface="Arial"/>
                <a:ea typeface="Arial"/>
                <a:cs typeface="Arial"/>
              </a:defRPr>
            </a:lvl2pPr>
            <a:lvl3pPr>
              <a:defRPr sz="1650" b="1">
                <a:solidFill>
                  <a:srgbClr val="426C76"/>
                </a:solidFill>
                <a:latin typeface="Arial"/>
                <a:ea typeface="Arial"/>
                <a:cs typeface="Arial"/>
              </a:defRPr>
            </a:lvl3pPr>
            <a:lvl4pPr>
              <a:defRPr sz="1650" b="1">
                <a:solidFill>
                  <a:srgbClr val="426C76"/>
                </a:solidFill>
                <a:latin typeface="Arial"/>
                <a:ea typeface="Arial"/>
                <a:cs typeface="Arial"/>
              </a:defRPr>
            </a:lvl4pPr>
            <a:lvl5pPr>
              <a:defRPr sz="1650" b="1">
                <a:solidFill>
                  <a:srgbClr val="426C76"/>
                </a:solidFill>
                <a:latin typeface="Arial"/>
                <a:ea typeface="Arial"/>
                <a:cs typeface="Arial"/>
              </a:defRPr>
            </a:lvl5pPr>
            <a:lvl6pPr>
              <a:defRPr sz="1650" b="1">
                <a:solidFill>
                  <a:srgbClr val="426C76"/>
                </a:solidFill>
                <a:latin typeface="Arial"/>
                <a:ea typeface="Arial"/>
                <a:cs typeface="Arial"/>
              </a:defRPr>
            </a:lvl6pPr>
            <a:lvl7pPr>
              <a:defRPr sz="1650" b="1">
                <a:solidFill>
                  <a:srgbClr val="426C76"/>
                </a:solidFill>
                <a:latin typeface="Arial"/>
                <a:ea typeface="Arial"/>
                <a:cs typeface="Arial"/>
              </a:defRPr>
            </a:lvl7pPr>
            <a:lvl8pPr>
              <a:defRPr sz="1650" b="1">
                <a:solidFill>
                  <a:srgbClr val="426C76"/>
                </a:solidFill>
                <a:latin typeface="Arial"/>
                <a:ea typeface="Arial"/>
                <a:cs typeface="Arial"/>
              </a:defRPr>
            </a:lvl8pPr>
            <a:lvl9pPr>
              <a:defRPr sz="1650" b="1">
                <a:solidFill>
                  <a:srgbClr val="426C76"/>
                </a:solidFill>
                <a:latin typeface="Arial"/>
                <a:ea typeface="Arial"/>
                <a:cs typeface="Arial"/>
              </a:defRPr>
            </a:lvl9pPr>
          </a:lstStyle>
          <a:p xmlns:a="http://schemas.openxmlformats.org/drawingml/2006/main">
            <a:pPr>
              <a:defRPr sz="1650" b="1">
                <a:solidFill>
                  <a:srgbClr val="426C76"/>
                </a:solidFill>
                <a:latin typeface="Arial"/>
                <a:ea typeface="Arial"/>
                <a:cs typeface="Arial"/>
              </a:defRPr>
            </a:pPr>
            <a:r>
              <a:rPr sz="1650" b="1">
                <a:solidFill>
                  <a:srgbClr val="426C76"/>
                </a:solidFill>
                <a:latin typeface="Arial"/>
                <a:ea typeface="Arial"/>
                <a:cs typeface="Arial"/>
              </a:rPr>
              <a:t>04</a:t>
            </a:r>
          </a:p>
        </p:txBody>
      </p:sp>
      <p:sp>
        <p:nvSpPr>
          <p:cNvPr id="10" name="body-3">
            <a:extLst xmlns:a="http://schemas.openxmlformats.org/drawingml/2006/main">
              <a:ext uri="{FF2B5EF4-FFF2-40B4-BE49-F238E27FC236}">
                <a16:creationId xmlns:a16="http://schemas.microsoft.com/office/drawing/2014/main" id="{B58D8701-4093-4FB4-960A-9EF367E211EE}"/>
              </a:ext>
            </a:extLst>
          </p:cNvPr>
          <p:cNvSpPr>
            <a:spLocks xmlns:a="http://schemas.openxmlformats.org/drawingml/2006/main" noGrp="1"/>
          </p:cNvSpPr>
          <p:nvPr/>
        </p:nvSpPr>
        <p:spPr>
          <a:xfrm xmlns:a="http://schemas.openxmlformats.org/drawingml/2006/main">
            <a:off x="1428750" y="4581525"/>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F40"/>
                </a:solidFill>
                <a:latin typeface="Arial"/>
                <a:ea typeface="Arial"/>
                <a:cs typeface="Arial"/>
              </a:defRPr>
            </a:defPPr>
            <a:lvl1pPr>
              <a:defRPr sz="2325" b="0">
                <a:solidFill>
                  <a:srgbClr val="102F40"/>
                </a:solidFill>
                <a:latin typeface="Arial"/>
                <a:ea typeface="Arial"/>
                <a:cs typeface="Arial"/>
              </a:defRPr>
            </a:lvl1pPr>
            <a:lvl2pPr>
              <a:defRPr sz="2325" b="0">
                <a:solidFill>
                  <a:srgbClr val="102F40"/>
                </a:solidFill>
                <a:latin typeface="Arial"/>
                <a:ea typeface="Arial"/>
                <a:cs typeface="Arial"/>
              </a:defRPr>
            </a:lvl2pPr>
            <a:lvl3pPr>
              <a:defRPr sz="2325" b="0">
                <a:solidFill>
                  <a:srgbClr val="102F40"/>
                </a:solidFill>
                <a:latin typeface="Arial"/>
                <a:ea typeface="Arial"/>
                <a:cs typeface="Arial"/>
              </a:defRPr>
            </a:lvl3pPr>
            <a:lvl4pPr>
              <a:defRPr sz="2325" b="0">
                <a:solidFill>
                  <a:srgbClr val="102F40"/>
                </a:solidFill>
                <a:latin typeface="Arial"/>
                <a:ea typeface="Arial"/>
                <a:cs typeface="Arial"/>
              </a:defRPr>
            </a:lvl4pPr>
            <a:lvl5pPr>
              <a:defRPr sz="2325" b="0">
                <a:solidFill>
                  <a:srgbClr val="102F40"/>
                </a:solidFill>
                <a:latin typeface="Arial"/>
                <a:ea typeface="Arial"/>
                <a:cs typeface="Arial"/>
              </a:defRPr>
            </a:lvl5pPr>
            <a:lvl6pPr>
              <a:defRPr sz="2325" b="0">
                <a:solidFill>
                  <a:srgbClr val="102F40"/>
                </a:solidFill>
                <a:latin typeface="Arial"/>
                <a:ea typeface="Arial"/>
                <a:cs typeface="Arial"/>
              </a:defRPr>
            </a:lvl6pPr>
            <a:lvl7pPr>
              <a:defRPr sz="2325" b="0">
                <a:solidFill>
                  <a:srgbClr val="102F40"/>
                </a:solidFill>
                <a:latin typeface="Arial"/>
                <a:ea typeface="Arial"/>
                <a:cs typeface="Arial"/>
              </a:defRPr>
            </a:lvl7pPr>
            <a:lvl8pPr>
              <a:defRPr sz="2325" b="0">
                <a:solidFill>
                  <a:srgbClr val="102F40"/>
                </a:solidFill>
                <a:latin typeface="Arial"/>
                <a:ea typeface="Arial"/>
                <a:cs typeface="Arial"/>
              </a:defRPr>
            </a:lvl8pPr>
            <a:lvl9pPr>
              <a:defRPr sz="2325" b="0">
                <a:solidFill>
                  <a:srgbClr val="102F40"/>
                </a:solidFill>
                <a:latin typeface="Arial"/>
                <a:ea typeface="Arial"/>
                <a:cs typeface="Arial"/>
              </a:defRPr>
            </a:lvl9pPr>
          </a:lstStyle>
          <a:p xmlns:a="http://schemas.openxmlformats.org/drawingml/2006/main">
            <a:pPr>
              <a:defRPr sz="2325" b="0">
                <a:solidFill>
                  <a:srgbClr val="102F40"/>
                </a:solidFill>
                <a:latin typeface="Arial"/>
                <a:ea typeface="Arial"/>
                <a:cs typeface="Arial"/>
              </a:defRPr>
            </a:pPr>
            <a:r>
              <a:rPr sz="2325" b="0">
                <a:solidFill>
                  <a:srgbClr val="102F40"/>
                </a:solidFill>
                <a:latin typeface="Arial"/>
                <a:ea typeface="Arial"/>
                <a:cs typeface="Arial"/>
              </a:rPr>
              <a:t>NIST CSF 2.0 and PCI SSC for source distinctions</a:t>
            </a:r>
          </a:p>
        </p:txBody>
      </p:sp>
      <p:sp>
        <p:nvSpPr>
          <p:cNvPr id="11" name="footer">
            <a:extLst xmlns:a="http://schemas.openxmlformats.org/drawingml/2006/main">
              <a:ext uri="{FF2B5EF4-FFF2-40B4-BE49-F238E27FC236}">
                <a16:creationId xmlns:a16="http://schemas.microsoft.com/office/drawing/2014/main" id="{71B891FD-8661-4894-BC21-8802462D7E53}"/>
              </a:ext>
            </a:extLst>
          </p:cNvPr>
          <p:cNvSpPr>
            <a:spLocks xmlns:a="http://schemas.openxmlformats.org/drawingml/2006/main" noGrp="1"/>
          </p:cNvSpPr>
          <p:nvPr/>
        </p:nvSpPr>
        <p:spPr>
          <a:xfrm xmlns:a="http://schemas.openxmlformats.org/drawingml/2006/main">
            <a:off x="609600" y="633412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ISM 310  Defense in Depth  |  Week 1</a:t>
            </a:r>
          </a:p>
        </p:txBody>
      </p:sp>
      <p:sp>
        <p:nvSpPr>
          <p:cNvPr id="12" name="page">
            <a:extLst xmlns:a="http://schemas.openxmlformats.org/drawingml/2006/main">
              <a:ext uri="{FF2B5EF4-FFF2-40B4-BE49-F238E27FC236}">
                <a16:creationId xmlns:a16="http://schemas.microsoft.com/office/drawing/2014/main" id="{DDA33041-02F0-4BEB-B941-FA3535E9FAB4}"/>
              </a:ext>
            </a:extLst>
          </p:cNvPr>
          <p:cNvSpPr>
            <a:spLocks xmlns:a="http://schemas.openxmlformats.org/drawingml/2006/main" noGrp="1"/>
          </p:cNvSpPr>
          <p:nvPr/>
        </p:nvSpPr>
        <p:spPr>
          <a:xfrm xmlns:a="http://schemas.openxmlformats.org/drawingml/2006/main">
            <a:off x="11144250" y="633412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26B75"/>
                </a:solidFill>
                <a:latin typeface="Arial"/>
                <a:ea typeface="Arial"/>
                <a:cs typeface="Arial"/>
              </a:defRPr>
            </a:defPPr>
            <a:lvl1pPr>
              <a:defRPr sz="1125" b="0">
                <a:solidFill>
                  <a:srgbClr val="526B75"/>
                </a:solidFill>
                <a:latin typeface="Arial"/>
                <a:ea typeface="Arial"/>
                <a:cs typeface="Arial"/>
              </a:defRPr>
            </a:lvl1pPr>
            <a:lvl2pPr>
              <a:defRPr sz="1125" b="0">
                <a:solidFill>
                  <a:srgbClr val="526B75"/>
                </a:solidFill>
                <a:latin typeface="Arial"/>
                <a:ea typeface="Arial"/>
                <a:cs typeface="Arial"/>
              </a:defRPr>
            </a:lvl2pPr>
            <a:lvl3pPr>
              <a:defRPr sz="1125" b="0">
                <a:solidFill>
                  <a:srgbClr val="526B75"/>
                </a:solidFill>
                <a:latin typeface="Arial"/>
                <a:ea typeface="Arial"/>
                <a:cs typeface="Arial"/>
              </a:defRPr>
            </a:lvl3pPr>
            <a:lvl4pPr>
              <a:defRPr sz="1125" b="0">
                <a:solidFill>
                  <a:srgbClr val="526B75"/>
                </a:solidFill>
                <a:latin typeface="Arial"/>
                <a:ea typeface="Arial"/>
                <a:cs typeface="Arial"/>
              </a:defRPr>
            </a:lvl4pPr>
            <a:lvl5pPr>
              <a:defRPr sz="1125" b="0">
                <a:solidFill>
                  <a:srgbClr val="526B75"/>
                </a:solidFill>
                <a:latin typeface="Arial"/>
                <a:ea typeface="Arial"/>
                <a:cs typeface="Arial"/>
              </a:defRPr>
            </a:lvl5pPr>
            <a:lvl6pPr>
              <a:defRPr sz="1125" b="0">
                <a:solidFill>
                  <a:srgbClr val="526B75"/>
                </a:solidFill>
                <a:latin typeface="Arial"/>
                <a:ea typeface="Arial"/>
                <a:cs typeface="Arial"/>
              </a:defRPr>
            </a:lvl6pPr>
            <a:lvl7pPr>
              <a:defRPr sz="1125" b="0">
                <a:solidFill>
                  <a:srgbClr val="526B75"/>
                </a:solidFill>
                <a:latin typeface="Arial"/>
                <a:ea typeface="Arial"/>
                <a:cs typeface="Arial"/>
              </a:defRPr>
            </a:lvl7pPr>
            <a:lvl8pPr>
              <a:defRPr sz="1125" b="0">
                <a:solidFill>
                  <a:srgbClr val="526B75"/>
                </a:solidFill>
                <a:latin typeface="Arial"/>
                <a:ea typeface="Arial"/>
                <a:cs typeface="Arial"/>
              </a:defRPr>
            </a:lvl8pPr>
            <a:lvl9pPr>
              <a:defRPr sz="1125" b="0">
                <a:solidFill>
                  <a:srgbClr val="526B75"/>
                </a:solidFill>
                <a:latin typeface="Arial"/>
                <a:ea typeface="Arial"/>
                <a:cs typeface="Arial"/>
              </a:defRPr>
            </a:lvl9pPr>
          </a:lstStyle>
          <a:p xmlns:a="http://schemas.openxmlformats.org/drawingml/2006/main">
            <a:pPr>
              <a:defRPr sz="1125" b="0">
                <a:solidFill>
                  <a:srgbClr val="526B75"/>
                </a:solidFill>
                <a:latin typeface="Arial"/>
                <a:ea typeface="Arial"/>
                <a:cs typeface="Arial"/>
              </a:defRPr>
            </a:pPr>
            <a:r>
              <a:rPr sz="1125" b="0">
                <a:solidFill>
                  <a:srgbClr val="526B75"/>
                </a:solidFill>
                <a:latin typeface="Arial"/>
                <a:ea typeface="Arial"/>
                <a:cs typeface="Arial"/>
              </a:rPr>
              <a:t>40</a:t>
            </a:r>
          </a:p>
        </p:txBody>
      </p:sp>
    </p:spTree>
    <p:extLst>
      <p:ext uri="{BB962C8B-B14F-4D97-AF65-F5344CB8AC3E}">
        <p14:creationId xmlns:p14="http://schemas.microsoft.com/office/powerpoint/2010/main" val="182507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2026-10-17T14:15:04.6730000Z</dcterms:created>
  <dcterms:modified xsi:type="dcterms:W3CDTF">2026-10-17T14:15:04.6730000Z</dcterms:modified>
</coreProperties>
</file>