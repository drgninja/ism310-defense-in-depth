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1ecaa2617714411" /><Relationship Type="http://schemas.openxmlformats.org/officeDocument/2006/relationships/extended-properties" Target="/docProps/app.xml" Id="R306a799a00334dea" /><Relationship Type="http://schemas.openxmlformats.org/officeDocument/2006/relationships/officeDocument" Target="/ppt/presentation.xml" Id="Ra208b0f5dd9b4b71" /></Relationships>
</file>

<file path=ppt/presentation.xml><?xml version="1.0" encoding="utf-8"?>
<p:presentation xmlns:p="http://schemas.openxmlformats.org/presentationml/2006/main">
  <p:sldMasterIdLst>
    <p:sldMasterId xmlns:r="http://schemas.openxmlformats.org/officeDocument/2006/relationships" id="2147483648" r:id="R0035f3595a16431f"/>
  </p:sldMasterIdLst>
  <p:notesMasterIdLst>
    <p:notesMasterId xmlns:r="http://schemas.openxmlformats.org/officeDocument/2006/relationships" r:id="R528832e6bab54fce"/>
  </p:notesMasterIdLst>
  <p:sldIdLst>
    <p:sldId xmlns:r="http://schemas.openxmlformats.org/officeDocument/2006/relationships" id="256" r:id="R1cbab82a9f004498"/>
    <p:sldId xmlns:r="http://schemas.openxmlformats.org/officeDocument/2006/relationships" id="257" r:id="R9b052c4307944cf5"/>
    <p:sldId xmlns:r="http://schemas.openxmlformats.org/officeDocument/2006/relationships" id="258" r:id="R079b0472bc404c25"/>
    <p:sldId xmlns:r="http://schemas.openxmlformats.org/officeDocument/2006/relationships" id="259" r:id="R3cf69b48c14343ae"/>
    <p:sldId xmlns:r="http://schemas.openxmlformats.org/officeDocument/2006/relationships" id="260" r:id="R92eb3d850074466d"/>
    <p:sldId xmlns:r="http://schemas.openxmlformats.org/officeDocument/2006/relationships" id="261" r:id="R4a1fa5d05a0e4313"/>
    <p:sldId xmlns:r="http://schemas.openxmlformats.org/officeDocument/2006/relationships" id="262" r:id="R38171846d9fa4ceb"/>
    <p:sldId xmlns:r="http://schemas.openxmlformats.org/officeDocument/2006/relationships" id="263" r:id="R5223d5921e844816"/>
    <p:sldId xmlns:r="http://schemas.openxmlformats.org/officeDocument/2006/relationships" id="264" r:id="R25372929e30b4be0"/>
    <p:sldId xmlns:r="http://schemas.openxmlformats.org/officeDocument/2006/relationships" id="265" r:id="R872224f507ff47c6"/>
    <p:sldId xmlns:r="http://schemas.openxmlformats.org/officeDocument/2006/relationships" id="266" r:id="R27a8087a4abc48ff"/>
    <p:sldId xmlns:r="http://schemas.openxmlformats.org/officeDocument/2006/relationships" id="267" r:id="Rd21f791890bc4511"/>
    <p:sldId xmlns:r="http://schemas.openxmlformats.org/officeDocument/2006/relationships" id="268" r:id="Re6ba0d532ec945e9"/>
    <p:sldId xmlns:r="http://schemas.openxmlformats.org/officeDocument/2006/relationships" id="269" r:id="R0dc9ed0028e84e4f"/>
    <p:sldId xmlns:r="http://schemas.openxmlformats.org/officeDocument/2006/relationships" id="270" r:id="R4df41d933f794531"/>
    <p:sldId xmlns:r="http://schemas.openxmlformats.org/officeDocument/2006/relationships" id="271" r:id="Rb55d624f284f4374"/>
    <p:sldId xmlns:r="http://schemas.openxmlformats.org/officeDocument/2006/relationships" id="272" r:id="R92730286d419454d"/>
    <p:sldId xmlns:r="http://schemas.openxmlformats.org/officeDocument/2006/relationships" id="273" r:id="R79483b2e89d7421a"/>
    <p:sldId xmlns:r="http://schemas.openxmlformats.org/officeDocument/2006/relationships" id="274" r:id="Rbaab9b3605164cd9"/>
    <p:sldId xmlns:r="http://schemas.openxmlformats.org/officeDocument/2006/relationships" id="275" r:id="R5e23ba2cc17c4995"/>
    <p:sldId xmlns:r="http://schemas.openxmlformats.org/officeDocument/2006/relationships" id="276" r:id="Rceee4a841fba4f8c"/>
    <p:sldId xmlns:r="http://schemas.openxmlformats.org/officeDocument/2006/relationships" id="277" r:id="Rf43a8a59758d4e94"/>
    <p:sldId xmlns:r="http://schemas.openxmlformats.org/officeDocument/2006/relationships" id="278" r:id="R49b0051c49e34caa"/>
    <p:sldId xmlns:r="http://schemas.openxmlformats.org/officeDocument/2006/relationships" id="279" r:id="R42afcad015b44755"/>
    <p:sldId xmlns:r="http://schemas.openxmlformats.org/officeDocument/2006/relationships" id="280" r:id="R1b05c4d9336c4531"/>
    <p:sldId xmlns:r="http://schemas.openxmlformats.org/officeDocument/2006/relationships" id="281" r:id="Rd520d73028974b5b"/>
    <p:sldId xmlns:r="http://schemas.openxmlformats.org/officeDocument/2006/relationships" id="282" r:id="R29ba36cdafe041a7"/>
    <p:sldId xmlns:r="http://schemas.openxmlformats.org/officeDocument/2006/relationships" id="283" r:id="R908a69daecd1401c"/>
    <p:sldId xmlns:r="http://schemas.openxmlformats.org/officeDocument/2006/relationships" id="284" r:id="Ra6c19f0e61024640"/>
    <p:sldId xmlns:r="http://schemas.openxmlformats.org/officeDocument/2006/relationships" id="285" r:id="R80559989f30a4ae0"/>
    <p:sldId xmlns:r="http://schemas.openxmlformats.org/officeDocument/2006/relationships" id="286" r:id="Rf293eb55bb55443c"/>
    <p:sldId xmlns:r="http://schemas.openxmlformats.org/officeDocument/2006/relationships" id="287" r:id="R96406d4b44354790"/>
    <p:sldId xmlns:r="http://schemas.openxmlformats.org/officeDocument/2006/relationships" id="288" r:id="R63c7753faee14d4c"/>
    <p:sldId xmlns:r="http://schemas.openxmlformats.org/officeDocument/2006/relationships" id="289" r:id="R76a7d16f5ce64060"/>
    <p:sldId xmlns:r="http://schemas.openxmlformats.org/officeDocument/2006/relationships" id="290" r:id="R4e67436384da41f0"/>
    <p:sldId xmlns:r="http://schemas.openxmlformats.org/officeDocument/2006/relationships" id="291" r:id="R9d3707d48a5041e1"/>
    <p:sldId xmlns:r="http://schemas.openxmlformats.org/officeDocument/2006/relationships" id="292" r:id="R41c08bc763094083"/>
    <p:sldId xmlns:r="http://schemas.openxmlformats.org/officeDocument/2006/relationships" id="293" r:id="Reccfd0787ec34595"/>
    <p:sldId xmlns:r="http://schemas.openxmlformats.org/officeDocument/2006/relationships" id="294" r:id="R5fdeaddf23614921"/>
    <p:sldId xmlns:r="http://schemas.openxmlformats.org/officeDocument/2006/relationships" id="295" r:id="R5f3d2ee899664ba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dcca39f8a164ce4" /><Relationship Type="http://schemas.openxmlformats.org/officeDocument/2006/relationships/slideMaster" Target="/ppt/slideMasters/slideMaster1.xml" Id="R0035f3595a16431f" /><Relationship Type="http://schemas.openxmlformats.org/officeDocument/2006/relationships/notesMaster" Target="/ppt/notesMasters/notesMaster1.xml" Id="R528832e6bab54fce" /><Relationship Type="http://schemas.openxmlformats.org/officeDocument/2006/relationships/presProps" Target="/ppt/presProps.xml" Id="Re8ad2a3145044a08" /><Relationship Type="http://schemas.openxmlformats.org/officeDocument/2006/relationships/tableStyles" Target="/ppt/tableStyles.xml" Id="Re7b009106e8d4862" /><Relationship Type="http://schemas.openxmlformats.org/officeDocument/2006/relationships/slide" Target="/ppt/slides/slide1.xml" Id="R1cbab82a9f004498" /><Relationship Type="http://schemas.openxmlformats.org/officeDocument/2006/relationships/slide" Target="/ppt/slides/slide2.xml" Id="R9b052c4307944cf5" /><Relationship Type="http://schemas.openxmlformats.org/officeDocument/2006/relationships/slide" Target="/ppt/slides/slide3.xml" Id="R079b0472bc404c25" /><Relationship Type="http://schemas.openxmlformats.org/officeDocument/2006/relationships/slide" Target="/ppt/slides/slide4.xml" Id="R3cf69b48c14343ae" /><Relationship Type="http://schemas.openxmlformats.org/officeDocument/2006/relationships/slide" Target="/ppt/slides/slide5.xml" Id="R92eb3d850074466d" /><Relationship Type="http://schemas.openxmlformats.org/officeDocument/2006/relationships/slide" Target="/ppt/slides/slide6.xml" Id="R4a1fa5d05a0e4313" /><Relationship Type="http://schemas.openxmlformats.org/officeDocument/2006/relationships/slide" Target="/ppt/slides/slide7.xml" Id="R38171846d9fa4ceb" /><Relationship Type="http://schemas.openxmlformats.org/officeDocument/2006/relationships/slide" Target="/ppt/slides/slide8.xml" Id="R5223d5921e844816" /><Relationship Type="http://schemas.openxmlformats.org/officeDocument/2006/relationships/slide" Target="/ppt/slides/slide9.xml" Id="R25372929e30b4be0" /><Relationship Type="http://schemas.openxmlformats.org/officeDocument/2006/relationships/slide" Target="/ppt/slides/slide10.xml" Id="R872224f507ff47c6" /><Relationship Type="http://schemas.openxmlformats.org/officeDocument/2006/relationships/slide" Target="/ppt/slides/slide11.xml" Id="R27a8087a4abc48ff" /><Relationship Type="http://schemas.openxmlformats.org/officeDocument/2006/relationships/slide" Target="/ppt/slides/slide12.xml" Id="Rd21f791890bc4511" /><Relationship Type="http://schemas.openxmlformats.org/officeDocument/2006/relationships/slide" Target="/ppt/slides/slide13.xml" Id="Re6ba0d532ec945e9" /><Relationship Type="http://schemas.openxmlformats.org/officeDocument/2006/relationships/slide" Target="/ppt/slides/slide14.xml" Id="R0dc9ed0028e84e4f" /><Relationship Type="http://schemas.openxmlformats.org/officeDocument/2006/relationships/slide" Target="/ppt/slides/slide15.xml" Id="R4df41d933f794531" /><Relationship Type="http://schemas.openxmlformats.org/officeDocument/2006/relationships/slide" Target="/ppt/slides/slide16.xml" Id="Rb55d624f284f4374" /><Relationship Type="http://schemas.openxmlformats.org/officeDocument/2006/relationships/slide" Target="/ppt/slides/slide17.xml" Id="R92730286d419454d" /><Relationship Type="http://schemas.openxmlformats.org/officeDocument/2006/relationships/slide" Target="/ppt/slides/slide18.xml" Id="R79483b2e89d7421a" /><Relationship Type="http://schemas.openxmlformats.org/officeDocument/2006/relationships/slide" Target="/ppt/slides/slide19.xml" Id="Rbaab9b3605164cd9" /><Relationship Type="http://schemas.openxmlformats.org/officeDocument/2006/relationships/slide" Target="/ppt/slides/slide20.xml" Id="R5e23ba2cc17c4995" /><Relationship Type="http://schemas.openxmlformats.org/officeDocument/2006/relationships/slide" Target="/ppt/slides/slide21.xml" Id="Rceee4a841fba4f8c" /><Relationship Type="http://schemas.openxmlformats.org/officeDocument/2006/relationships/slide" Target="/ppt/slides/slide22.xml" Id="Rf43a8a59758d4e94" /><Relationship Type="http://schemas.openxmlformats.org/officeDocument/2006/relationships/slide" Target="/ppt/slides/slide23.xml" Id="R49b0051c49e34caa" /><Relationship Type="http://schemas.openxmlformats.org/officeDocument/2006/relationships/slide" Target="/ppt/slides/slide24.xml" Id="R42afcad015b44755" /><Relationship Type="http://schemas.openxmlformats.org/officeDocument/2006/relationships/slide" Target="/ppt/slides/slide25.xml" Id="R1b05c4d9336c4531" /><Relationship Type="http://schemas.openxmlformats.org/officeDocument/2006/relationships/slide" Target="/ppt/slides/slide26.xml" Id="Rd520d73028974b5b" /><Relationship Type="http://schemas.openxmlformats.org/officeDocument/2006/relationships/slide" Target="/ppt/slides/slide27.xml" Id="R29ba36cdafe041a7" /><Relationship Type="http://schemas.openxmlformats.org/officeDocument/2006/relationships/slide" Target="/ppt/slides/slide28.xml" Id="R908a69daecd1401c" /><Relationship Type="http://schemas.openxmlformats.org/officeDocument/2006/relationships/slide" Target="/ppt/slides/slide29.xml" Id="Ra6c19f0e61024640" /><Relationship Type="http://schemas.openxmlformats.org/officeDocument/2006/relationships/slide" Target="/ppt/slides/slide30.xml" Id="R80559989f30a4ae0" /><Relationship Type="http://schemas.openxmlformats.org/officeDocument/2006/relationships/slide" Target="/ppt/slides/slide31.xml" Id="Rf293eb55bb55443c" /><Relationship Type="http://schemas.openxmlformats.org/officeDocument/2006/relationships/slide" Target="/ppt/slides/slide32.xml" Id="R96406d4b44354790" /><Relationship Type="http://schemas.openxmlformats.org/officeDocument/2006/relationships/slide" Target="/ppt/slides/slide33.xml" Id="R63c7753faee14d4c" /><Relationship Type="http://schemas.openxmlformats.org/officeDocument/2006/relationships/slide" Target="/ppt/slides/slide34.xml" Id="R76a7d16f5ce64060" /><Relationship Type="http://schemas.openxmlformats.org/officeDocument/2006/relationships/slide" Target="/ppt/slides/slide35.xml" Id="R4e67436384da41f0" /><Relationship Type="http://schemas.openxmlformats.org/officeDocument/2006/relationships/slide" Target="/ppt/slides/slide36.xml" Id="R9d3707d48a5041e1" /><Relationship Type="http://schemas.openxmlformats.org/officeDocument/2006/relationships/slide" Target="/ppt/slides/slide37.xml" Id="R41c08bc763094083" /><Relationship Type="http://schemas.openxmlformats.org/officeDocument/2006/relationships/slide" Target="/ppt/slides/slide38.xml" Id="Reccfd0787ec34595" /><Relationship Type="http://schemas.openxmlformats.org/officeDocument/2006/relationships/slide" Target="/ppt/slides/slide39.xml" Id="R5fdeaddf23614921" /><Relationship Type="http://schemas.openxmlformats.org/officeDocument/2006/relationships/slide" Target="/ppt/slides/slide40.xml" Id="R5f3d2ee899664ba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b397a85f11b4b6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45bde4512144ce1" /><Relationship Type="http://schemas.openxmlformats.org/officeDocument/2006/relationships/notesMaster" Target="/ppt/notesMasters/notesMaster1.xml" Id="R227dafdf88f84e5c" /></Relationships>
</file>

<file path=ppt/notesSlides/_rels/notesSlide2.xml.rels>&#65279;<?xml version="1.0" encoding="utf-8"?><Relationships xmlns="http://schemas.openxmlformats.org/package/2006/relationships"><Relationship Type="http://schemas.openxmlformats.org/officeDocument/2006/relationships/slide" Target="/ppt/slides/slide2.xml" Id="Rdf7199062c4d4ec0" /><Relationship Type="http://schemas.openxmlformats.org/officeDocument/2006/relationships/notesMaster" Target="/ppt/notesMasters/notesMaster1.xml" Id="R580fe2a374d04d34" /></Relationships>
</file>

<file path=ppt/notesSlides/_rels/notesSlide3.xml.rels>&#65279;<?xml version="1.0" encoding="utf-8"?><Relationships xmlns="http://schemas.openxmlformats.org/package/2006/relationships"><Relationship Type="http://schemas.openxmlformats.org/officeDocument/2006/relationships/slide" Target="/ppt/slides/slide3.xml" Id="Rb7032d3947c148d9" /><Relationship Type="http://schemas.openxmlformats.org/officeDocument/2006/relationships/notesMaster" Target="/ppt/notesMasters/notesMaster1.xml" Id="R53672a2cd29c424e" /></Relationships>
</file>

<file path=ppt/notesSlides/_rels/notesSlide4.xml.rels>&#65279;<?xml version="1.0" encoding="utf-8"?><Relationships xmlns="http://schemas.openxmlformats.org/package/2006/relationships"><Relationship Type="http://schemas.openxmlformats.org/officeDocument/2006/relationships/slide" Target="/ppt/slides/slide4.xml" Id="R0d51f44c93a84c15" /><Relationship Type="http://schemas.openxmlformats.org/officeDocument/2006/relationships/notesMaster" Target="/ppt/notesMasters/notesMaster1.xml" Id="Re2a358b50caa4c20" /></Relationships>
</file>

<file path=ppt/notesSlides/_rels/notesSlide5.xml.rels>&#65279;<?xml version="1.0" encoding="utf-8"?><Relationships xmlns="http://schemas.openxmlformats.org/package/2006/relationships"><Relationship Type="http://schemas.openxmlformats.org/officeDocument/2006/relationships/slide" Target="/ppt/slides/slide5.xml" Id="R639238bce797414a" /><Relationship Type="http://schemas.openxmlformats.org/officeDocument/2006/relationships/notesMaster" Target="/ppt/notesMasters/notesMaster1.xml" Id="R62273627f85e4c33" /></Relationships>
</file>

<file path=ppt/notesSlides/_rels/notesSlide6.xml.rels>&#65279;<?xml version="1.0" encoding="utf-8"?><Relationships xmlns="http://schemas.openxmlformats.org/package/2006/relationships"><Relationship Type="http://schemas.openxmlformats.org/officeDocument/2006/relationships/slide" Target="/ppt/slides/slide6.xml" Id="R3feed43bf47b484c" /><Relationship Type="http://schemas.openxmlformats.org/officeDocument/2006/relationships/notesMaster" Target="/ppt/notesMasters/notesMaster1.xml" Id="Rf8d377cd6772410a" /></Relationships>
</file>

<file path=ppt/notesSlides/_rels/notesSlide7.xml.rels>&#65279;<?xml version="1.0" encoding="utf-8"?><Relationships xmlns="http://schemas.openxmlformats.org/package/2006/relationships"><Relationship Type="http://schemas.openxmlformats.org/officeDocument/2006/relationships/slide" Target="/ppt/slides/slide7.xml" Id="Rc41cac0c974c4652" /><Relationship Type="http://schemas.openxmlformats.org/officeDocument/2006/relationships/notesMaster" Target="/ppt/notesMasters/notesMaster1.xml" Id="Rf52f790ad8044d00" /></Relationships>
</file>

<file path=ppt/notesSlides/_rels/notesSlide8.xml.rels>&#65279;<?xml version="1.0" encoding="utf-8"?><Relationships xmlns="http://schemas.openxmlformats.org/package/2006/relationships"><Relationship Type="http://schemas.openxmlformats.org/officeDocument/2006/relationships/slide" Target="/ppt/slides/slide8.xml" Id="R290d72614c744608" /><Relationship Type="http://schemas.openxmlformats.org/officeDocument/2006/relationships/notesMaster" Target="/ppt/notesMasters/notesMaster1.xml" Id="R3343178777f94005" /></Relationships>
</file>

<file path=ppt/notesSlides/_rels/notesSlide9.xml.rels>&#65279;<?xml version="1.0" encoding="utf-8"?><Relationships xmlns="http://schemas.openxmlformats.org/package/2006/relationships"><Relationship Type="http://schemas.openxmlformats.org/officeDocument/2006/relationships/slide" Target="/ppt/slides/slide9.xml" Id="R0cdc4ced4b014891" /><Relationship Type="http://schemas.openxmlformats.org/officeDocument/2006/relationships/notesMaster" Target="/ppt/notesMasters/notesMaster1.xml" Id="R02533117d8a44cb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8117109292f4b82" /><Relationship Type="http://schemas.openxmlformats.org/officeDocument/2006/relationships/notesMaster" Target="/ppt/notesMasters/notesMaster1.xml" Id="R745e90dac32e4a2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bfe33a794fc45ef" /><Relationship Type="http://schemas.openxmlformats.org/officeDocument/2006/relationships/notesMaster" Target="/ppt/notesMasters/notesMaster1.xml" Id="R1d93a91eef3447e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45beca58a134543" /><Relationship Type="http://schemas.openxmlformats.org/officeDocument/2006/relationships/notesMaster" Target="/ppt/notesMasters/notesMaster1.xml" Id="R8fc9c421f63e4f9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b6eb4b2f0054407" /><Relationship Type="http://schemas.openxmlformats.org/officeDocument/2006/relationships/notesMaster" Target="/ppt/notesMasters/notesMaster1.xml" Id="R4d856aaa416248b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84c8e6b73334418" /><Relationship Type="http://schemas.openxmlformats.org/officeDocument/2006/relationships/notesMaster" Target="/ppt/notesMasters/notesMaster1.xml" Id="R476ee47a812a452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357e2191dec49ff" /><Relationship Type="http://schemas.openxmlformats.org/officeDocument/2006/relationships/notesMaster" Target="/ppt/notesMasters/notesMaster1.xml" Id="R78eb29f617604a4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98a2475f0a14217" /><Relationship Type="http://schemas.openxmlformats.org/officeDocument/2006/relationships/notesMaster" Target="/ppt/notesMasters/notesMaster1.xml" Id="R5e8ab9c7304c42c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46fb8eb9aa14ef5" /><Relationship Type="http://schemas.openxmlformats.org/officeDocument/2006/relationships/notesMaster" Target="/ppt/notesMasters/notesMaster1.xml" Id="Re3d9ada06fe8433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37f50628ffa48ef" /><Relationship Type="http://schemas.openxmlformats.org/officeDocument/2006/relationships/notesMaster" Target="/ppt/notesMasters/notesMaster1.xml" Id="R8a2f0d4f07ae4ca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735fd33018f419f" /><Relationship Type="http://schemas.openxmlformats.org/officeDocument/2006/relationships/notesMaster" Target="/ppt/notesMasters/notesMaster1.xml" Id="R3b240684e22e404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9a5cb2c7469489a" /><Relationship Type="http://schemas.openxmlformats.org/officeDocument/2006/relationships/notesMaster" Target="/ppt/notesMasters/notesMaster1.xml" Id="R186decbed3404e2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c9dbf20f9684c21" /><Relationship Type="http://schemas.openxmlformats.org/officeDocument/2006/relationships/notesMaster" Target="/ppt/notesMasters/notesMaster1.xml" Id="Rd27a3ff932c94ca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9887c6bf07149a7" /><Relationship Type="http://schemas.openxmlformats.org/officeDocument/2006/relationships/notesMaster" Target="/ppt/notesMasters/notesMaster1.xml" Id="Rad1dbb2839274c3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b72dc16e57646d6" /><Relationship Type="http://schemas.openxmlformats.org/officeDocument/2006/relationships/notesMaster" Target="/ppt/notesMasters/notesMaster1.xml" Id="R0b1d5f20fa89438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6727cf271604ee2" /><Relationship Type="http://schemas.openxmlformats.org/officeDocument/2006/relationships/notesMaster" Target="/ppt/notesMasters/notesMaster1.xml" Id="R39b82e798cb740f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8b9af19e64b4b29" /><Relationship Type="http://schemas.openxmlformats.org/officeDocument/2006/relationships/notesMaster" Target="/ppt/notesMasters/notesMaster1.xml" Id="Re2192233fde44f2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3b424a6ff9f476f" /><Relationship Type="http://schemas.openxmlformats.org/officeDocument/2006/relationships/notesMaster" Target="/ppt/notesMasters/notesMaster1.xml" Id="Re37b385c7349476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85e78f9394e4d8f" /><Relationship Type="http://schemas.openxmlformats.org/officeDocument/2006/relationships/notesMaster" Target="/ppt/notesMasters/notesMaster1.xml" Id="Rf7a2ba779e274c0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a4714ae99c84c8f" /><Relationship Type="http://schemas.openxmlformats.org/officeDocument/2006/relationships/notesMaster" Target="/ppt/notesMasters/notesMaster1.xml" Id="R097810944f3b4f7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afa1a15107e40e8" /><Relationship Type="http://schemas.openxmlformats.org/officeDocument/2006/relationships/notesMaster" Target="/ppt/notesMasters/notesMaster1.xml" Id="R47964ae589384d4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c11ca8859314d44" /><Relationship Type="http://schemas.openxmlformats.org/officeDocument/2006/relationships/notesMaster" Target="/ppt/notesMasters/notesMaster1.xml" Id="Re968cc6e4918482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f5e241f84244c66" /><Relationship Type="http://schemas.openxmlformats.org/officeDocument/2006/relationships/notesMaster" Target="/ppt/notesMasters/notesMaster1.xml" Id="R05b0c0ea352e46c5"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668645f2c09406c" /><Relationship Type="http://schemas.openxmlformats.org/officeDocument/2006/relationships/notesMaster" Target="/ppt/notesMasters/notesMaster1.xml" Id="Re6f38dd86f1942a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a2100a88efd4bff" /><Relationship Type="http://schemas.openxmlformats.org/officeDocument/2006/relationships/notesMaster" Target="/ppt/notesMasters/notesMaster1.xml" Id="R795fe431246e468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7c077ff50db45c4" /><Relationship Type="http://schemas.openxmlformats.org/officeDocument/2006/relationships/notesMaster" Target="/ppt/notesMasters/notesMaster1.xml" Id="Ree1a53566c6247b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8674aeae44334d35" /><Relationship Type="http://schemas.openxmlformats.org/officeDocument/2006/relationships/notesMaster" Target="/ppt/notesMasters/notesMaster1.xml" Id="R0fa224d23704450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9f2b3a82d572480a" /><Relationship Type="http://schemas.openxmlformats.org/officeDocument/2006/relationships/notesMaster" Target="/ppt/notesMasters/notesMaster1.xml" Id="Rc5474668a4ce41c6"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67c110ad87c4590" /><Relationship Type="http://schemas.openxmlformats.org/officeDocument/2006/relationships/notesMaster" Target="/ppt/notesMasters/notesMaster1.xml" Id="Rba222d42b81b4fa3"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52dac29b371140f6" /><Relationship Type="http://schemas.openxmlformats.org/officeDocument/2006/relationships/notesMaster" Target="/ppt/notesMasters/notesMaster1.xml" Id="R820eecad1d054087"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f53a8da1eff844a1" /><Relationship Type="http://schemas.openxmlformats.org/officeDocument/2006/relationships/notesMaster" Target="/ppt/notesMasters/notesMaster1.xml" Id="Rfb7dfc0dd7054061"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0e1c098b1b5846cd" /><Relationship Type="http://schemas.openxmlformats.org/officeDocument/2006/relationships/notesMaster" Target="/ppt/notesMasters/notesMaster1.xml" Id="Rc2a78c58f8cd4e4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150-minute classes, 3:00–5:30 p.m. Eastern, IBC 211. Professor Antoniou leads Monday–Tuesday. Joe Ingles covers Wednesday–Thursday as confirmed by the instructor. Pair the deck with the instructor guide and student workbook. All practice data is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updated Canvas syllabus places Chapters 5, 6, 7, and 8 in Week 2. Detailed security-control analysis remains Week 3. Preserve this sequence. Source S1.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Syllabus alignment O1 CYB1.4, O2 CYB1.1, O3 CYB1.2, O4 CYB1.3, O5 CYB1.1. SLO13.1/13.4/13.5/13.6 practiced through evidence, ethics, oral reasoning, and writing. Source S1. Eight classroom activities and exit tickets remain ungraded.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timed agenda. Retrieve Week 1: an untested backup is a limitation, not proof of data loss. Explain four Week 2 modules and the Wednesday–Thursday teaching handoff. Sources S1, S2.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whether deciding which service to inspect first requires the same evidence as pricing insurance. Distinguish business questions from tools. Scope exclusions retain dependencies. Sources S1, S3.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Categories and scales require definitions. Semi-quantitative scores use numeric labels but are not automatically ratio measurements. A quantitative result needs defensible units and assumptions. Source S2 Chapter 5 and S3.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Exercise decision: the manager must choose which uncertainty to investigate first. Available information is interviews and the base scenario, without reliable incident-frequency or loss records. Do not force one method as correct if a student gives defensible conditions. Source: original practice B1.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2 supplies examples including NIST, ISO, OCTAVE, and FAIR. Do not call all four mandatory or make unsupported detailed comparisons. Students research the actual sources and explain fit. The assigned older SP 800-30 PDF differs from Rev. 1. Sources S1, S3.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explicitly invented assumptions for a simple expected-loss exercise. Do not describe them as case facts or a forecast. Compute 40,000 x 0.25 = 10,000, then 10,000 x 0.2 = 2,000/year. No universal acceptance threshold follows. Source S2 Chapter 5 and original B2 exercise.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reveal the numerical answers before students attempt the exercise. Initial SLE 10,000, ALE 2,000/year; changed ALE 4,000/year. A low mean can coexist with a damaging rare event. This activity does not calculate Health Network losses.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what a new hosted ordering service changes: dependencies, data flows, exposure, and evidence needs. Do not invent a universal reassessment interval. Sources S1 module objectives, S3.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three exit questions. Open Project 2 and Revised Proposal but add no new requirements. Week 2 due work: DQ4, DQ5, Project 2, Revised Proposal, November 1 at 11:59 p.m. Eastern. Source: instructor-confirmed schedule and S1.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Recap estimates: arithmetic can be correct while assumptions remain weak. Review the current course module, not an invented assessment checklist. Sources S1, S2.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NIST Rev. 1 organizes risk assessment around preparation, conduct, communication, and maintenance. Explain the process at a conceptual level and distinguish it from the older course PDF. Management authorizes scope and decisions; assessors document a supported analysis. Source S3.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each statement literally. An interview reports a belief; a dated record supports a narrower observed condition. Corroboration increases confidence but does not create certainty. This table uses original practice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B3 records in workbook and browser. 5 minutes read, 7 match, 8 limitations, 5 report. No genuine records or sensitive data should be entered. Ask whether a successful backup report justifies a guarantee of recovery. It does 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finding should not claim more than evidence shows. A mitigation recommendation may be justified by a finding but does not prove deployment or residual reduction. Avoid invented dollar losses. Sources S1 Chapter 6 objectives, S3.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 statements appear in the workbook and browser. Two planned tasks, one supported exercise finding, and two unsupported conclusions. Students may phrase a narrower conclusion themselves. This does not write Project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Revised Proposal rubric names SP 800-30 and SP 800-171. The course includes older files. Explain the source purposes without asserting universal SP 800-171 applicability or substituting a different required edition. Preserve the current Canvas wording; ask the professor about ambiguity. Sources S1, S3, S5.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Confirmed coverage is October 28–29 while the professor attends NSU and AAC&amp;U conference activities. Joe uses the focused deck or master slides 22–39. He records unresolved questions and learning gaps, not private student records in a public repository. Source: instructor direction in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three individual exit questions. End with a concise handoff: which misconceptions remain, where the workbook starts, and how to access the practice resource. No dates or assignments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Joe: begin with 10 minutes of retrieval. Ask what a backup job report proves. Use the same case and materials. Direct deadline, grading, or policy changes to Professor Antoniou. Master 22–30 equals focused 1–9. Sources S1, S2.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Hardware value is not a sufficient proxy for criticality. A modest identity or connectivity dependency may affect multiple important activities. The base case is incomplete; label inferred architecture as an assumption. Sources S1 Chapter 7 objectives, S2.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examples are illustrative relationships, not a verified full architecture. Distinguish payment authorization from all order activity. Ask what evidence would establish a particular dependency. Source: original practice case.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Joe: 3 minutes choose activity, 8 map, 6 assumptions, 8 comparison. Use workbook or browser. Accept diagrams, lists, or oral explanations if they show relationships. Do not require a GitHub login or real organizational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module introduces these planning purposes. Avoid requiring full plans this week. An incident response process can interact with continuity and recovery without being the same document. Source S1 Chapter 7 objectives and assigned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define MTD as a universal RTO-plus-detection formula. The objectives concern different aspects of recovery. A backup schedule alone does not define acceptable loss. Source S2, plus original B6 teaching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Joe: use separate toy values, not assumed Harbor Books targets. Key: RPO met, RTO missed, MTD not exceeded. Require a condition that usable service and data have actually been validated. Do not confuse elapsed restoration time with data-loss period.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20-minute peer-report segment. Each group gives one 60-second explanation, names a missing fact, and asks another group a question. Joe collects general learning gaps for Thursday. No student records are published.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Joe: collect the three exit responses as ungraded checks. Note misconceptions and continue Thursday with targeted retrieval. Do not change the November 1 deadline or assignment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Joe: recap Wednesday dependency and recovery questions. Master 31–39 equals focused 10–18. Do not substitute a full control-implementation module for the Chapter 8 focus. Sources S1, S2.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precise distinctions. A suspicious email can be a threat event; a shared account is a weakness; exploitation is the mechanism using a weakness. Avoid payloads, demonstrations on real systems, or claims of a breach without evidence. Sources S1 Chapter 8, S3.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Match methods to an authorized question. A scan finding may require validation and is not automatically proof of exploitation. No tools need installation for this classroom exercise. Source S1 Chapter 8 objectives and S3.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Joe: use B7 workbook or browser. The classroom statements support vocabulary and evidence reasoning; they are not live threat intelligence or actual incidents. Ask what would justify an unauthorized-access conclusion.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Revisit the textbook seven-domain model as a teaching lens. Identify appropriate evidence locations: training and reports, endpoint configurations, network boundary records, remote authentication results, and application audit records. Cloud designs can cross the categories. Sources S1 Chapter 8, S2.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expected condition must have a stated basis, such as an approved policy or defined assessment criterion. Do not invent a universal requirement. A gap identifies the difference; recommendations propose a response. Source S1 Chapter 8 and original B8 exercise.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Joe: class may propose MFA or individual accounts, but do not produce students’ graded analysis. Distinguish a requested control from an operating control and from a measured outcome. Source: original B8 activity.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minutes individual work and conceptual questions. Joe clarifies supplied wording but does not invent method counts or resolve ambiguous page ranges. Preserve Project 2 source wording Minimum 4–6 pages; refer ambiguity to Professor Antoniou. No browser export is a new graded requirement. Source S1.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Due items: DQ4, DQ5, Project 2, Revised Proposal. Joe records general learning gaps and unresolved questions for Professor Antoniou. Do not change deadlines, weights, or policies. Source S1 and instructor-confirmed schedule.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 ISM 310 course and module objectives — Instructor-supplied updated Canvas export dated October 16, 2026. Week 2 syllabus, objectives, checklists, Project 2, Revised Proposal, DQ4, and DQ5.</a:t>
            </a:r>
          </a:p>
          <a:p xmlns:a="http://schemas.openxmlformats.org/drawingml/2006/main">
            <a:r>
              <a:t>S2: Assigned textbook chapters — Darril Gibson, Managing Risk in Information Systems, second edition (2015). Canvas checklists explicitly assign Chapter 5 Defining Risk Assessment Approaches; Chapter 6 Performing a Risk Assessment; Chapter 7 Identifying Assets and Activities to Be Protected; Chapter 8 Identifying and Analyzing Threats, Vulnerabilities, and Exploits.</a:t>
            </a:r>
          </a:p>
          <a:p xmlns:a="http://schemas.openxmlformats.org/drawingml/2006/main">
            <a:r>
              <a:t>S3: Guide for Conducting Risk Assessments — NIST SP 800-30 Rev. 1 (2012). https://csrc.nist.gov/pubs/sp/800/30/r1/final . The supplied older SP 800-30 PDF and Rev. 1 have different titles and structure; identify the edition used.</a:t>
            </a:r>
          </a:p>
          <a:p xmlns:a="http://schemas.openxmlformats.org/drawingml/2006/main">
            <a:r>
              <a:t>S4: Security and Privacy Controls — NIST SP 800-53 Rev. 5 reference page. https://csrc.nist.gov/pubs/sp/800/53/r5/upd1/final . Control detail develops in Week 3; do not import older family counts as current.</a:t>
            </a:r>
          </a:p>
          <a:p xmlns:a="http://schemas.openxmlformats.org/drawingml/2006/main">
            <a:r>
              <a:t>S5: Controlled Unclassified Information source scope — NIST SP 800-171 Rev. 3 reference page. https://csrc.nist.gov/pubs/sp/800/171/r3/final . The course includes an older revision. Research should identify its assigned edition and explain applicability rather than presume every business handles CUI.</a:t>
            </a:r>
          </a:p>
          <a:p xmlns:a="http://schemas.openxmlformats.org/drawingml/2006/main">
            <a:r>
              <a:t>S6: GitHub Pages publishing — GitHub Docs. https://docs.github.com/en/pages/getting-started-with-github-pages/what-is-github-pages</a:t>
            </a:r>
          </a:p>
          <a:p xmlns:a="http://schemas.openxmlformats.org/drawingml/2006/main">
            <a:r>
              <a:t>Original fictional exercises are clearly labeled. No source licenses or textbook chapters are redistributed. No new graded requirements are introduced.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e8505bebc88410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79221d71352431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d137a19775046f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0f1a6e0fee54bc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d57bf7ff5f4456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36edea46659400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730926A-97DD-4253-9F02-C7B85CD80AA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50A4C16-0BCC-481C-B11D-38E97EF5A12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90458D2-5B80-44E1-BB8D-444427010F9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429EDBF-9A33-42D2-BF44-47EFA0CD8E4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7911383-8D0A-44E5-A651-EE1CC7021BF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8DFEB38-77F0-4D98-82E6-9EBC7BC01B2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31B090C-CB61-4EE6-B236-9646D052B64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8C89EDA-BB9F-4F38-BA89-48DD17ED8F4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D1D0CD3-8F06-4A42-8C7E-585A8F573CA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0158231-1EEC-4386-9325-EC1C688D343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8cab7db4e30411a" /><Relationship Type="http://schemas.openxmlformats.org/officeDocument/2006/relationships/slideLayout" Target="/ppt/slideLayouts/slideLayout1.xml" Id="Rddc3595a95c94e21" /><Relationship Type="http://schemas.openxmlformats.org/officeDocument/2006/relationships/slideLayout" Target="/ppt/slideLayouts/slideLayout2.xml" Id="R391775e2890a4edd" /><Relationship Type="http://schemas.openxmlformats.org/officeDocument/2006/relationships/slideLayout" Target="/ppt/slideLayouts/slideLayout3.xml" Id="R1edd837592a1470a" /><Relationship Type="http://schemas.openxmlformats.org/officeDocument/2006/relationships/slideLayout" Target="/ppt/slideLayouts/slideLayout4.xml" Id="R84a00b2940184367" /><Relationship Type="http://schemas.openxmlformats.org/officeDocument/2006/relationships/slideLayout" Target="/ppt/slideLayouts/slideLayout5.xml" Id="R671d36fa86064d50" /><Relationship Type="http://schemas.openxmlformats.org/officeDocument/2006/relationships/slideLayout" Target="/ppt/slideLayouts/slideLayout6.xml" Id="R8e51c49ef06d4a3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dc3595a95c94e21"/>
    <p:sldLayoutId xmlns:r="http://schemas.openxmlformats.org/officeDocument/2006/relationships" id="2147483650" r:id="R391775e2890a4edd"/>
    <p:sldLayoutId xmlns:r="http://schemas.openxmlformats.org/officeDocument/2006/relationships" id="2147483651" r:id="R1edd837592a1470a"/>
    <p:sldLayoutId xmlns:r="http://schemas.openxmlformats.org/officeDocument/2006/relationships" id="2147483652" r:id="R84a00b2940184367"/>
    <p:sldLayoutId xmlns:r="http://schemas.openxmlformats.org/officeDocument/2006/relationships" id="2147483653" r:id="R671d36fa86064d50"/>
    <p:sldLayoutId xmlns:r="http://schemas.openxmlformats.org/officeDocument/2006/relationships" id="2147483654" r:id="R8e51c49ef06d4a3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dc4aabe3cc34724" /><Relationship Type="http://schemas.openxmlformats.org/officeDocument/2006/relationships/notesSlide" Target="/ppt/notesSlides/notesSlide1.xml" Id="R013dad40174f450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77cf86631aa4a9a" /><Relationship Type="http://schemas.openxmlformats.org/officeDocument/2006/relationships/notesSlide" Target="/ppt/notesSlides/notesSlide2.xml" Id="R5515a13fee924d3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d06184286334c85" /><Relationship Type="http://schemas.openxmlformats.org/officeDocument/2006/relationships/notesSlide" Target="/ppt/notesSlides/notesSlide3.xml" Id="R87d9325528b54e7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bc3b0368a4f4d69" /><Relationship Type="http://schemas.openxmlformats.org/officeDocument/2006/relationships/notesSlide" Target="/ppt/notesSlides/notesSlide4.xml" Id="R6708cb5b5a064d0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bf15375292543f0" /><Relationship Type="http://schemas.openxmlformats.org/officeDocument/2006/relationships/notesSlide" Target="/ppt/notesSlides/notesSlide5.xml" Id="R45b8e884d4f24a5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6adb5134f174a1d" /><Relationship Type="http://schemas.openxmlformats.org/officeDocument/2006/relationships/notesSlide" Target="/ppt/notesSlides/notesSlide6.xml" Id="Rf3c3a43ab2d74d0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a0527eca55f435e" /><Relationship Type="http://schemas.openxmlformats.org/officeDocument/2006/relationships/notesSlide" Target="/ppt/notesSlides/notesSlide7.xml" Id="R38c24bd64ce54ea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dbd561118f34091" /><Relationship Type="http://schemas.openxmlformats.org/officeDocument/2006/relationships/notesSlide" Target="/ppt/notesSlides/notesSlide8.xml" Id="R4e28aa6fc166416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3354f151f6d4ddd" /><Relationship Type="http://schemas.openxmlformats.org/officeDocument/2006/relationships/notesSlide" Target="/ppt/notesSlides/notesSlide9.xml" Id="Rbbfbde3d536841c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f174b18f8a240ac" /><Relationship Type="http://schemas.openxmlformats.org/officeDocument/2006/relationships/notesSlide" Target="/ppt/notesSlides/notesSlide10.xml" Id="R9fa2bb2a7618427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89bf994c2364ff7" /><Relationship Type="http://schemas.openxmlformats.org/officeDocument/2006/relationships/notesSlide" Target="/ppt/notesSlides/notesSlide11.xml" Id="Ra7345c6550d442a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7e14a348b5f41db" /><Relationship Type="http://schemas.openxmlformats.org/officeDocument/2006/relationships/notesSlide" Target="/ppt/notesSlides/notesSlide12.xml" Id="R77b46912a418469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b7a7c242cea4409" /><Relationship Type="http://schemas.openxmlformats.org/officeDocument/2006/relationships/notesSlide" Target="/ppt/notesSlides/notesSlide13.xml" Id="R8643c85470be4c1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8aa30107fa24b75" /><Relationship Type="http://schemas.openxmlformats.org/officeDocument/2006/relationships/notesSlide" Target="/ppt/notesSlides/notesSlide14.xml" Id="Rbaed90edc3f4438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0301ad4d22f4b6b" /><Relationship Type="http://schemas.openxmlformats.org/officeDocument/2006/relationships/notesSlide" Target="/ppt/notesSlides/notesSlide15.xml" Id="Rff107cc73760450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687e37e258d46bd" /><Relationship Type="http://schemas.openxmlformats.org/officeDocument/2006/relationships/notesSlide" Target="/ppt/notesSlides/notesSlide16.xml" Id="R2a2c577eba104b8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3bac39063ba40c0" /><Relationship Type="http://schemas.openxmlformats.org/officeDocument/2006/relationships/notesSlide" Target="/ppt/notesSlides/notesSlide17.xml" Id="R8bb7d27fea8d454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caa053ee2864bf1" /><Relationship Type="http://schemas.openxmlformats.org/officeDocument/2006/relationships/notesSlide" Target="/ppt/notesSlides/notesSlide18.xml" Id="R91abbc2790ed4cc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a7775808d174e84" /><Relationship Type="http://schemas.openxmlformats.org/officeDocument/2006/relationships/notesSlide" Target="/ppt/notesSlides/notesSlide19.xml" Id="R70b2717a118d43c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b846a3596ebf46d1" /><Relationship Type="http://schemas.openxmlformats.org/officeDocument/2006/relationships/notesSlide" Target="/ppt/notesSlides/notesSlide20.xml" Id="R1ecfcb2f17d3416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97070b70e2b49b8" /><Relationship Type="http://schemas.openxmlformats.org/officeDocument/2006/relationships/notesSlide" Target="/ppt/notesSlides/notesSlide21.xml" Id="R33dad74800864a4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117c327e009648c5" /><Relationship Type="http://schemas.openxmlformats.org/officeDocument/2006/relationships/notesSlide" Target="/ppt/notesSlides/notesSlide22.xml" Id="R2dd05ab19f074f4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3b2a91bbae324909" /><Relationship Type="http://schemas.openxmlformats.org/officeDocument/2006/relationships/notesSlide" Target="/ppt/notesSlides/notesSlide23.xml" Id="R7b1f48cf2a554cb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bacbf0fb7a9c4964" /><Relationship Type="http://schemas.openxmlformats.org/officeDocument/2006/relationships/notesSlide" Target="/ppt/notesSlides/notesSlide24.xml" Id="Rfd411b7b05464c2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4ce780e00dcf4495" /><Relationship Type="http://schemas.openxmlformats.org/officeDocument/2006/relationships/notesSlide" Target="/ppt/notesSlides/notesSlide25.xml" Id="R9abcbee0fb9d47d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289be0de967c4247" /><Relationship Type="http://schemas.openxmlformats.org/officeDocument/2006/relationships/notesSlide" Target="/ppt/notesSlides/notesSlide26.xml" Id="R129dffa8cae246b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463fce33128d496e" /><Relationship Type="http://schemas.openxmlformats.org/officeDocument/2006/relationships/notesSlide" Target="/ppt/notesSlides/notesSlide27.xml" Id="R561b82b5fcb04fd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eecb8a7690764b99" /><Relationship Type="http://schemas.openxmlformats.org/officeDocument/2006/relationships/notesSlide" Target="/ppt/notesSlides/notesSlide28.xml" Id="R35ed960786d9409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ea93649c02b14d46" /><Relationship Type="http://schemas.openxmlformats.org/officeDocument/2006/relationships/notesSlide" Target="/ppt/notesSlides/notesSlide29.xml" Id="R395cdcd2fd694cc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a948d26534074272" /><Relationship Type="http://schemas.openxmlformats.org/officeDocument/2006/relationships/notesSlide" Target="/ppt/notesSlides/notesSlide30.xml" Id="Rfd7b452694f94682"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209d651028b54604" /><Relationship Type="http://schemas.openxmlformats.org/officeDocument/2006/relationships/notesSlide" Target="/ppt/notesSlides/notesSlide31.xml" Id="R84fcb202e7d84f4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77f443aa716649db" /><Relationship Type="http://schemas.openxmlformats.org/officeDocument/2006/relationships/notesSlide" Target="/ppt/notesSlides/notesSlide32.xml" Id="Rc437f4e08179466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6ed501a7d56f4a8f" /><Relationship Type="http://schemas.openxmlformats.org/officeDocument/2006/relationships/notesSlide" Target="/ppt/notesSlides/notesSlide33.xml" Id="Rd336e68afe4c472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e73598fbfeb34fab" /><Relationship Type="http://schemas.openxmlformats.org/officeDocument/2006/relationships/notesSlide" Target="/ppt/notesSlides/notesSlide34.xml" Id="R980669edffdc4acd"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7c4308bac99a4cfd" /><Relationship Type="http://schemas.openxmlformats.org/officeDocument/2006/relationships/notesSlide" Target="/ppt/notesSlides/notesSlide35.xml" Id="R4583c36d2396482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4040d3610cd14222" /><Relationship Type="http://schemas.openxmlformats.org/officeDocument/2006/relationships/notesSlide" Target="/ppt/notesSlides/notesSlide36.xml" Id="Ref6cb683badb4e0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a7d86f2f8d7d4314" /><Relationship Type="http://schemas.openxmlformats.org/officeDocument/2006/relationships/notesSlide" Target="/ppt/notesSlides/notesSlide37.xml" Id="R17ffb446d5514bd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1285a002af554a12" /><Relationship Type="http://schemas.openxmlformats.org/officeDocument/2006/relationships/notesSlide" Target="/ppt/notesSlides/notesSlide38.xml" Id="R631795b319664d90"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f5545f8b62c043af" /><Relationship Type="http://schemas.openxmlformats.org/officeDocument/2006/relationships/notesSlide" Target="/ppt/notesSlides/notesSlide39.xml" Id="Rce9f80b39d5f4232"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81416b7dd1a645f7" /><Relationship Type="http://schemas.openxmlformats.org/officeDocument/2006/relationships/notesSlide" Target="/ppt/notesSlides/notesSlide40.xml" Id="R45701c8fc1244565" /></Relationships>
</file>

<file path=ppt/slides/slide1.xml><?xml version="1.0" encoding="utf-8"?>
<p:sld xmlns:p="http://schemas.openxmlformats.org/presentationml/2006/main">
  <p:cSld>
    <p:bg>
      <p:bgPr>
        <a:solidFill xmlns:a="http://schemas.openxmlformats.org/drawingml/2006/main">
          <a:srgbClr val="102F40"/>
        </a:solidFill>
      </p:bgPr>
    </p:bg>
    <p:spTree>
      <p:nvGrpSpPr>
        <p:cNvPr id="1" name=""/>
        <p:cNvGrpSpPr/>
        <p:nvPr/>
      </p:nvGrpSpPr>
      <p:grpSpPr>
        <a:xfrm xmlns:a="http://schemas.openxmlformats.org/drawingml/2006/main"/>
      </p:grpSpPr>
      <p:sp>
        <p:nvSpPr>
          <p:cNvPr id="9" name="section">
            <a:extLst xmlns:a="http://schemas.openxmlformats.org/drawingml/2006/main">
              <a:ext uri="{FF2B5EF4-FFF2-40B4-BE49-F238E27FC236}">
                <a16:creationId xmlns:a16="http://schemas.microsoft.com/office/drawing/2014/main" id="{08E4E85A-7165-40EE-8A06-96CB89EBB1DA}"/>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8BD2C9"/>
                </a:solidFill>
                <a:latin typeface="Arial"/>
                <a:ea typeface="Arial"/>
                <a:cs typeface="Arial"/>
              </a:defRPr>
            </a:defPPr>
            <a:lvl1pPr>
              <a:defRPr sz="1275" b="1">
                <a:solidFill>
                  <a:srgbClr val="8BD2C9"/>
                </a:solidFill>
                <a:latin typeface="Arial"/>
                <a:ea typeface="Arial"/>
                <a:cs typeface="Arial"/>
              </a:defRPr>
            </a:lvl1pPr>
            <a:lvl2pPr>
              <a:defRPr sz="1275" b="1">
                <a:solidFill>
                  <a:srgbClr val="8BD2C9"/>
                </a:solidFill>
                <a:latin typeface="Arial"/>
                <a:ea typeface="Arial"/>
                <a:cs typeface="Arial"/>
              </a:defRPr>
            </a:lvl2pPr>
            <a:lvl3pPr>
              <a:defRPr sz="1275" b="1">
                <a:solidFill>
                  <a:srgbClr val="8BD2C9"/>
                </a:solidFill>
                <a:latin typeface="Arial"/>
                <a:ea typeface="Arial"/>
                <a:cs typeface="Arial"/>
              </a:defRPr>
            </a:lvl3pPr>
            <a:lvl4pPr>
              <a:defRPr sz="1275" b="1">
                <a:solidFill>
                  <a:srgbClr val="8BD2C9"/>
                </a:solidFill>
                <a:latin typeface="Arial"/>
                <a:ea typeface="Arial"/>
                <a:cs typeface="Arial"/>
              </a:defRPr>
            </a:lvl4pPr>
            <a:lvl5pPr>
              <a:defRPr sz="1275" b="1">
                <a:solidFill>
                  <a:srgbClr val="8BD2C9"/>
                </a:solidFill>
                <a:latin typeface="Arial"/>
                <a:ea typeface="Arial"/>
                <a:cs typeface="Arial"/>
              </a:defRPr>
            </a:lvl5pPr>
            <a:lvl6pPr>
              <a:defRPr sz="1275" b="1">
                <a:solidFill>
                  <a:srgbClr val="8BD2C9"/>
                </a:solidFill>
                <a:latin typeface="Arial"/>
                <a:ea typeface="Arial"/>
                <a:cs typeface="Arial"/>
              </a:defRPr>
            </a:lvl6pPr>
            <a:lvl7pPr>
              <a:defRPr sz="1275" b="1">
                <a:solidFill>
                  <a:srgbClr val="8BD2C9"/>
                </a:solidFill>
                <a:latin typeface="Arial"/>
                <a:ea typeface="Arial"/>
                <a:cs typeface="Arial"/>
              </a:defRPr>
            </a:lvl7pPr>
            <a:lvl8pPr>
              <a:defRPr sz="1275" b="1">
                <a:solidFill>
                  <a:srgbClr val="8BD2C9"/>
                </a:solidFill>
                <a:latin typeface="Arial"/>
                <a:ea typeface="Arial"/>
                <a:cs typeface="Arial"/>
              </a:defRPr>
            </a:lvl8pPr>
            <a:lvl9pPr>
              <a:defRPr sz="1275" b="1">
                <a:solidFill>
                  <a:srgbClr val="8BD2C9"/>
                </a:solidFill>
                <a:latin typeface="Arial"/>
                <a:ea typeface="Arial"/>
                <a:cs typeface="Arial"/>
              </a:defRPr>
            </a:lvl9pPr>
          </a:lstStyle>
          <a:p xmlns:a="http://schemas.openxmlformats.org/drawingml/2006/main">
            <a:pPr>
              <a:defRPr sz="1275" b="1">
                <a:solidFill>
                  <a:srgbClr val="8BD2C9"/>
                </a:solidFill>
                <a:latin typeface="Arial"/>
                <a:ea typeface="Arial"/>
                <a:cs typeface="Arial"/>
              </a:defRPr>
            </a:pPr>
            <a:r>
              <a:rPr sz="1275" b="1">
                <a:solidFill>
                  <a:srgbClr val="8BD2C9"/>
                </a:solidFill>
                <a:latin typeface="Arial"/>
                <a:ea typeface="Arial"/>
                <a:cs typeface="Arial"/>
              </a:rPr>
              <a:t>WEEK 2</a:t>
            </a:r>
          </a:p>
        </p:txBody>
      </p:sp>
      <p:sp>
        <p:nvSpPr>
          <p:cNvPr id="2" name="heading">
            <a:extLst xmlns:a="http://schemas.openxmlformats.org/drawingml/2006/main">
              <a:ext uri="{FF2B5EF4-FFF2-40B4-BE49-F238E27FC236}">
                <a16:creationId xmlns:a16="http://schemas.microsoft.com/office/drawing/2014/main" id="{520C2F74-7B9E-49FB-A205-FA001BA716F9}"/>
              </a:ext>
            </a:extLst>
          </p:cNvPr>
          <p:cNvSpPr>
            <a:spLocks xmlns:a="http://schemas.openxmlformats.org/drawingml/2006/main" noGrp="1"/>
          </p:cNvSpPr>
          <p:nvPr/>
        </p:nvSpPr>
        <p:spPr>
          <a:xfrm xmlns:a="http://schemas.openxmlformats.org/drawingml/2006/main">
            <a:off x="609600" y="1257300"/>
            <a:ext cx="10953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650" b="1">
                <a:solidFill>
                  <a:srgbClr val="FFFFFF"/>
                </a:solidFill>
                <a:latin typeface="Arial"/>
                <a:ea typeface="Arial"/>
                <a:cs typeface="Arial"/>
              </a:defRPr>
            </a:defPPr>
            <a:lvl1pPr>
              <a:defRPr sz="4650" b="1">
                <a:solidFill>
                  <a:srgbClr val="FFFFFF"/>
                </a:solidFill>
                <a:latin typeface="Arial"/>
                <a:ea typeface="Arial"/>
                <a:cs typeface="Arial"/>
              </a:defRPr>
            </a:lvl1pPr>
            <a:lvl2pPr>
              <a:defRPr sz="4650" b="1">
                <a:solidFill>
                  <a:srgbClr val="FFFFFF"/>
                </a:solidFill>
                <a:latin typeface="Arial"/>
                <a:ea typeface="Arial"/>
                <a:cs typeface="Arial"/>
              </a:defRPr>
            </a:lvl2pPr>
            <a:lvl3pPr>
              <a:defRPr sz="4650" b="1">
                <a:solidFill>
                  <a:srgbClr val="FFFFFF"/>
                </a:solidFill>
                <a:latin typeface="Arial"/>
                <a:ea typeface="Arial"/>
                <a:cs typeface="Arial"/>
              </a:defRPr>
            </a:lvl3pPr>
            <a:lvl4pPr>
              <a:defRPr sz="4650" b="1">
                <a:solidFill>
                  <a:srgbClr val="FFFFFF"/>
                </a:solidFill>
                <a:latin typeface="Arial"/>
                <a:ea typeface="Arial"/>
                <a:cs typeface="Arial"/>
              </a:defRPr>
            </a:lvl4pPr>
            <a:lvl5pPr>
              <a:defRPr sz="4650" b="1">
                <a:solidFill>
                  <a:srgbClr val="FFFFFF"/>
                </a:solidFill>
                <a:latin typeface="Arial"/>
                <a:ea typeface="Arial"/>
                <a:cs typeface="Arial"/>
              </a:defRPr>
            </a:lvl5pPr>
            <a:lvl6pPr>
              <a:defRPr sz="4650" b="1">
                <a:solidFill>
                  <a:srgbClr val="FFFFFF"/>
                </a:solidFill>
                <a:latin typeface="Arial"/>
                <a:ea typeface="Arial"/>
                <a:cs typeface="Arial"/>
              </a:defRPr>
            </a:lvl6pPr>
            <a:lvl7pPr>
              <a:defRPr sz="4650" b="1">
                <a:solidFill>
                  <a:srgbClr val="FFFFFF"/>
                </a:solidFill>
                <a:latin typeface="Arial"/>
                <a:ea typeface="Arial"/>
                <a:cs typeface="Arial"/>
              </a:defRPr>
            </a:lvl7pPr>
            <a:lvl8pPr>
              <a:defRPr sz="4650" b="1">
                <a:solidFill>
                  <a:srgbClr val="FFFFFF"/>
                </a:solidFill>
                <a:latin typeface="Arial"/>
                <a:ea typeface="Arial"/>
                <a:cs typeface="Arial"/>
              </a:defRPr>
            </a:lvl8pPr>
            <a:lvl9pPr>
              <a:defRPr sz="4650" b="1">
                <a:solidFill>
                  <a:srgbClr val="FFFFFF"/>
                </a:solidFill>
                <a:latin typeface="Arial"/>
                <a:ea typeface="Arial"/>
                <a:cs typeface="Arial"/>
              </a:defRPr>
            </a:lvl9pPr>
          </a:lstStyle>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ISM 310 Defense in Depth</a:t>
            </a:r>
          </a:p>
        </p:txBody>
      </p:sp>
      <p:sp>
        <p:nvSpPr>
          <p:cNvPr id="3" name="body-0">
            <a:extLst xmlns:a="http://schemas.openxmlformats.org/drawingml/2006/main">
              <a:ext uri="{FF2B5EF4-FFF2-40B4-BE49-F238E27FC236}">
                <a16:creationId xmlns:a16="http://schemas.microsoft.com/office/drawing/2014/main" id="{73A8AB89-D3DA-4ECE-8575-C8E2944C0416}"/>
              </a:ext>
            </a:extLst>
          </p:cNvPr>
          <p:cNvSpPr>
            <a:spLocks xmlns:a="http://schemas.openxmlformats.org/drawingml/2006/main" noGrp="1"/>
          </p:cNvSpPr>
          <p:nvPr/>
        </p:nvSpPr>
        <p:spPr>
          <a:xfrm xmlns:a="http://schemas.openxmlformats.org/drawingml/2006/main">
            <a:off x="609600" y="31432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FFFFFF"/>
                </a:solidFill>
                <a:latin typeface="Arial"/>
                <a:ea typeface="Arial"/>
                <a:cs typeface="Arial"/>
              </a:defRPr>
            </a:defPPr>
            <a:lvl1pPr>
              <a:defRPr sz="2175" b="0">
                <a:solidFill>
                  <a:srgbClr val="FFFFFF"/>
                </a:solidFill>
                <a:latin typeface="Arial"/>
                <a:ea typeface="Arial"/>
                <a:cs typeface="Arial"/>
              </a:defRPr>
            </a:lvl1pPr>
            <a:lvl2pPr>
              <a:defRPr sz="2175" b="0">
                <a:solidFill>
                  <a:srgbClr val="FFFFFF"/>
                </a:solidFill>
                <a:latin typeface="Arial"/>
                <a:ea typeface="Arial"/>
                <a:cs typeface="Arial"/>
              </a:defRPr>
            </a:lvl2pPr>
            <a:lvl3pPr>
              <a:defRPr sz="2175" b="0">
                <a:solidFill>
                  <a:srgbClr val="FFFFFF"/>
                </a:solidFill>
                <a:latin typeface="Arial"/>
                <a:ea typeface="Arial"/>
                <a:cs typeface="Arial"/>
              </a:defRPr>
            </a:lvl3pPr>
            <a:lvl4pPr>
              <a:defRPr sz="2175" b="0">
                <a:solidFill>
                  <a:srgbClr val="FFFFFF"/>
                </a:solidFill>
                <a:latin typeface="Arial"/>
                <a:ea typeface="Arial"/>
                <a:cs typeface="Arial"/>
              </a:defRPr>
            </a:lvl4pPr>
            <a:lvl5pPr>
              <a:defRPr sz="2175" b="0">
                <a:solidFill>
                  <a:srgbClr val="FFFFFF"/>
                </a:solidFill>
                <a:latin typeface="Arial"/>
                <a:ea typeface="Arial"/>
                <a:cs typeface="Arial"/>
              </a:defRPr>
            </a:lvl5pPr>
            <a:lvl6pPr>
              <a:defRPr sz="2175" b="0">
                <a:solidFill>
                  <a:srgbClr val="FFFFFF"/>
                </a:solidFill>
                <a:latin typeface="Arial"/>
                <a:ea typeface="Arial"/>
                <a:cs typeface="Arial"/>
              </a:defRPr>
            </a:lvl6pPr>
            <a:lvl7pPr>
              <a:defRPr sz="2175" b="0">
                <a:solidFill>
                  <a:srgbClr val="FFFFFF"/>
                </a:solidFill>
                <a:latin typeface="Arial"/>
                <a:ea typeface="Arial"/>
                <a:cs typeface="Arial"/>
              </a:defRPr>
            </a:lvl7pPr>
            <a:lvl8pPr>
              <a:defRPr sz="2175" b="0">
                <a:solidFill>
                  <a:srgbClr val="FFFFFF"/>
                </a:solidFill>
                <a:latin typeface="Arial"/>
                <a:ea typeface="Arial"/>
                <a:cs typeface="Arial"/>
              </a:defRPr>
            </a:lvl8pPr>
            <a:lvl9pPr>
              <a:defRPr sz="2175" b="0">
                <a:solidFill>
                  <a:srgbClr val="FFFFFF"/>
                </a:solidFill>
                <a:latin typeface="Arial"/>
                <a:ea typeface="Arial"/>
                <a:cs typeface="Arial"/>
              </a:defRPr>
            </a:lvl9pPr>
          </a:lstStyle>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Week 2 teaching deck</a:t>
            </a:r>
          </a:p>
        </p:txBody>
      </p:sp>
      <p:sp>
        <p:nvSpPr>
          <p:cNvPr id="4" name="body-1">
            <a:extLst xmlns:a="http://schemas.openxmlformats.org/drawingml/2006/main">
              <a:ext uri="{FF2B5EF4-FFF2-40B4-BE49-F238E27FC236}">
                <a16:creationId xmlns:a16="http://schemas.microsoft.com/office/drawing/2014/main" id="{EEF44667-38B9-4294-AF03-FD38109F300D}"/>
              </a:ext>
            </a:extLst>
          </p:cNvPr>
          <p:cNvSpPr>
            <a:spLocks xmlns:a="http://schemas.openxmlformats.org/drawingml/2006/main" noGrp="1"/>
          </p:cNvSpPr>
          <p:nvPr/>
        </p:nvSpPr>
        <p:spPr>
          <a:xfrm xmlns:a="http://schemas.openxmlformats.org/drawingml/2006/main">
            <a:off x="609600" y="3762375"/>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FFFFFF"/>
                </a:solidFill>
                <a:latin typeface="Arial"/>
                <a:ea typeface="Arial"/>
                <a:cs typeface="Arial"/>
              </a:defRPr>
            </a:defPPr>
            <a:lvl1pPr>
              <a:defRPr sz="2175" b="0">
                <a:solidFill>
                  <a:srgbClr val="FFFFFF"/>
                </a:solidFill>
                <a:latin typeface="Arial"/>
                <a:ea typeface="Arial"/>
                <a:cs typeface="Arial"/>
              </a:defRPr>
            </a:lvl1pPr>
            <a:lvl2pPr>
              <a:defRPr sz="2175" b="0">
                <a:solidFill>
                  <a:srgbClr val="FFFFFF"/>
                </a:solidFill>
                <a:latin typeface="Arial"/>
                <a:ea typeface="Arial"/>
                <a:cs typeface="Arial"/>
              </a:defRPr>
            </a:lvl2pPr>
            <a:lvl3pPr>
              <a:defRPr sz="2175" b="0">
                <a:solidFill>
                  <a:srgbClr val="FFFFFF"/>
                </a:solidFill>
                <a:latin typeface="Arial"/>
                <a:ea typeface="Arial"/>
                <a:cs typeface="Arial"/>
              </a:defRPr>
            </a:lvl3pPr>
            <a:lvl4pPr>
              <a:defRPr sz="2175" b="0">
                <a:solidFill>
                  <a:srgbClr val="FFFFFF"/>
                </a:solidFill>
                <a:latin typeface="Arial"/>
                <a:ea typeface="Arial"/>
                <a:cs typeface="Arial"/>
              </a:defRPr>
            </a:lvl4pPr>
            <a:lvl5pPr>
              <a:defRPr sz="2175" b="0">
                <a:solidFill>
                  <a:srgbClr val="FFFFFF"/>
                </a:solidFill>
                <a:latin typeface="Arial"/>
                <a:ea typeface="Arial"/>
                <a:cs typeface="Arial"/>
              </a:defRPr>
            </a:lvl5pPr>
            <a:lvl6pPr>
              <a:defRPr sz="2175" b="0">
                <a:solidFill>
                  <a:srgbClr val="FFFFFF"/>
                </a:solidFill>
                <a:latin typeface="Arial"/>
                <a:ea typeface="Arial"/>
                <a:cs typeface="Arial"/>
              </a:defRPr>
            </a:lvl6pPr>
            <a:lvl7pPr>
              <a:defRPr sz="2175" b="0">
                <a:solidFill>
                  <a:srgbClr val="FFFFFF"/>
                </a:solidFill>
                <a:latin typeface="Arial"/>
                <a:ea typeface="Arial"/>
                <a:cs typeface="Arial"/>
              </a:defRPr>
            </a:lvl7pPr>
            <a:lvl8pPr>
              <a:defRPr sz="2175" b="0">
                <a:solidFill>
                  <a:srgbClr val="FFFFFF"/>
                </a:solidFill>
                <a:latin typeface="Arial"/>
                <a:ea typeface="Arial"/>
                <a:cs typeface="Arial"/>
              </a:defRPr>
            </a:lvl8pPr>
            <a:lvl9pPr>
              <a:defRPr sz="2175" b="0">
                <a:solidFill>
                  <a:srgbClr val="FFFFFF"/>
                </a:solidFill>
                <a:latin typeface="Arial"/>
                <a:ea typeface="Arial"/>
                <a:cs typeface="Arial"/>
              </a:defRPr>
            </a:lvl9pPr>
          </a:lstStyle>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Risk assessment approaches</a:t>
            </a:r>
          </a:p>
        </p:txBody>
      </p:sp>
      <p:sp>
        <p:nvSpPr>
          <p:cNvPr id="5" name="body-2">
            <a:extLst xmlns:a="http://schemas.openxmlformats.org/drawingml/2006/main">
              <a:ext uri="{FF2B5EF4-FFF2-40B4-BE49-F238E27FC236}">
                <a16:creationId xmlns:a16="http://schemas.microsoft.com/office/drawing/2014/main" id="{9BA57FC9-C0D1-43BA-B983-E9775FF10B0C}"/>
              </a:ext>
            </a:extLst>
          </p:cNvPr>
          <p:cNvSpPr>
            <a:spLocks xmlns:a="http://schemas.openxmlformats.org/drawingml/2006/main" noGrp="1"/>
          </p:cNvSpPr>
          <p:nvPr/>
        </p:nvSpPr>
        <p:spPr>
          <a:xfrm xmlns:a="http://schemas.openxmlformats.org/drawingml/2006/main">
            <a:off x="609600" y="43815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FFFFFF"/>
                </a:solidFill>
                <a:latin typeface="Arial"/>
                <a:ea typeface="Arial"/>
                <a:cs typeface="Arial"/>
              </a:defRPr>
            </a:defPPr>
            <a:lvl1pPr>
              <a:defRPr sz="2175" b="0">
                <a:solidFill>
                  <a:srgbClr val="FFFFFF"/>
                </a:solidFill>
                <a:latin typeface="Arial"/>
                <a:ea typeface="Arial"/>
                <a:cs typeface="Arial"/>
              </a:defRPr>
            </a:lvl1pPr>
            <a:lvl2pPr>
              <a:defRPr sz="2175" b="0">
                <a:solidFill>
                  <a:srgbClr val="FFFFFF"/>
                </a:solidFill>
                <a:latin typeface="Arial"/>
                <a:ea typeface="Arial"/>
                <a:cs typeface="Arial"/>
              </a:defRPr>
            </a:lvl2pPr>
            <a:lvl3pPr>
              <a:defRPr sz="2175" b="0">
                <a:solidFill>
                  <a:srgbClr val="FFFFFF"/>
                </a:solidFill>
                <a:latin typeface="Arial"/>
                <a:ea typeface="Arial"/>
                <a:cs typeface="Arial"/>
              </a:defRPr>
            </a:lvl3pPr>
            <a:lvl4pPr>
              <a:defRPr sz="2175" b="0">
                <a:solidFill>
                  <a:srgbClr val="FFFFFF"/>
                </a:solidFill>
                <a:latin typeface="Arial"/>
                <a:ea typeface="Arial"/>
                <a:cs typeface="Arial"/>
              </a:defRPr>
            </a:lvl4pPr>
            <a:lvl5pPr>
              <a:defRPr sz="2175" b="0">
                <a:solidFill>
                  <a:srgbClr val="FFFFFF"/>
                </a:solidFill>
                <a:latin typeface="Arial"/>
                <a:ea typeface="Arial"/>
                <a:cs typeface="Arial"/>
              </a:defRPr>
            </a:lvl5pPr>
            <a:lvl6pPr>
              <a:defRPr sz="2175" b="0">
                <a:solidFill>
                  <a:srgbClr val="FFFFFF"/>
                </a:solidFill>
                <a:latin typeface="Arial"/>
                <a:ea typeface="Arial"/>
                <a:cs typeface="Arial"/>
              </a:defRPr>
            </a:lvl6pPr>
            <a:lvl7pPr>
              <a:defRPr sz="2175" b="0">
                <a:solidFill>
                  <a:srgbClr val="FFFFFF"/>
                </a:solidFill>
                <a:latin typeface="Arial"/>
                <a:ea typeface="Arial"/>
                <a:cs typeface="Arial"/>
              </a:defRPr>
            </a:lvl7pPr>
            <a:lvl8pPr>
              <a:defRPr sz="2175" b="0">
                <a:solidFill>
                  <a:srgbClr val="FFFFFF"/>
                </a:solidFill>
                <a:latin typeface="Arial"/>
                <a:ea typeface="Arial"/>
                <a:cs typeface="Arial"/>
              </a:defRPr>
            </a:lvl8pPr>
            <a:lvl9pPr>
              <a:defRPr sz="2175" b="0">
                <a:solidFill>
                  <a:srgbClr val="FFFFFF"/>
                </a:solidFill>
                <a:latin typeface="Arial"/>
                <a:ea typeface="Arial"/>
                <a:cs typeface="Arial"/>
              </a:defRPr>
            </a:lvl9pPr>
          </a:lstStyle>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October 26–29 2026</a:t>
            </a:r>
          </a:p>
        </p:txBody>
      </p:sp>
      <p:sp>
        <p:nvSpPr>
          <p:cNvPr id="6" name="body-3">
            <a:extLst xmlns:a="http://schemas.openxmlformats.org/drawingml/2006/main">
              <a:ext uri="{FF2B5EF4-FFF2-40B4-BE49-F238E27FC236}">
                <a16:creationId xmlns:a16="http://schemas.microsoft.com/office/drawing/2014/main" id="{449272E8-7249-4C7F-AFB9-69E3E524C8D5}"/>
              </a:ext>
            </a:extLst>
          </p:cNvPr>
          <p:cNvSpPr>
            <a:spLocks xmlns:a="http://schemas.openxmlformats.org/drawingml/2006/main" noGrp="1"/>
          </p:cNvSpPr>
          <p:nvPr/>
        </p:nvSpPr>
        <p:spPr>
          <a:xfrm xmlns:a="http://schemas.openxmlformats.org/drawingml/2006/main">
            <a:off x="609600" y="5000625"/>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FFFFFF"/>
                </a:solidFill>
                <a:latin typeface="Arial"/>
                <a:ea typeface="Arial"/>
                <a:cs typeface="Arial"/>
              </a:defRPr>
            </a:defPPr>
            <a:lvl1pPr>
              <a:defRPr sz="2175" b="0">
                <a:solidFill>
                  <a:srgbClr val="FFFFFF"/>
                </a:solidFill>
                <a:latin typeface="Arial"/>
                <a:ea typeface="Arial"/>
                <a:cs typeface="Arial"/>
              </a:defRPr>
            </a:lvl1pPr>
            <a:lvl2pPr>
              <a:defRPr sz="2175" b="0">
                <a:solidFill>
                  <a:srgbClr val="FFFFFF"/>
                </a:solidFill>
                <a:latin typeface="Arial"/>
                <a:ea typeface="Arial"/>
                <a:cs typeface="Arial"/>
              </a:defRPr>
            </a:lvl2pPr>
            <a:lvl3pPr>
              <a:defRPr sz="2175" b="0">
                <a:solidFill>
                  <a:srgbClr val="FFFFFF"/>
                </a:solidFill>
                <a:latin typeface="Arial"/>
                <a:ea typeface="Arial"/>
                <a:cs typeface="Arial"/>
              </a:defRPr>
            </a:lvl3pPr>
            <a:lvl4pPr>
              <a:defRPr sz="2175" b="0">
                <a:solidFill>
                  <a:srgbClr val="FFFFFF"/>
                </a:solidFill>
                <a:latin typeface="Arial"/>
                <a:ea typeface="Arial"/>
                <a:cs typeface="Arial"/>
              </a:defRPr>
            </a:lvl4pPr>
            <a:lvl5pPr>
              <a:defRPr sz="2175" b="0">
                <a:solidFill>
                  <a:srgbClr val="FFFFFF"/>
                </a:solidFill>
                <a:latin typeface="Arial"/>
                <a:ea typeface="Arial"/>
                <a:cs typeface="Arial"/>
              </a:defRPr>
            </a:lvl5pPr>
            <a:lvl6pPr>
              <a:defRPr sz="2175" b="0">
                <a:solidFill>
                  <a:srgbClr val="FFFFFF"/>
                </a:solidFill>
                <a:latin typeface="Arial"/>
                <a:ea typeface="Arial"/>
                <a:cs typeface="Arial"/>
              </a:defRPr>
            </a:lvl6pPr>
            <a:lvl7pPr>
              <a:defRPr sz="2175" b="0">
                <a:solidFill>
                  <a:srgbClr val="FFFFFF"/>
                </a:solidFill>
                <a:latin typeface="Arial"/>
                <a:ea typeface="Arial"/>
                <a:cs typeface="Arial"/>
              </a:defRPr>
            </a:lvl7pPr>
            <a:lvl8pPr>
              <a:defRPr sz="2175" b="0">
                <a:solidFill>
                  <a:srgbClr val="FFFFFF"/>
                </a:solidFill>
                <a:latin typeface="Arial"/>
                <a:ea typeface="Arial"/>
                <a:cs typeface="Arial"/>
              </a:defRPr>
            </a:lvl8pPr>
            <a:lvl9pPr>
              <a:defRPr sz="2175" b="0">
                <a:solidFill>
                  <a:srgbClr val="FFFFFF"/>
                </a:solidFill>
                <a:latin typeface="Arial"/>
                <a:ea typeface="Arial"/>
                <a:cs typeface="Arial"/>
              </a:defRPr>
            </a:lvl9pPr>
          </a:lstStyle>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Dr. George Antoniou</a:t>
            </a:r>
          </a:p>
        </p:txBody>
      </p:sp>
      <p:sp>
        <p:nvSpPr>
          <p:cNvPr id="7" name="footer">
            <a:extLst xmlns:a="http://schemas.openxmlformats.org/drawingml/2006/main">
              <a:ext uri="{FF2B5EF4-FFF2-40B4-BE49-F238E27FC236}">
                <a16:creationId xmlns:a16="http://schemas.microsoft.com/office/drawing/2014/main" id="{A9B710AB-87B8-4A9D-8129-A93563AD9C12}"/>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C3D9DE"/>
                </a:solidFill>
                <a:latin typeface="Arial"/>
                <a:ea typeface="Arial"/>
                <a:cs typeface="Arial"/>
              </a:defRPr>
            </a:defPPr>
            <a:lvl1pPr>
              <a:defRPr sz="1125" b="0">
                <a:solidFill>
                  <a:srgbClr val="C3D9DE"/>
                </a:solidFill>
                <a:latin typeface="Arial"/>
                <a:ea typeface="Arial"/>
                <a:cs typeface="Arial"/>
              </a:defRPr>
            </a:lvl1pPr>
            <a:lvl2pPr>
              <a:defRPr sz="1125" b="0">
                <a:solidFill>
                  <a:srgbClr val="C3D9DE"/>
                </a:solidFill>
                <a:latin typeface="Arial"/>
                <a:ea typeface="Arial"/>
                <a:cs typeface="Arial"/>
              </a:defRPr>
            </a:lvl2pPr>
            <a:lvl3pPr>
              <a:defRPr sz="1125" b="0">
                <a:solidFill>
                  <a:srgbClr val="C3D9DE"/>
                </a:solidFill>
                <a:latin typeface="Arial"/>
                <a:ea typeface="Arial"/>
                <a:cs typeface="Arial"/>
              </a:defRPr>
            </a:lvl3pPr>
            <a:lvl4pPr>
              <a:defRPr sz="1125" b="0">
                <a:solidFill>
                  <a:srgbClr val="C3D9DE"/>
                </a:solidFill>
                <a:latin typeface="Arial"/>
                <a:ea typeface="Arial"/>
                <a:cs typeface="Arial"/>
              </a:defRPr>
            </a:lvl4pPr>
            <a:lvl5pPr>
              <a:defRPr sz="1125" b="0">
                <a:solidFill>
                  <a:srgbClr val="C3D9DE"/>
                </a:solidFill>
                <a:latin typeface="Arial"/>
                <a:ea typeface="Arial"/>
                <a:cs typeface="Arial"/>
              </a:defRPr>
            </a:lvl5pPr>
            <a:lvl6pPr>
              <a:defRPr sz="1125" b="0">
                <a:solidFill>
                  <a:srgbClr val="C3D9DE"/>
                </a:solidFill>
                <a:latin typeface="Arial"/>
                <a:ea typeface="Arial"/>
                <a:cs typeface="Arial"/>
              </a:defRPr>
            </a:lvl6pPr>
            <a:lvl7pPr>
              <a:defRPr sz="1125" b="0">
                <a:solidFill>
                  <a:srgbClr val="C3D9DE"/>
                </a:solidFill>
                <a:latin typeface="Arial"/>
                <a:ea typeface="Arial"/>
                <a:cs typeface="Arial"/>
              </a:defRPr>
            </a:lvl7pPr>
            <a:lvl8pPr>
              <a:defRPr sz="1125" b="0">
                <a:solidFill>
                  <a:srgbClr val="C3D9DE"/>
                </a:solidFill>
                <a:latin typeface="Arial"/>
                <a:ea typeface="Arial"/>
                <a:cs typeface="Arial"/>
              </a:defRPr>
            </a:lvl8pPr>
            <a:lvl9pPr>
              <a:defRPr sz="1125" b="0">
                <a:solidFill>
                  <a:srgbClr val="C3D9DE"/>
                </a:solidFill>
                <a:latin typeface="Arial"/>
                <a:ea typeface="Arial"/>
                <a:cs typeface="Arial"/>
              </a:defRPr>
            </a:lvl9pPr>
          </a:lstStyle>
          <a:p xmlns:a="http://schemas.openxmlformats.org/drawingml/2006/main">
            <a:pPr>
              <a:defRPr sz="1125" b="0">
                <a:solidFill>
                  <a:srgbClr val="C3D9DE"/>
                </a:solidFill>
                <a:latin typeface="Arial"/>
                <a:ea typeface="Arial"/>
                <a:cs typeface="Arial"/>
              </a:defRPr>
            </a:pPr>
            <a:r>
              <a:rPr sz="1125" b="0">
                <a:solidFill>
                  <a:srgbClr val="C3D9DE"/>
                </a:solidFill>
                <a:latin typeface="Arial"/>
                <a:ea typeface="Arial"/>
                <a:cs typeface="Arial"/>
              </a:rPr>
              <a:t>ISM 310  Defense in Depth  |  Week 2</a:t>
            </a:r>
          </a:p>
        </p:txBody>
      </p:sp>
      <p:sp>
        <p:nvSpPr>
          <p:cNvPr id="8" name="page">
            <a:extLst xmlns:a="http://schemas.openxmlformats.org/drawingml/2006/main">
              <a:ext uri="{FF2B5EF4-FFF2-40B4-BE49-F238E27FC236}">
                <a16:creationId xmlns:a16="http://schemas.microsoft.com/office/drawing/2014/main" id="{618970B9-B0F6-4987-ABAF-77B2372DC273}"/>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C3D9DE"/>
                </a:solidFill>
                <a:latin typeface="Arial"/>
                <a:ea typeface="Arial"/>
                <a:cs typeface="Arial"/>
              </a:defRPr>
            </a:defPPr>
            <a:lvl1pPr>
              <a:defRPr sz="1125" b="0">
                <a:solidFill>
                  <a:srgbClr val="C3D9DE"/>
                </a:solidFill>
                <a:latin typeface="Arial"/>
                <a:ea typeface="Arial"/>
                <a:cs typeface="Arial"/>
              </a:defRPr>
            </a:lvl1pPr>
            <a:lvl2pPr>
              <a:defRPr sz="1125" b="0">
                <a:solidFill>
                  <a:srgbClr val="C3D9DE"/>
                </a:solidFill>
                <a:latin typeface="Arial"/>
                <a:ea typeface="Arial"/>
                <a:cs typeface="Arial"/>
              </a:defRPr>
            </a:lvl2pPr>
            <a:lvl3pPr>
              <a:defRPr sz="1125" b="0">
                <a:solidFill>
                  <a:srgbClr val="C3D9DE"/>
                </a:solidFill>
                <a:latin typeface="Arial"/>
                <a:ea typeface="Arial"/>
                <a:cs typeface="Arial"/>
              </a:defRPr>
            </a:lvl3pPr>
            <a:lvl4pPr>
              <a:defRPr sz="1125" b="0">
                <a:solidFill>
                  <a:srgbClr val="C3D9DE"/>
                </a:solidFill>
                <a:latin typeface="Arial"/>
                <a:ea typeface="Arial"/>
                <a:cs typeface="Arial"/>
              </a:defRPr>
            </a:lvl4pPr>
            <a:lvl5pPr>
              <a:defRPr sz="1125" b="0">
                <a:solidFill>
                  <a:srgbClr val="C3D9DE"/>
                </a:solidFill>
                <a:latin typeface="Arial"/>
                <a:ea typeface="Arial"/>
                <a:cs typeface="Arial"/>
              </a:defRPr>
            </a:lvl5pPr>
            <a:lvl6pPr>
              <a:defRPr sz="1125" b="0">
                <a:solidFill>
                  <a:srgbClr val="C3D9DE"/>
                </a:solidFill>
                <a:latin typeface="Arial"/>
                <a:ea typeface="Arial"/>
                <a:cs typeface="Arial"/>
              </a:defRPr>
            </a:lvl6pPr>
            <a:lvl7pPr>
              <a:defRPr sz="1125" b="0">
                <a:solidFill>
                  <a:srgbClr val="C3D9DE"/>
                </a:solidFill>
                <a:latin typeface="Arial"/>
                <a:ea typeface="Arial"/>
                <a:cs typeface="Arial"/>
              </a:defRPr>
            </a:lvl7pPr>
            <a:lvl8pPr>
              <a:defRPr sz="1125" b="0">
                <a:solidFill>
                  <a:srgbClr val="C3D9DE"/>
                </a:solidFill>
                <a:latin typeface="Arial"/>
                <a:ea typeface="Arial"/>
                <a:cs typeface="Arial"/>
              </a:defRPr>
            </a:lvl8pPr>
            <a:lvl9pPr>
              <a:defRPr sz="1125" b="0">
                <a:solidFill>
                  <a:srgbClr val="C3D9DE"/>
                </a:solidFill>
                <a:latin typeface="Arial"/>
                <a:ea typeface="Arial"/>
                <a:cs typeface="Arial"/>
              </a:defRPr>
            </a:lvl9pPr>
          </a:lstStyle>
          <a:p xmlns:a="http://schemas.openxmlformats.org/drawingml/2006/main">
            <a:pPr>
              <a:defRPr sz="1125" b="0">
                <a:solidFill>
                  <a:srgbClr val="C3D9DE"/>
                </a:solidFill>
                <a:latin typeface="Arial"/>
                <a:ea typeface="Arial"/>
                <a:cs typeface="Arial"/>
              </a:defRPr>
            </a:pPr>
            <a:r>
              <a:rPr sz="1125" b="0">
                <a:solidFill>
                  <a:srgbClr val="C3D9DE"/>
                </a:solidFill>
                <a:latin typeface="Arial"/>
                <a:ea typeface="Arial"/>
                <a:cs typeface="Arial"/>
              </a:rPr>
              <a:t>01</a:t>
            </a:r>
          </a:p>
        </p:txBody>
      </p:sp>
    </p:spTree>
    <p:extLst>
      <p:ext uri="{BB962C8B-B14F-4D97-AF65-F5344CB8AC3E}">
        <p14:creationId xmlns:p14="http://schemas.microsoft.com/office/powerpoint/2010/main" val="117786533"/>
      </p:ext>
    </p:extLst>
  </p:cSld>
</p:sld>
</file>

<file path=ppt/slides/slide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6" name="section">
            <a:extLst xmlns:a="http://schemas.openxmlformats.org/drawingml/2006/main">
              <a:ext uri="{FF2B5EF4-FFF2-40B4-BE49-F238E27FC236}">
                <a16:creationId xmlns:a16="http://schemas.microsoft.com/office/drawing/2014/main" id="{C02129EA-9B9E-4975-B815-05F954CF672F}"/>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WEEK 2</a:t>
            </a:r>
          </a:p>
        </p:txBody>
      </p:sp>
      <p:sp>
        <p:nvSpPr>
          <p:cNvPr id="2" name="heading">
            <a:extLst xmlns:a="http://schemas.openxmlformats.org/drawingml/2006/main">
              <a:ext uri="{FF2B5EF4-FFF2-40B4-BE49-F238E27FC236}">
                <a16:creationId xmlns:a16="http://schemas.microsoft.com/office/drawing/2014/main" id="{3275E978-8EBD-4BFD-A307-3C385DD8DA0D}"/>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Week 2 daily sequence</a:t>
            </a:r>
          </a:p>
        </p:txBody>
      </p:sp>
      <p:graphicFrame>
        <p:nvGraphicFramePr>
          <p:cNvPr id="3" name="">
            <a:extLst xmlns:a="http://schemas.openxmlformats.org/drawingml/2006/main">
              <a:ext uri="{FF2B5EF4-FFF2-40B4-BE49-F238E27FC236}">
                <a16:creationId xmlns:a16="http://schemas.microsoft.com/office/drawing/2014/main" id="{A0AA1B4E-B689-4354-A199-DC7135F35E86}"/>
              </a:ext>
            </a:extLst>
          </p:cNvPr>
          <p:cNvGraphicFramePr/>
          <p:nvPr/>
        </p:nvGraphicFramePr>
        <p:xfrm>
          <a:off xmlns:a="http://schemas.openxmlformats.org/drawingml/2006/main" x="609600" y="2114550"/>
          <a:ext xmlns:a="http://schemas.openxmlformats.org/drawingml/2006/main" cx="10972800" cy="3476625"/>
        </p:xfrm>
        <a:graphic xmlns:a="http://schemas.openxmlformats.org/drawingml/2006/main">
          <a:graphicData uri="http://schemas.openxmlformats.org/drawingml/2006/table">
            <a:tbl>
              <a:tblPr/>
              <a:tblGrid>
                <a:gridCol w="2333625"/>
                <a:gridCol w="4000500"/>
                <a:gridCol w="4638675"/>
              </a:tblGrid>
              <a:tr h="695325">
                <a:tc>
                  <a:txBody>
                    <a:bodyPr/>
                    <a:lstStyle/>
                    <a:p>
                      <a:r>
                        <a:rPr sz="1725" b="1">
                          <a:solidFill>
                            <a:srgbClr val="FFFFFF"/>
                          </a:solidFill>
                          <a:latin typeface="Arial"/>
                          <a:ea typeface="Arial"/>
                          <a:cs typeface="Arial"/>
                        </a:rPr>
                        <a:t>Day</a:t>
                      </a:r>
                    </a:p>
                  </a:txBody>
                  <a:tcPr marL="91440" marR="91440" marT="45720" marB="45720">
                    <a:lnL w="9525">
                      <a:solidFill>
                        <a:srgbClr val="CBD5DA"/>
                      </a:solidFill>
                      <a:prstDash val="solid"/>
                    </a:lnL>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c>
                  <a:txBody>
                    <a:bodyPr/>
                    <a:lstStyle/>
                    <a:p>
                      <a:r>
                        <a:rPr sz="1725" b="1">
                          <a:solidFill>
                            <a:srgbClr val="FFFFFF"/>
                          </a:solidFill>
                          <a:latin typeface="Arial"/>
                          <a:ea typeface="Arial"/>
                          <a:cs typeface="Arial"/>
                        </a:rPr>
                        <a:t>Module focus</a:t>
                      </a:r>
                    </a:p>
                  </a:txBody>
                  <a:tcPr marL="91440" marR="91440" marT="45720" marB="45720">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c>
                  <a:txBody>
                    <a:bodyPr/>
                    <a:lstStyle/>
                    <a:p>
                      <a:r>
                        <a:rPr sz="1725" b="1">
                          <a:solidFill>
                            <a:srgbClr val="FFFFFF"/>
                          </a:solidFill>
                          <a:latin typeface="Arial"/>
                          <a:ea typeface="Arial"/>
                          <a:cs typeface="Arial"/>
                        </a:rPr>
                        <a:t>Lead</a:t>
                      </a:r>
                    </a:p>
                  </a:txBody>
                  <a:tcPr marL="91440" marR="91440" marT="45720" marB="45720">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r>
              <a:tr h="695325">
                <a:tc>
                  <a:txBody>
                    <a:bodyPr/>
                    <a:lstStyle/>
                    <a:p>
                      <a:r>
                        <a:rPr sz="1725" b="0">
                          <a:solidFill>
                            <a:srgbClr val="102F40"/>
                          </a:solidFill>
                          <a:latin typeface="Arial"/>
                          <a:ea typeface="Arial"/>
                          <a:cs typeface="Arial"/>
                        </a:rPr>
                        <a:t>Mon Oct 26</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Defining assessment approaches</a:t>
                      </a:r>
                    </a:p>
                  </a:txBody>
                  <a:tcPr marL="91440" marR="91440" marT="45720" marB="45720">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Professor Antoniou</a:t>
                      </a:r>
                    </a:p>
                  </a:txBody>
                  <a:tcPr marL="91440" marR="91440" marT="45720" marB="45720">
                    <a:lnR w="9525">
                      <a:solidFill>
                        <a:srgbClr val="CBD5DA"/>
                      </a:solidFill>
                      <a:prstDash val="solid"/>
                    </a:lnR>
                    <a:lnB w="9525">
                      <a:solidFill>
                        <a:srgbClr val="CBD5DA"/>
                      </a:solidFill>
                      <a:prstDash val="solid"/>
                    </a:lnB>
                    <a:solidFill>
                      <a:srgbClr val="FFFFFF"/>
                    </a:solidFill>
                  </a:tcPr>
                </a:tc>
              </a:tr>
              <a:tr h="695325">
                <a:tc>
                  <a:txBody>
                    <a:bodyPr/>
                    <a:lstStyle/>
                    <a:p>
                      <a:r>
                        <a:rPr sz="1725" b="0">
                          <a:solidFill>
                            <a:srgbClr val="102F40"/>
                          </a:solidFill>
                          <a:latin typeface="Arial"/>
                          <a:ea typeface="Arial"/>
                          <a:cs typeface="Arial"/>
                        </a:rPr>
                        <a:t>Tue Oct 27</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Performing an assessment</a:t>
                      </a:r>
                    </a:p>
                  </a:txBody>
                  <a:tcPr marL="91440" marR="91440" marT="45720" marB="45720">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Professor Antoniou</a:t>
                      </a:r>
                    </a:p>
                  </a:txBody>
                  <a:tcPr marL="91440" marR="91440" marT="45720" marB="45720">
                    <a:lnR w="9525">
                      <a:solidFill>
                        <a:srgbClr val="CBD5DA"/>
                      </a:solidFill>
                      <a:prstDash val="solid"/>
                    </a:lnR>
                    <a:lnB w="9525">
                      <a:solidFill>
                        <a:srgbClr val="CBD5DA"/>
                      </a:solidFill>
                      <a:prstDash val="solid"/>
                    </a:lnB>
                    <a:solidFill>
                      <a:srgbClr val="EBF0F2"/>
                    </a:solidFill>
                  </a:tcPr>
                </a:tc>
              </a:tr>
              <a:tr h="695325">
                <a:tc>
                  <a:txBody>
                    <a:bodyPr/>
                    <a:lstStyle/>
                    <a:p>
                      <a:r>
                        <a:rPr sz="1725" b="0">
                          <a:solidFill>
                            <a:srgbClr val="102F40"/>
                          </a:solidFill>
                          <a:latin typeface="Arial"/>
                          <a:ea typeface="Arial"/>
                          <a:cs typeface="Arial"/>
                        </a:rPr>
                        <a:t>Wed Oct 28</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Assets and activities</a:t>
                      </a:r>
                    </a:p>
                  </a:txBody>
                  <a:tcPr marL="91440" marR="91440" marT="45720" marB="45720">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Joe Ingles</a:t>
                      </a:r>
                    </a:p>
                  </a:txBody>
                  <a:tcPr marL="91440" marR="91440" marT="45720" marB="45720">
                    <a:lnR w="9525">
                      <a:solidFill>
                        <a:srgbClr val="CBD5DA"/>
                      </a:solidFill>
                      <a:prstDash val="solid"/>
                    </a:lnR>
                    <a:lnB w="9525">
                      <a:solidFill>
                        <a:srgbClr val="CBD5DA"/>
                      </a:solidFill>
                      <a:prstDash val="solid"/>
                    </a:lnB>
                    <a:solidFill>
                      <a:srgbClr val="FFFFFF"/>
                    </a:solidFill>
                  </a:tcPr>
                </a:tc>
              </a:tr>
              <a:tr h="695325">
                <a:tc>
                  <a:txBody>
                    <a:bodyPr/>
                    <a:lstStyle/>
                    <a:p>
                      <a:r>
                        <a:rPr sz="1725" b="0">
                          <a:solidFill>
                            <a:srgbClr val="102F40"/>
                          </a:solidFill>
                          <a:latin typeface="Arial"/>
                          <a:ea typeface="Arial"/>
                          <a:cs typeface="Arial"/>
                        </a:rPr>
                        <a:t>Thu Oct 29</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Threats vulnerabilities exploits</a:t>
                      </a:r>
                    </a:p>
                  </a:txBody>
                  <a:tcPr marL="91440" marR="91440" marT="45720" marB="45720">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Joe Ingles</a:t>
                      </a:r>
                    </a:p>
                  </a:txBody>
                  <a:tcPr marL="91440" marR="91440" marT="45720" marB="45720">
                    <a:lnR w="9525">
                      <a:solidFill>
                        <a:srgbClr val="CBD5DA"/>
                      </a:solidFill>
                      <a:prstDash val="solid"/>
                    </a:lnR>
                    <a:lnB w="9525">
                      <a:solidFill>
                        <a:srgbClr val="CBD5DA"/>
                      </a:solidFill>
                      <a:prstDash val="solid"/>
                    </a:lnB>
                    <a:solidFill>
                      <a:srgbClr val="EBF0F2"/>
                    </a:solidFill>
                  </a:tcPr>
                </a:tc>
              </a:tr>
            </a:tbl>
          </a:graphicData>
        </a:graphic>
      </p:graphicFrame>
      <p:sp>
        <p:nvSpPr>
          <p:cNvPr id="4" name="footer">
            <a:extLst xmlns:a="http://schemas.openxmlformats.org/drawingml/2006/main">
              <a:ext uri="{FF2B5EF4-FFF2-40B4-BE49-F238E27FC236}">
                <a16:creationId xmlns:a16="http://schemas.microsoft.com/office/drawing/2014/main" id="{82C37B49-4923-4019-8B30-0C2492A48447}"/>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2</a:t>
            </a:r>
          </a:p>
        </p:txBody>
      </p:sp>
      <p:sp>
        <p:nvSpPr>
          <p:cNvPr id="5" name="page">
            <a:extLst xmlns:a="http://schemas.openxmlformats.org/drawingml/2006/main">
              <a:ext uri="{FF2B5EF4-FFF2-40B4-BE49-F238E27FC236}">
                <a16:creationId xmlns:a16="http://schemas.microsoft.com/office/drawing/2014/main" id="{2C86663F-C9C9-4B0F-8F41-8FBE28B6A8E8}"/>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02</a:t>
            </a:r>
          </a:p>
        </p:txBody>
      </p:sp>
    </p:spTree>
    <p:extLst>
      <p:ext uri="{BB962C8B-B14F-4D97-AF65-F5344CB8AC3E}">
        <p14:creationId xmlns:p14="http://schemas.microsoft.com/office/powerpoint/2010/main" val="1976121129"/>
      </p:ext>
    </p:extLst>
  </p:cSld>
</p:sld>
</file>

<file path=ppt/slides/slide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582EB2B8-AC2A-4369-B85F-78D56DE8379B}"/>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WEEK 2</a:t>
            </a:r>
          </a:p>
        </p:txBody>
      </p:sp>
      <p:sp>
        <p:nvSpPr>
          <p:cNvPr id="2" name="heading">
            <a:extLst xmlns:a="http://schemas.openxmlformats.org/drawingml/2006/main">
              <a:ext uri="{FF2B5EF4-FFF2-40B4-BE49-F238E27FC236}">
                <a16:creationId xmlns:a16="http://schemas.microsoft.com/office/drawing/2014/main" id="{F0388BCF-90B0-45BD-BFE9-D79CF0DADD15}"/>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Week 2 outcomes and practice</a:t>
            </a:r>
          </a:p>
        </p:txBody>
      </p:sp>
      <p:sp>
        <p:nvSpPr>
          <p:cNvPr id="3" name="index-0">
            <a:extLst xmlns:a="http://schemas.openxmlformats.org/drawingml/2006/main">
              <a:ext uri="{FF2B5EF4-FFF2-40B4-BE49-F238E27FC236}">
                <a16:creationId xmlns:a16="http://schemas.microsoft.com/office/drawing/2014/main" id="{9ACF8B14-2205-4702-9A26-CAE4A65BAF4F}"/>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15795578-5F82-4F75-BF4E-10CB57E37573}"/>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Choose an approach for a stated decision</a:t>
            </a:r>
          </a:p>
        </p:txBody>
      </p:sp>
      <p:sp>
        <p:nvSpPr>
          <p:cNvPr id="5" name="index-1">
            <a:extLst xmlns:a="http://schemas.openxmlformats.org/drawingml/2006/main">
              <a:ext uri="{FF2B5EF4-FFF2-40B4-BE49-F238E27FC236}">
                <a16:creationId xmlns:a16="http://schemas.microsoft.com/office/drawing/2014/main" id="{2417D296-6823-4159-93E0-F33C6D35A75F}"/>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70A3F5B7-3528-4369-8292-14052A9B31D7}"/>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Distinguish evidence from unsupported findings</a:t>
            </a:r>
          </a:p>
        </p:txBody>
      </p:sp>
      <p:sp>
        <p:nvSpPr>
          <p:cNvPr id="7" name="index-2">
            <a:extLst xmlns:a="http://schemas.openxmlformats.org/drawingml/2006/main">
              <a:ext uri="{FF2B5EF4-FFF2-40B4-BE49-F238E27FC236}">
                <a16:creationId xmlns:a16="http://schemas.microsoft.com/office/drawing/2014/main" id="{846E5311-C951-4C32-982B-F0CD7D414CC0}"/>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F31576AC-5E27-484E-9EE5-B87F2F1CCB42}"/>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Connect activities to assets and dependencies</a:t>
            </a:r>
          </a:p>
        </p:txBody>
      </p:sp>
      <p:sp>
        <p:nvSpPr>
          <p:cNvPr id="9" name="index-3">
            <a:extLst xmlns:a="http://schemas.openxmlformats.org/drawingml/2006/main">
              <a:ext uri="{FF2B5EF4-FFF2-40B4-BE49-F238E27FC236}">
                <a16:creationId xmlns:a16="http://schemas.microsoft.com/office/drawing/2014/main" id="{7E15E25A-96CA-4FF6-A7AE-72A0EC6DB8DC}"/>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F80AF844-357F-46E6-B08A-C4631A172886}"/>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Analyze threats and verify candidate controls</a:t>
            </a:r>
          </a:p>
        </p:txBody>
      </p:sp>
      <p:sp>
        <p:nvSpPr>
          <p:cNvPr id="11" name="footer">
            <a:extLst xmlns:a="http://schemas.openxmlformats.org/drawingml/2006/main">
              <a:ext uri="{FF2B5EF4-FFF2-40B4-BE49-F238E27FC236}">
                <a16:creationId xmlns:a16="http://schemas.microsoft.com/office/drawing/2014/main" id="{0AA18B4D-E5C8-4570-9C7C-A66DB6A2F3AB}"/>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2</a:t>
            </a:r>
          </a:p>
        </p:txBody>
      </p:sp>
      <p:sp>
        <p:nvSpPr>
          <p:cNvPr id="12" name="page">
            <a:extLst xmlns:a="http://schemas.openxmlformats.org/drawingml/2006/main">
              <a:ext uri="{FF2B5EF4-FFF2-40B4-BE49-F238E27FC236}">
                <a16:creationId xmlns:a16="http://schemas.microsoft.com/office/drawing/2014/main" id="{A998DD38-B5F4-42CD-9CA8-20F98E3F6CF8}"/>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03</a:t>
            </a:r>
          </a:p>
        </p:txBody>
      </p:sp>
    </p:spTree>
    <p:extLst>
      <p:ext uri="{BB962C8B-B14F-4D97-AF65-F5344CB8AC3E}">
        <p14:creationId xmlns:p14="http://schemas.microsoft.com/office/powerpoint/2010/main" val="978556816"/>
      </p:ext>
    </p:extLst>
  </p:cSld>
</p:sld>
</file>

<file path=ppt/slides/slide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469015A9-D6CA-4542-ABBE-18219E99E0A4}"/>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MONDAY 26 OCT</a:t>
            </a:r>
          </a:p>
        </p:txBody>
      </p:sp>
      <p:sp>
        <p:nvSpPr>
          <p:cNvPr id="2" name="heading">
            <a:extLst xmlns:a="http://schemas.openxmlformats.org/drawingml/2006/main">
              <a:ext uri="{FF2B5EF4-FFF2-40B4-BE49-F238E27FC236}">
                <a16:creationId xmlns:a16="http://schemas.microsoft.com/office/drawing/2014/main" id="{CF22B774-A233-4A29-8F9A-427087281597}"/>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Monday learning route</a:t>
            </a:r>
          </a:p>
        </p:txBody>
      </p:sp>
      <p:sp>
        <p:nvSpPr>
          <p:cNvPr id="3" name="index-0">
            <a:extLst xmlns:a="http://schemas.openxmlformats.org/drawingml/2006/main">
              <a:ext uri="{FF2B5EF4-FFF2-40B4-BE49-F238E27FC236}">
                <a16:creationId xmlns:a16="http://schemas.microsoft.com/office/drawing/2014/main" id="{A2404E2E-6E03-4119-81CF-588613E870E9}"/>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75676219-6753-46E8-BB94-C17AC3E0782C}"/>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Assessment purpose and evidence needs</a:t>
            </a:r>
          </a:p>
        </p:txBody>
      </p:sp>
      <p:sp>
        <p:nvSpPr>
          <p:cNvPr id="5" name="index-1">
            <a:extLst xmlns:a="http://schemas.openxmlformats.org/drawingml/2006/main">
              <a:ext uri="{FF2B5EF4-FFF2-40B4-BE49-F238E27FC236}">
                <a16:creationId xmlns:a16="http://schemas.microsoft.com/office/drawing/2014/main" id="{2DDF507E-2803-4A4D-B89B-71761E0521C5}"/>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2E796BA7-6204-40FC-BDE5-99FB8FC9A2AB}"/>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B1 method selection and tradeoffs</a:t>
            </a:r>
          </a:p>
        </p:txBody>
      </p:sp>
      <p:sp>
        <p:nvSpPr>
          <p:cNvPr id="7" name="index-2">
            <a:extLst xmlns:a="http://schemas.openxmlformats.org/drawingml/2006/main">
              <a:ext uri="{FF2B5EF4-FFF2-40B4-BE49-F238E27FC236}">
                <a16:creationId xmlns:a16="http://schemas.microsoft.com/office/drawing/2014/main" id="{CB975491-3EE6-4E01-84D5-6722405A3D81}"/>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505AD511-7033-4597-B5A4-8CA820A82989}"/>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B2 illustrative monetary estimates</a:t>
            </a:r>
          </a:p>
        </p:txBody>
      </p:sp>
      <p:sp>
        <p:nvSpPr>
          <p:cNvPr id="9" name="index-3">
            <a:extLst xmlns:a="http://schemas.openxmlformats.org/drawingml/2006/main">
              <a:ext uri="{FF2B5EF4-FFF2-40B4-BE49-F238E27FC236}">
                <a16:creationId xmlns:a16="http://schemas.microsoft.com/office/drawing/2014/main" id="{CD9C6A0F-CFA4-4162-90E4-49B6BF0960F6}"/>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9808B2D6-5D6D-4381-A2C9-1CD8800C6612}"/>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When and why to reassess</a:t>
            </a:r>
          </a:p>
        </p:txBody>
      </p:sp>
      <p:sp>
        <p:nvSpPr>
          <p:cNvPr id="11" name="footer">
            <a:extLst xmlns:a="http://schemas.openxmlformats.org/drawingml/2006/main">
              <a:ext uri="{FF2B5EF4-FFF2-40B4-BE49-F238E27FC236}">
                <a16:creationId xmlns:a16="http://schemas.microsoft.com/office/drawing/2014/main" id="{7BEAC294-5227-408B-9BA4-73D6BAC74C3A}"/>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2</a:t>
            </a:r>
          </a:p>
        </p:txBody>
      </p:sp>
      <p:sp>
        <p:nvSpPr>
          <p:cNvPr id="12" name="page">
            <a:extLst xmlns:a="http://schemas.openxmlformats.org/drawingml/2006/main">
              <a:ext uri="{FF2B5EF4-FFF2-40B4-BE49-F238E27FC236}">
                <a16:creationId xmlns:a16="http://schemas.microsoft.com/office/drawing/2014/main" id="{2053E954-4D87-4BB0-8533-4C6084EB47CD}"/>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04</a:t>
            </a:r>
          </a:p>
        </p:txBody>
      </p:sp>
    </p:spTree>
    <p:extLst>
      <p:ext uri="{BB962C8B-B14F-4D97-AF65-F5344CB8AC3E}">
        <p14:creationId xmlns:p14="http://schemas.microsoft.com/office/powerpoint/2010/main" val="1784280906"/>
      </p:ext>
    </p:extLst>
  </p:cSld>
</p:sld>
</file>

<file path=ppt/slides/slide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066342A1-D669-4BFF-B461-EE2B658922FE}"/>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MONDAY 26 OCT</a:t>
            </a:r>
          </a:p>
        </p:txBody>
      </p:sp>
      <p:sp>
        <p:nvSpPr>
          <p:cNvPr id="2" name="heading">
            <a:extLst xmlns:a="http://schemas.openxmlformats.org/drawingml/2006/main">
              <a:ext uri="{FF2B5EF4-FFF2-40B4-BE49-F238E27FC236}">
                <a16:creationId xmlns:a16="http://schemas.microsoft.com/office/drawing/2014/main" id="{862D3E56-6DB0-468C-9690-DFCF58460B75}"/>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Assessment decisions and boundaries</a:t>
            </a:r>
          </a:p>
        </p:txBody>
      </p:sp>
      <p:sp>
        <p:nvSpPr>
          <p:cNvPr id="3" name="index-0">
            <a:extLst xmlns:a="http://schemas.openxmlformats.org/drawingml/2006/main">
              <a:ext uri="{FF2B5EF4-FFF2-40B4-BE49-F238E27FC236}">
                <a16:creationId xmlns:a16="http://schemas.microsoft.com/office/drawing/2014/main" id="{9DFD1DD8-D6BC-4537-963A-9ED60B73DD8E}"/>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EB83C0FA-D457-4D46-8B96-D5276B14BBCF}"/>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State the decision the assessment informs</a:t>
            </a:r>
          </a:p>
        </p:txBody>
      </p:sp>
      <p:sp>
        <p:nvSpPr>
          <p:cNvPr id="5" name="index-1">
            <a:extLst xmlns:a="http://schemas.openxmlformats.org/drawingml/2006/main">
              <a:ext uri="{FF2B5EF4-FFF2-40B4-BE49-F238E27FC236}">
                <a16:creationId xmlns:a16="http://schemas.microsoft.com/office/drawing/2014/main" id="{36FCAEBC-262E-4480-BA06-64440654DB5E}"/>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323F664B-DB4F-47BE-BCF8-586D5B509FA8}"/>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Identify included activities and interfaces</a:t>
            </a:r>
          </a:p>
        </p:txBody>
      </p:sp>
      <p:sp>
        <p:nvSpPr>
          <p:cNvPr id="7" name="index-2">
            <a:extLst xmlns:a="http://schemas.openxmlformats.org/drawingml/2006/main">
              <a:ext uri="{FF2B5EF4-FFF2-40B4-BE49-F238E27FC236}">
                <a16:creationId xmlns:a16="http://schemas.microsoft.com/office/drawing/2014/main" id="{A29359BE-2714-4F02-9442-97F51AB7EAC7}"/>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E4ACC1B3-2A2F-4908-90AB-E8FD1502D99A}"/>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Name constraints and information needs</a:t>
            </a:r>
          </a:p>
        </p:txBody>
      </p:sp>
      <p:sp>
        <p:nvSpPr>
          <p:cNvPr id="9" name="index-3">
            <a:extLst xmlns:a="http://schemas.openxmlformats.org/drawingml/2006/main">
              <a:ext uri="{FF2B5EF4-FFF2-40B4-BE49-F238E27FC236}">
                <a16:creationId xmlns:a16="http://schemas.microsoft.com/office/drawing/2014/main" id="{FC5223F8-E670-4108-AFDF-737FF8F46342}"/>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DC3964E4-5228-4A46-BB8A-0DA344FC2BD8}"/>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Document the time horizon and uncertainty</a:t>
            </a:r>
          </a:p>
        </p:txBody>
      </p:sp>
      <p:sp>
        <p:nvSpPr>
          <p:cNvPr id="11" name="footer">
            <a:extLst xmlns:a="http://schemas.openxmlformats.org/drawingml/2006/main">
              <a:ext uri="{FF2B5EF4-FFF2-40B4-BE49-F238E27FC236}">
                <a16:creationId xmlns:a16="http://schemas.microsoft.com/office/drawing/2014/main" id="{16B41F25-2827-45F6-9C52-FCB9C8E50518}"/>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2</a:t>
            </a:r>
          </a:p>
        </p:txBody>
      </p:sp>
      <p:sp>
        <p:nvSpPr>
          <p:cNvPr id="12" name="page">
            <a:extLst xmlns:a="http://schemas.openxmlformats.org/drawingml/2006/main">
              <a:ext uri="{FF2B5EF4-FFF2-40B4-BE49-F238E27FC236}">
                <a16:creationId xmlns:a16="http://schemas.microsoft.com/office/drawing/2014/main" id="{BA148964-2678-46C1-A503-0C83A26F229D}"/>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05</a:t>
            </a:r>
          </a:p>
        </p:txBody>
      </p:sp>
    </p:spTree>
    <p:extLst>
      <p:ext uri="{BB962C8B-B14F-4D97-AF65-F5344CB8AC3E}">
        <p14:creationId xmlns:p14="http://schemas.microsoft.com/office/powerpoint/2010/main" val="1282328888"/>
      </p:ext>
    </p:extLst>
  </p:cSld>
</p:sld>
</file>

<file path=ppt/slides/slide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6" name="section">
            <a:extLst xmlns:a="http://schemas.openxmlformats.org/drawingml/2006/main">
              <a:ext uri="{FF2B5EF4-FFF2-40B4-BE49-F238E27FC236}">
                <a16:creationId xmlns:a16="http://schemas.microsoft.com/office/drawing/2014/main" id="{6B32283C-5BE0-4F10-A021-06715BFD4FCD}"/>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MONDAY 26 OCT</a:t>
            </a:r>
          </a:p>
        </p:txBody>
      </p:sp>
      <p:sp>
        <p:nvSpPr>
          <p:cNvPr id="2" name="heading">
            <a:extLst xmlns:a="http://schemas.openxmlformats.org/drawingml/2006/main">
              <a:ext uri="{FF2B5EF4-FFF2-40B4-BE49-F238E27FC236}">
                <a16:creationId xmlns:a16="http://schemas.microsoft.com/office/drawing/2014/main" id="{7A8E00FD-AE0D-4B3B-8DB3-F0B66410B4A9}"/>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Qualitative and quantitative reasoning</a:t>
            </a:r>
          </a:p>
        </p:txBody>
      </p:sp>
      <p:graphicFrame>
        <p:nvGraphicFramePr>
          <p:cNvPr id="3" name="">
            <a:extLst xmlns:a="http://schemas.openxmlformats.org/drawingml/2006/main">
              <a:ext uri="{FF2B5EF4-FFF2-40B4-BE49-F238E27FC236}">
                <a16:creationId xmlns:a16="http://schemas.microsoft.com/office/drawing/2014/main" id="{A80D96AB-5078-4B39-A184-723DDA2D8502}"/>
              </a:ext>
            </a:extLst>
          </p:cNvPr>
          <p:cNvGraphicFramePr/>
          <p:nvPr/>
        </p:nvGraphicFramePr>
        <p:xfrm>
          <a:off xmlns:a="http://schemas.openxmlformats.org/drawingml/2006/main" x="609600" y="2114550"/>
          <a:ext xmlns:a="http://schemas.openxmlformats.org/drawingml/2006/main" cx="10972800" cy="3476625"/>
        </p:xfrm>
        <a:graphic xmlns:a="http://schemas.openxmlformats.org/drawingml/2006/main">
          <a:graphicData uri="http://schemas.openxmlformats.org/drawingml/2006/table">
            <a:tbl>
              <a:tblPr/>
              <a:tblGrid>
                <a:gridCol w="2333625"/>
                <a:gridCol w="4000500"/>
                <a:gridCol w="4638675"/>
              </a:tblGrid>
              <a:tr h="869156">
                <a:tc>
                  <a:txBody>
                    <a:bodyPr/>
                    <a:lstStyle/>
                    <a:p>
                      <a:r>
                        <a:rPr sz="1725" b="1">
                          <a:solidFill>
                            <a:srgbClr val="FFFFFF"/>
                          </a:solidFill>
                          <a:latin typeface="Arial"/>
                          <a:ea typeface="Arial"/>
                          <a:cs typeface="Arial"/>
                        </a:rPr>
                        <a:t>Approach</a:t>
                      </a:r>
                    </a:p>
                  </a:txBody>
                  <a:tcPr marL="91440" marR="91440" marT="45720" marB="45720">
                    <a:lnL w="9525">
                      <a:solidFill>
                        <a:srgbClr val="CBD5DA"/>
                      </a:solidFill>
                      <a:prstDash val="solid"/>
                    </a:lnL>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c>
                  <a:txBody>
                    <a:bodyPr/>
                    <a:lstStyle/>
                    <a:p>
                      <a:r>
                        <a:rPr sz="1725" b="1">
                          <a:solidFill>
                            <a:srgbClr val="FFFFFF"/>
                          </a:solidFill>
                          <a:latin typeface="Arial"/>
                          <a:ea typeface="Arial"/>
                          <a:cs typeface="Arial"/>
                        </a:rPr>
                        <a:t>Output</a:t>
                      </a:r>
                    </a:p>
                  </a:txBody>
                  <a:tcPr marL="91440" marR="91440" marT="45720" marB="45720">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c>
                  <a:txBody>
                    <a:bodyPr/>
                    <a:lstStyle/>
                    <a:p>
                      <a:r>
                        <a:rPr sz="1725" b="1">
                          <a:solidFill>
                            <a:srgbClr val="FFFFFF"/>
                          </a:solidFill>
                          <a:latin typeface="Arial"/>
                          <a:ea typeface="Arial"/>
                          <a:cs typeface="Arial"/>
                        </a:rPr>
                        <a:t>Important limitation</a:t>
                      </a:r>
                    </a:p>
                  </a:txBody>
                  <a:tcPr marL="91440" marR="91440" marT="45720" marB="45720">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r>
              <a:tr h="869156">
                <a:tc>
                  <a:txBody>
                    <a:bodyPr/>
                    <a:lstStyle/>
                    <a:p>
                      <a:r>
                        <a:rPr sz="1725" b="0">
                          <a:solidFill>
                            <a:srgbClr val="102F40"/>
                          </a:solidFill>
                          <a:latin typeface="Arial"/>
                          <a:ea typeface="Arial"/>
                          <a:cs typeface="Arial"/>
                        </a:rPr>
                        <a:t>Qualitative</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Defined descriptive categories</a:t>
                      </a:r>
                    </a:p>
                  </a:txBody>
                  <a:tcPr marL="91440" marR="91440" marT="45720" marB="45720">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Judgments require evidence</a:t>
                      </a:r>
                    </a:p>
                  </a:txBody>
                  <a:tcPr marL="91440" marR="91440" marT="45720" marB="45720">
                    <a:lnR w="9525">
                      <a:solidFill>
                        <a:srgbClr val="CBD5DA"/>
                      </a:solidFill>
                      <a:prstDash val="solid"/>
                    </a:lnR>
                    <a:lnB w="9525">
                      <a:solidFill>
                        <a:srgbClr val="CBD5DA"/>
                      </a:solidFill>
                      <a:prstDash val="solid"/>
                    </a:lnB>
                    <a:solidFill>
                      <a:srgbClr val="FFFFFF"/>
                    </a:solidFill>
                  </a:tcPr>
                </a:tc>
              </a:tr>
              <a:tr h="869156">
                <a:tc>
                  <a:txBody>
                    <a:bodyPr/>
                    <a:lstStyle/>
                    <a:p>
                      <a:r>
                        <a:rPr sz="1725" b="0">
                          <a:solidFill>
                            <a:srgbClr val="102F40"/>
                          </a:solidFill>
                          <a:latin typeface="Arial"/>
                          <a:ea typeface="Arial"/>
                          <a:cs typeface="Arial"/>
                        </a:rPr>
                        <a:t>Semi-quantitative</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Defined numerical index</a:t>
                      </a:r>
                    </a:p>
                  </a:txBody>
                  <a:tcPr marL="91440" marR="91440" marT="45720" marB="45720">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Index is not a probability</a:t>
                      </a:r>
                    </a:p>
                  </a:txBody>
                  <a:tcPr marL="91440" marR="91440" marT="45720" marB="45720">
                    <a:lnR w="9525">
                      <a:solidFill>
                        <a:srgbClr val="CBD5DA"/>
                      </a:solidFill>
                      <a:prstDash val="solid"/>
                    </a:lnR>
                    <a:lnB w="9525">
                      <a:solidFill>
                        <a:srgbClr val="CBD5DA"/>
                      </a:solidFill>
                      <a:prstDash val="solid"/>
                    </a:lnB>
                    <a:solidFill>
                      <a:srgbClr val="EBF0F2"/>
                    </a:solidFill>
                  </a:tcPr>
                </a:tc>
              </a:tr>
              <a:tr h="869156">
                <a:tc>
                  <a:txBody>
                    <a:bodyPr/>
                    <a:lstStyle/>
                    <a:p>
                      <a:r>
                        <a:rPr sz="1725" b="0">
                          <a:solidFill>
                            <a:srgbClr val="102F40"/>
                          </a:solidFill>
                          <a:latin typeface="Arial"/>
                          <a:ea typeface="Arial"/>
                          <a:cs typeface="Arial"/>
                        </a:rPr>
                        <a:t>Quantitative</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Numerical loss or frequency estimate</a:t>
                      </a:r>
                    </a:p>
                  </a:txBody>
                  <a:tcPr marL="91440" marR="91440" marT="45720" marB="45720">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Input uncertainty drives the result</a:t>
                      </a:r>
                    </a:p>
                  </a:txBody>
                  <a:tcPr marL="91440" marR="91440" marT="45720" marB="45720">
                    <a:lnR w="9525">
                      <a:solidFill>
                        <a:srgbClr val="CBD5DA"/>
                      </a:solidFill>
                      <a:prstDash val="solid"/>
                    </a:lnR>
                    <a:lnB w="9525">
                      <a:solidFill>
                        <a:srgbClr val="CBD5DA"/>
                      </a:solidFill>
                      <a:prstDash val="solid"/>
                    </a:lnB>
                    <a:solidFill>
                      <a:srgbClr val="FFFFFF"/>
                    </a:solidFill>
                  </a:tcPr>
                </a:tc>
              </a:tr>
            </a:tbl>
          </a:graphicData>
        </a:graphic>
      </p:graphicFrame>
      <p:sp>
        <p:nvSpPr>
          <p:cNvPr id="4" name="footer">
            <a:extLst xmlns:a="http://schemas.openxmlformats.org/drawingml/2006/main">
              <a:ext uri="{FF2B5EF4-FFF2-40B4-BE49-F238E27FC236}">
                <a16:creationId xmlns:a16="http://schemas.microsoft.com/office/drawing/2014/main" id="{12EA0269-A080-4982-B539-E06F8889354B}"/>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2</a:t>
            </a:r>
          </a:p>
        </p:txBody>
      </p:sp>
      <p:sp>
        <p:nvSpPr>
          <p:cNvPr id="5" name="page">
            <a:extLst xmlns:a="http://schemas.openxmlformats.org/drawingml/2006/main">
              <a:ext uri="{FF2B5EF4-FFF2-40B4-BE49-F238E27FC236}">
                <a16:creationId xmlns:a16="http://schemas.microsoft.com/office/drawing/2014/main" id="{C1BC27EF-CED5-4391-BDA8-E4F9516A3768}"/>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06</a:t>
            </a:r>
          </a:p>
        </p:txBody>
      </p:sp>
    </p:spTree>
    <p:extLst>
      <p:ext uri="{BB962C8B-B14F-4D97-AF65-F5344CB8AC3E}">
        <p14:creationId xmlns:p14="http://schemas.microsoft.com/office/powerpoint/2010/main" val="391773026"/>
      </p:ext>
    </p:extLst>
  </p:cSld>
</p:sld>
</file>

<file path=ppt/slides/slide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5D4FA085-EEB5-464A-9DE3-D0CC2AC2FB21}"/>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MONDAY 26 OCT</a:t>
            </a:r>
          </a:p>
        </p:txBody>
      </p:sp>
      <p:sp>
        <p:nvSpPr>
          <p:cNvPr id="2" name="heading">
            <a:extLst xmlns:a="http://schemas.openxmlformats.org/drawingml/2006/main">
              <a:ext uri="{FF2B5EF4-FFF2-40B4-BE49-F238E27FC236}">
                <a16:creationId xmlns:a16="http://schemas.microsoft.com/office/drawing/2014/main" id="{A0515346-FA6D-4211-8632-689BEA29EA05}"/>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B1 approach selection clinic</a:t>
            </a:r>
          </a:p>
        </p:txBody>
      </p:sp>
      <p:sp>
        <p:nvSpPr>
          <p:cNvPr id="3" name="index-0">
            <a:extLst xmlns:a="http://schemas.openxmlformats.org/drawingml/2006/main">
              <a:ext uri="{FF2B5EF4-FFF2-40B4-BE49-F238E27FC236}">
                <a16:creationId xmlns:a16="http://schemas.microsoft.com/office/drawing/2014/main" id="{38B7503A-3F77-4F49-8FAE-DBCB2636B059}"/>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83136FFA-BB00-4971-AA91-9FE07863D783}"/>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Decision first then approach</a:t>
            </a:r>
          </a:p>
        </p:txBody>
      </p:sp>
      <p:sp>
        <p:nvSpPr>
          <p:cNvPr id="5" name="index-1">
            <a:extLst xmlns:a="http://schemas.openxmlformats.org/drawingml/2006/main">
              <a:ext uri="{FF2B5EF4-FFF2-40B4-BE49-F238E27FC236}">
                <a16:creationId xmlns:a16="http://schemas.microsoft.com/office/drawing/2014/main" id="{90E67D02-6330-4F19-AE84-F7D6FADCA052}"/>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41253B75-75FE-4F66-A11A-52E4007D82CA}"/>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Compare available evidence and resources</a:t>
            </a:r>
          </a:p>
        </p:txBody>
      </p:sp>
      <p:sp>
        <p:nvSpPr>
          <p:cNvPr id="7" name="index-2">
            <a:extLst xmlns:a="http://schemas.openxmlformats.org/drawingml/2006/main">
              <a:ext uri="{FF2B5EF4-FFF2-40B4-BE49-F238E27FC236}">
                <a16:creationId xmlns:a16="http://schemas.microsoft.com/office/drawing/2014/main" id="{16CDC793-A553-4A5B-B15A-247479CE6ABD}"/>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E3F8990C-B804-4D42-9E1A-E9544AF4558E}"/>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Identify two missing inputs</a:t>
            </a:r>
          </a:p>
        </p:txBody>
      </p:sp>
      <p:sp>
        <p:nvSpPr>
          <p:cNvPr id="9" name="index-3">
            <a:extLst xmlns:a="http://schemas.openxmlformats.org/drawingml/2006/main">
              <a:ext uri="{FF2B5EF4-FFF2-40B4-BE49-F238E27FC236}">
                <a16:creationId xmlns:a16="http://schemas.microsoft.com/office/drawing/2014/main" id="{3EE89791-E040-4894-B9C1-8C97230408F7}"/>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56A0B30D-A2BB-45BA-A153-574C819EC15B}"/>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20 minutes with a partner</a:t>
            </a:r>
          </a:p>
        </p:txBody>
      </p:sp>
      <p:sp>
        <p:nvSpPr>
          <p:cNvPr id="11" name="footer">
            <a:extLst xmlns:a="http://schemas.openxmlformats.org/drawingml/2006/main">
              <a:ext uri="{FF2B5EF4-FFF2-40B4-BE49-F238E27FC236}">
                <a16:creationId xmlns:a16="http://schemas.microsoft.com/office/drawing/2014/main" id="{77F09F9A-A6CF-4127-8360-95B02D149DD8}"/>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2</a:t>
            </a:r>
          </a:p>
        </p:txBody>
      </p:sp>
      <p:sp>
        <p:nvSpPr>
          <p:cNvPr id="12" name="page">
            <a:extLst xmlns:a="http://schemas.openxmlformats.org/drawingml/2006/main">
              <a:ext uri="{FF2B5EF4-FFF2-40B4-BE49-F238E27FC236}">
                <a16:creationId xmlns:a16="http://schemas.microsoft.com/office/drawing/2014/main" id="{9E132DA9-BE67-4C24-9874-BB205301FBE8}"/>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07</a:t>
            </a:r>
          </a:p>
        </p:txBody>
      </p:sp>
    </p:spTree>
    <p:extLst>
      <p:ext uri="{BB962C8B-B14F-4D97-AF65-F5344CB8AC3E}">
        <p14:creationId xmlns:p14="http://schemas.microsoft.com/office/powerpoint/2010/main" val="1962190430"/>
      </p:ext>
    </p:extLst>
  </p:cSld>
</p:sld>
</file>

<file path=ppt/slides/slide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A00CFE36-D985-4D4F-8B09-3874881E9506}"/>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MONDAY 26 OCT</a:t>
            </a:r>
          </a:p>
        </p:txBody>
      </p:sp>
      <p:sp>
        <p:nvSpPr>
          <p:cNvPr id="2" name="heading">
            <a:extLst xmlns:a="http://schemas.openxmlformats.org/drawingml/2006/main">
              <a:ext uri="{FF2B5EF4-FFF2-40B4-BE49-F238E27FC236}">
                <a16:creationId xmlns:a16="http://schemas.microsoft.com/office/drawing/2014/main" id="{4C988043-02D0-4126-8E33-1B480336AD2A}"/>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Assessment approaches and source scope</a:t>
            </a:r>
          </a:p>
        </p:txBody>
      </p:sp>
      <p:sp>
        <p:nvSpPr>
          <p:cNvPr id="3" name="index-0">
            <a:extLst xmlns:a="http://schemas.openxmlformats.org/drawingml/2006/main">
              <a:ext uri="{FF2B5EF4-FFF2-40B4-BE49-F238E27FC236}">
                <a16:creationId xmlns:a16="http://schemas.microsoft.com/office/drawing/2014/main" id="{EA8A12ED-1B3C-4FAE-BE75-C274254B7D82}"/>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7F55C70F-F209-441D-8AD1-A734C2062F34}"/>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NIST SP 800-30 offers assessment guidance</a:t>
            </a:r>
          </a:p>
        </p:txBody>
      </p:sp>
      <p:sp>
        <p:nvSpPr>
          <p:cNvPr id="5" name="index-1">
            <a:extLst xmlns:a="http://schemas.openxmlformats.org/drawingml/2006/main">
              <a:ext uri="{FF2B5EF4-FFF2-40B4-BE49-F238E27FC236}">
                <a16:creationId xmlns:a16="http://schemas.microsoft.com/office/drawing/2014/main" id="{300CED40-98F7-4965-84B7-0E697DC341BF}"/>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ECC97432-BD6D-4A1D-A1B4-F0298ABEEC34}"/>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Other approaches serve different decision needs</a:t>
            </a:r>
          </a:p>
        </p:txBody>
      </p:sp>
      <p:sp>
        <p:nvSpPr>
          <p:cNvPr id="7" name="index-2">
            <a:extLst xmlns:a="http://schemas.openxmlformats.org/drawingml/2006/main">
              <a:ext uri="{FF2B5EF4-FFF2-40B4-BE49-F238E27FC236}">
                <a16:creationId xmlns:a16="http://schemas.microsoft.com/office/drawing/2014/main" id="{D24A9A0F-20E3-4326-ADE6-EECBE8B36257}"/>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FD3BDE3C-D0B7-4CE7-AAC7-71ECD4105C58}"/>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Read the method and identify its edition</a:t>
            </a:r>
          </a:p>
        </p:txBody>
      </p:sp>
      <p:sp>
        <p:nvSpPr>
          <p:cNvPr id="9" name="index-3">
            <a:extLst xmlns:a="http://schemas.openxmlformats.org/drawingml/2006/main">
              <a:ext uri="{FF2B5EF4-FFF2-40B4-BE49-F238E27FC236}">
                <a16:creationId xmlns:a16="http://schemas.microsoft.com/office/drawing/2014/main" id="{F6D9EC1D-F23B-4CA3-A5C2-89BCEECBDCFE}"/>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BDDCF3C5-EB6E-441E-BC25-9A2AA0F79D04}"/>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A list of names does not justify selection</a:t>
            </a:r>
          </a:p>
        </p:txBody>
      </p:sp>
      <p:sp>
        <p:nvSpPr>
          <p:cNvPr id="11" name="footer">
            <a:extLst xmlns:a="http://schemas.openxmlformats.org/drawingml/2006/main">
              <a:ext uri="{FF2B5EF4-FFF2-40B4-BE49-F238E27FC236}">
                <a16:creationId xmlns:a16="http://schemas.microsoft.com/office/drawing/2014/main" id="{A083B652-5D22-4582-8BF5-9C8DB61E92F9}"/>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2</a:t>
            </a:r>
          </a:p>
        </p:txBody>
      </p:sp>
      <p:sp>
        <p:nvSpPr>
          <p:cNvPr id="12" name="page">
            <a:extLst xmlns:a="http://schemas.openxmlformats.org/drawingml/2006/main">
              <a:ext uri="{FF2B5EF4-FFF2-40B4-BE49-F238E27FC236}">
                <a16:creationId xmlns:a16="http://schemas.microsoft.com/office/drawing/2014/main" id="{9E9047A7-AD15-4624-BBAC-679E1C520A3A}"/>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08</a:t>
            </a:r>
          </a:p>
        </p:txBody>
      </p:sp>
    </p:spTree>
    <p:extLst>
      <p:ext uri="{BB962C8B-B14F-4D97-AF65-F5344CB8AC3E}">
        <p14:creationId xmlns:p14="http://schemas.microsoft.com/office/powerpoint/2010/main" val="1718020618"/>
      </p:ext>
    </p:extLst>
  </p:cSld>
</p:sld>
</file>

<file path=ppt/slides/slide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6" name="section">
            <a:extLst xmlns:a="http://schemas.openxmlformats.org/drawingml/2006/main">
              <a:ext uri="{FF2B5EF4-FFF2-40B4-BE49-F238E27FC236}">
                <a16:creationId xmlns:a16="http://schemas.microsoft.com/office/drawing/2014/main" id="{75D5B4A3-410D-43EE-A6CA-E41B1C8BDD8D}"/>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MONDAY 26 OCT</a:t>
            </a:r>
          </a:p>
        </p:txBody>
      </p:sp>
      <p:sp>
        <p:nvSpPr>
          <p:cNvPr id="2" name="heading">
            <a:extLst xmlns:a="http://schemas.openxmlformats.org/drawingml/2006/main">
              <a:ext uri="{FF2B5EF4-FFF2-40B4-BE49-F238E27FC236}">
                <a16:creationId xmlns:a16="http://schemas.microsoft.com/office/drawing/2014/main" id="{0EE028D6-E1CE-4F66-9178-530356569AC0}"/>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Illustrative loss estimate</a:t>
            </a:r>
          </a:p>
        </p:txBody>
      </p:sp>
      <p:graphicFrame>
        <p:nvGraphicFramePr>
          <p:cNvPr id="3" name="">
            <a:extLst xmlns:a="http://schemas.openxmlformats.org/drawingml/2006/main">
              <a:ext uri="{FF2B5EF4-FFF2-40B4-BE49-F238E27FC236}">
                <a16:creationId xmlns:a16="http://schemas.microsoft.com/office/drawing/2014/main" id="{A97662C9-7D4E-4480-8CC4-B7F39D27066F}"/>
              </a:ext>
            </a:extLst>
          </p:cNvPr>
          <p:cNvGraphicFramePr/>
          <p:nvPr/>
        </p:nvGraphicFramePr>
        <p:xfrm>
          <a:off xmlns:a="http://schemas.openxmlformats.org/drawingml/2006/main" x="609600" y="2114550"/>
          <a:ext xmlns:a="http://schemas.openxmlformats.org/drawingml/2006/main" cx="10972800" cy="3476625"/>
        </p:xfrm>
        <a:graphic xmlns:a="http://schemas.openxmlformats.org/drawingml/2006/main">
          <a:graphicData uri="http://schemas.openxmlformats.org/drawingml/2006/table">
            <a:tbl>
              <a:tblPr/>
              <a:tblGrid>
                <a:gridCol w="2333625"/>
                <a:gridCol w="4000500"/>
                <a:gridCol w="4638675"/>
              </a:tblGrid>
              <a:tr h="695325">
                <a:tc>
                  <a:txBody>
                    <a:bodyPr/>
                    <a:lstStyle/>
                    <a:p>
                      <a:r>
                        <a:rPr sz="1725" b="1">
                          <a:solidFill>
                            <a:srgbClr val="FFFFFF"/>
                          </a:solidFill>
                          <a:latin typeface="Arial"/>
                          <a:ea typeface="Arial"/>
                          <a:cs typeface="Arial"/>
                        </a:rPr>
                        <a:t>Input</a:t>
                      </a:r>
                    </a:p>
                  </a:txBody>
                  <a:tcPr marL="91440" marR="91440" marT="45720" marB="45720">
                    <a:lnL w="9525">
                      <a:solidFill>
                        <a:srgbClr val="CBD5DA"/>
                      </a:solidFill>
                      <a:prstDash val="solid"/>
                    </a:lnL>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c>
                  <a:txBody>
                    <a:bodyPr/>
                    <a:lstStyle/>
                    <a:p>
                      <a:r>
                        <a:rPr sz="1725" b="1">
                          <a:solidFill>
                            <a:srgbClr val="FFFFFF"/>
                          </a:solidFill>
                          <a:latin typeface="Arial"/>
                          <a:ea typeface="Arial"/>
                          <a:cs typeface="Arial"/>
                        </a:rPr>
                        <a:t>Supplied assumption</a:t>
                      </a:r>
                    </a:p>
                  </a:txBody>
                  <a:tcPr marL="91440" marR="91440" marT="45720" marB="45720">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c>
                  <a:txBody>
                    <a:bodyPr/>
                    <a:lstStyle/>
                    <a:p>
                      <a:r>
                        <a:rPr sz="1725" b="1">
                          <a:solidFill>
                            <a:srgbClr val="FFFFFF"/>
                          </a:solidFill>
                          <a:latin typeface="Arial"/>
                          <a:ea typeface="Arial"/>
                          <a:cs typeface="Arial"/>
                        </a:rPr>
                        <a:t>Unit or meaning</a:t>
                      </a:r>
                    </a:p>
                  </a:txBody>
                  <a:tcPr marL="91440" marR="91440" marT="45720" marB="45720">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r>
              <a:tr h="695325">
                <a:tc>
                  <a:txBody>
                    <a:bodyPr/>
                    <a:lstStyle/>
                    <a:p>
                      <a:r>
                        <a:rPr sz="1725" b="0">
                          <a:solidFill>
                            <a:srgbClr val="102F40"/>
                          </a:solidFill>
                          <a:latin typeface="Arial"/>
                          <a:ea typeface="Arial"/>
                          <a:cs typeface="Arial"/>
                        </a:rPr>
                        <a:t>Asset value</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40,000</a:t>
                      </a:r>
                    </a:p>
                  </a:txBody>
                  <a:tcPr marL="91440" marR="91440" marT="45720" marB="45720">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Dollars for this exercise</a:t>
                      </a:r>
                    </a:p>
                  </a:txBody>
                  <a:tcPr marL="91440" marR="91440" marT="45720" marB="45720">
                    <a:lnR w="9525">
                      <a:solidFill>
                        <a:srgbClr val="CBD5DA"/>
                      </a:solidFill>
                      <a:prstDash val="solid"/>
                    </a:lnR>
                    <a:lnB w="9525">
                      <a:solidFill>
                        <a:srgbClr val="CBD5DA"/>
                      </a:solidFill>
                      <a:prstDash val="solid"/>
                    </a:lnB>
                    <a:solidFill>
                      <a:srgbClr val="FFFFFF"/>
                    </a:solidFill>
                  </a:tcPr>
                </a:tc>
              </a:tr>
              <a:tr h="695325">
                <a:tc>
                  <a:txBody>
                    <a:bodyPr/>
                    <a:lstStyle/>
                    <a:p>
                      <a:r>
                        <a:rPr sz="1725" b="0">
                          <a:solidFill>
                            <a:srgbClr val="102F40"/>
                          </a:solidFill>
                          <a:latin typeface="Arial"/>
                          <a:ea typeface="Arial"/>
                          <a:cs typeface="Arial"/>
                        </a:rPr>
                        <a:t>Exposure factor</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0.25</a:t>
                      </a:r>
                    </a:p>
                  </a:txBody>
                  <a:tcPr marL="91440" marR="91440" marT="45720" marB="45720">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Assumed fraction lost per event</a:t>
                      </a:r>
                    </a:p>
                  </a:txBody>
                  <a:tcPr marL="91440" marR="91440" marT="45720" marB="45720">
                    <a:lnR w="9525">
                      <a:solidFill>
                        <a:srgbClr val="CBD5DA"/>
                      </a:solidFill>
                      <a:prstDash val="solid"/>
                    </a:lnR>
                    <a:lnB w="9525">
                      <a:solidFill>
                        <a:srgbClr val="CBD5DA"/>
                      </a:solidFill>
                      <a:prstDash val="solid"/>
                    </a:lnB>
                    <a:solidFill>
                      <a:srgbClr val="EBF0F2"/>
                    </a:solidFill>
                  </a:tcPr>
                </a:tc>
              </a:tr>
              <a:tr h="695325">
                <a:tc>
                  <a:txBody>
                    <a:bodyPr/>
                    <a:lstStyle/>
                    <a:p>
                      <a:r>
                        <a:rPr sz="1725" b="0">
                          <a:solidFill>
                            <a:srgbClr val="102F40"/>
                          </a:solidFill>
                          <a:latin typeface="Arial"/>
                          <a:ea typeface="Arial"/>
                          <a:cs typeface="Arial"/>
                        </a:rPr>
                        <a:t>Occurrence rate</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0.2</a:t>
                      </a:r>
                    </a:p>
                  </a:txBody>
                  <a:tcPr marL="91440" marR="91440" marT="45720" marB="45720">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Assumed events per year</a:t>
                      </a:r>
                    </a:p>
                  </a:txBody>
                  <a:tcPr marL="91440" marR="91440" marT="45720" marB="45720">
                    <a:lnR w="9525">
                      <a:solidFill>
                        <a:srgbClr val="CBD5DA"/>
                      </a:solidFill>
                      <a:prstDash val="solid"/>
                    </a:lnR>
                    <a:lnB w="9525">
                      <a:solidFill>
                        <a:srgbClr val="CBD5DA"/>
                      </a:solidFill>
                      <a:prstDash val="solid"/>
                    </a:lnB>
                    <a:solidFill>
                      <a:srgbClr val="FFFFFF"/>
                    </a:solidFill>
                  </a:tcPr>
                </a:tc>
              </a:tr>
              <a:tr h="695325">
                <a:tc>
                  <a:txBody>
                    <a:bodyPr/>
                    <a:lstStyle/>
                    <a:p>
                      <a:r>
                        <a:rPr sz="1725" b="0">
                          <a:solidFill>
                            <a:srgbClr val="102F40"/>
                          </a:solidFill>
                          <a:latin typeface="Arial"/>
                          <a:ea typeface="Arial"/>
                          <a:cs typeface="Arial"/>
                        </a:rPr>
                        <a:t>Single loss</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Value × exposure factor</a:t>
                      </a:r>
                    </a:p>
                  </a:txBody>
                  <a:tcPr marL="91440" marR="91440" marT="45720" marB="45720">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Dollars per event</a:t>
                      </a:r>
                    </a:p>
                  </a:txBody>
                  <a:tcPr marL="91440" marR="91440" marT="45720" marB="45720">
                    <a:lnR w="9525">
                      <a:solidFill>
                        <a:srgbClr val="CBD5DA"/>
                      </a:solidFill>
                      <a:prstDash val="solid"/>
                    </a:lnR>
                    <a:lnB w="9525">
                      <a:solidFill>
                        <a:srgbClr val="CBD5DA"/>
                      </a:solidFill>
                      <a:prstDash val="solid"/>
                    </a:lnB>
                    <a:solidFill>
                      <a:srgbClr val="EBF0F2"/>
                    </a:solidFill>
                  </a:tcPr>
                </a:tc>
              </a:tr>
            </a:tbl>
          </a:graphicData>
        </a:graphic>
      </p:graphicFrame>
      <p:sp>
        <p:nvSpPr>
          <p:cNvPr id="4" name="footer">
            <a:extLst xmlns:a="http://schemas.openxmlformats.org/drawingml/2006/main">
              <a:ext uri="{FF2B5EF4-FFF2-40B4-BE49-F238E27FC236}">
                <a16:creationId xmlns:a16="http://schemas.microsoft.com/office/drawing/2014/main" id="{1C4FBF72-0183-46BC-9B9F-D95C4D106E27}"/>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2</a:t>
            </a:r>
          </a:p>
        </p:txBody>
      </p:sp>
      <p:sp>
        <p:nvSpPr>
          <p:cNvPr id="5" name="page">
            <a:extLst xmlns:a="http://schemas.openxmlformats.org/drawingml/2006/main">
              <a:ext uri="{FF2B5EF4-FFF2-40B4-BE49-F238E27FC236}">
                <a16:creationId xmlns:a16="http://schemas.microsoft.com/office/drawing/2014/main" id="{147C7F3B-5E8A-47DA-A78D-1EE4881C9CFD}"/>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09</a:t>
            </a:r>
          </a:p>
        </p:txBody>
      </p:sp>
    </p:spTree>
    <p:extLst>
      <p:ext uri="{BB962C8B-B14F-4D97-AF65-F5344CB8AC3E}">
        <p14:creationId xmlns:p14="http://schemas.microsoft.com/office/powerpoint/2010/main" val="374351369"/>
      </p:ext>
    </p:extLst>
  </p:cSld>
</p:sld>
</file>

<file path=ppt/slides/slide1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59DDC2A5-EC24-4D2D-BC56-375ACF34E5F2}"/>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MONDAY 26 OCT</a:t>
            </a:r>
          </a:p>
        </p:txBody>
      </p:sp>
      <p:sp>
        <p:nvSpPr>
          <p:cNvPr id="2" name="heading">
            <a:extLst xmlns:a="http://schemas.openxmlformats.org/drawingml/2006/main">
              <a:ext uri="{FF2B5EF4-FFF2-40B4-BE49-F238E27FC236}">
                <a16:creationId xmlns:a16="http://schemas.microsoft.com/office/drawing/2014/main" id="{B81B9D37-198C-477E-B869-764292E17011}"/>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B2 estimates and uncertainty</a:t>
            </a:r>
          </a:p>
        </p:txBody>
      </p:sp>
      <p:sp>
        <p:nvSpPr>
          <p:cNvPr id="3" name="index-0">
            <a:extLst xmlns:a="http://schemas.openxmlformats.org/drawingml/2006/main">
              <a:ext uri="{FF2B5EF4-FFF2-40B4-BE49-F238E27FC236}">
                <a16:creationId xmlns:a16="http://schemas.microsoft.com/office/drawing/2014/main" id="{379161F4-005E-4A7D-A2ED-AF64582862EC}"/>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0445E3CF-74A3-4F05-8E96-857BCD8A6037}"/>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Calculate SLE and ALE from supplied inputs</a:t>
            </a:r>
          </a:p>
        </p:txBody>
      </p:sp>
      <p:sp>
        <p:nvSpPr>
          <p:cNvPr id="5" name="index-1">
            <a:extLst xmlns:a="http://schemas.openxmlformats.org/drawingml/2006/main">
              <a:ext uri="{FF2B5EF4-FFF2-40B4-BE49-F238E27FC236}">
                <a16:creationId xmlns:a16="http://schemas.microsoft.com/office/drawing/2014/main" id="{C00A70AB-141D-4687-8E6D-FDE65A367623}"/>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627E9A1F-E18F-4CB7-AF58-8E559D48214A}"/>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Repeat with an occurrence rate of 0.4 per year</a:t>
            </a:r>
          </a:p>
        </p:txBody>
      </p:sp>
      <p:sp>
        <p:nvSpPr>
          <p:cNvPr id="7" name="index-2">
            <a:extLst xmlns:a="http://schemas.openxmlformats.org/drawingml/2006/main">
              <a:ext uri="{FF2B5EF4-FFF2-40B4-BE49-F238E27FC236}">
                <a16:creationId xmlns:a16="http://schemas.microsoft.com/office/drawing/2014/main" id="{BCBF3921-9AAF-482F-B4DD-0DF70C301110}"/>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923ECBA7-C1DD-4E9B-B636-34DB95082699}"/>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Explain what changed and what stayed assumed</a:t>
            </a:r>
          </a:p>
        </p:txBody>
      </p:sp>
      <p:sp>
        <p:nvSpPr>
          <p:cNvPr id="9" name="index-3">
            <a:extLst xmlns:a="http://schemas.openxmlformats.org/drawingml/2006/main">
              <a:ext uri="{FF2B5EF4-FFF2-40B4-BE49-F238E27FC236}">
                <a16:creationId xmlns:a16="http://schemas.microsoft.com/office/drawing/2014/main" id="{C2F732D6-39E4-46A2-8D77-4B84CFAE0636}"/>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31A25BEA-CE41-43F9-B829-9968A9C4B5A3}"/>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25 minutes including a limitations discussion</a:t>
            </a:r>
          </a:p>
        </p:txBody>
      </p:sp>
      <p:sp>
        <p:nvSpPr>
          <p:cNvPr id="11" name="footer">
            <a:extLst xmlns:a="http://schemas.openxmlformats.org/drawingml/2006/main">
              <a:ext uri="{FF2B5EF4-FFF2-40B4-BE49-F238E27FC236}">
                <a16:creationId xmlns:a16="http://schemas.microsoft.com/office/drawing/2014/main" id="{71C21CBD-E423-4C05-8694-AD4222776722}"/>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2</a:t>
            </a:r>
          </a:p>
        </p:txBody>
      </p:sp>
      <p:sp>
        <p:nvSpPr>
          <p:cNvPr id="12" name="page">
            <a:extLst xmlns:a="http://schemas.openxmlformats.org/drawingml/2006/main">
              <a:ext uri="{FF2B5EF4-FFF2-40B4-BE49-F238E27FC236}">
                <a16:creationId xmlns:a16="http://schemas.microsoft.com/office/drawing/2014/main" id="{03CB934F-925C-439C-A65C-834F4B0BC5DD}"/>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10</a:t>
            </a:r>
          </a:p>
        </p:txBody>
      </p:sp>
    </p:spTree>
    <p:extLst>
      <p:ext uri="{BB962C8B-B14F-4D97-AF65-F5344CB8AC3E}">
        <p14:creationId xmlns:p14="http://schemas.microsoft.com/office/powerpoint/2010/main" val="2036158993"/>
      </p:ext>
    </p:extLst>
  </p:cSld>
</p:sld>
</file>

<file path=ppt/slides/slide1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D1714F4A-7E7E-4BD4-8CF5-5CFE22963837}"/>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MONDAY 26 OCT</a:t>
            </a:r>
          </a:p>
        </p:txBody>
      </p:sp>
      <p:sp>
        <p:nvSpPr>
          <p:cNvPr id="2" name="heading">
            <a:extLst xmlns:a="http://schemas.openxmlformats.org/drawingml/2006/main">
              <a:ext uri="{FF2B5EF4-FFF2-40B4-BE49-F238E27FC236}">
                <a16:creationId xmlns:a16="http://schemas.microsoft.com/office/drawing/2014/main" id="{F1D5CA9E-B0FE-4952-A7D2-CF96F4DAF034}"/>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Assessment timing and maintenance</a:t>
            </a:r>
          </a:p>
        </p:txBody>
      </p:sp>
      <p:sp>
        <p:nvSpPr>
          <p:cNvPr id="3" name="index-0">
            <a:extLst xmlns:a="http://schemas.openxmlformats.org/drawingml/2006/main">
              <a:ext uri="{FF2B5EF4-FFF2-40B4-BE49-F238E27FC236}">
                <a16:creationId xmlns:a16="http://schemas.microsoft.com/office/drawing/2014/main" id="{E7C46D84-D6C1-424C-8FD3-14A1DF2ED526}"/>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6AD1C92D-CFDE-4105-BE89-574F9CEDF18C}"/>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Begin before a consequential decision</a:t>
            </a:r>
          </a:p>
        </p:txBody>
      </p:sp>
      <p:sp>
        <p:nvSpPr>
          <p:cNvPr id="5" name="index-1">
            <a:extLst xmlns:a="http://schemas.openxmlformats.org/drawingml/2006/main">
              <a:ext uri="{FF2B5EF4-FFF2-40B4-BE49-F238E27FC236}">
                <a16:creationId xmlns:a16="http://schemas.microsoft.com/office/drawing/2014/main" id="{ED161271-5248-435E-B109-AE54C373E341}"/>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73C7B1B1-170B-4F10-81E7-E8B4D79903AB}"/>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Revisit after material business or system changes</a:t>
            </a:r>
          </a:p>
        </p:txBody>
      </p:sp>
      <p:sp>
        <p:nvSpPr>
          <p:cNvPr id="7" name="index-2">
            <a:extLst xmlns:a="http://schemas.openxmlformats.org/drawingml/2006/main">
              <a:ext uri="{FF2B5EF4-FFF2-40B4-BE49-F238E27FC236}">
                <a16:creationId xmlns:a16="http://schemas.microsoft.com/office/drawing/2014/main" id="{ECFF56BA-32EA-4797-B5B6-6918E1C3B052}"/>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B9BE1D41-DD3E-4D87-85DD-F88869124200}"/>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Use incident and control evidence to update reasoning</a:t>
            </a:r>
          </a:p>
        </p:txBody>
      </p:sp>
      <p:sp>
        <p:nvSpPr>
          <p:cNvPr id="9" name="index-3">
            <a:extLst xmlns:a="http://schemas.openxmlformats.org/drawingml/2006/main">
              <a:ext uri="{FF2B5EF4-FFF2-40B4-BE49-F238E27FC236}">
                <a16:creationId xmlns:a16="http://schemas.microsoft.com/office/drawing/2014/main" id="{EECD2D2C-0F44-4A51-A826-4F8C0FE36EEC}"/>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A54D462C-0DE9-4D45-85F0-C3DB4AFB76E7}"/>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Communicate changes to accountable decision makers</a:t>
            </a:r>
          </a:p>
        </p:txBody>
      </p:sp>
      <p:sp>
        <p:nvSpPr>
          <p:cNvPr id="11" name="footer">
            <a:extLst xmlns:a="http://schemas.openxmlformats.org/drawingml/2006/main">
              <a:ext uri="{FF2B5EF4-FFF2-40B4-BE49-F238E27FC236}">
                <a16:creationId xmlns:a16="http://schemas.microsoft.com/office/drawing/2014/main" id="{780D99F0-2DC4-4732-9078-56BD3C7DAB84}"/>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2</a:t>
            </a:r>
          </a:p>
        </p:txBody>
      </p:sp>
      <p:sp>
        <p:nvSpPr>
          <p:cNvPr id="12" name="page">
            <a:extLst xmlns:a="http://schemas.openxmlformats.org/drawingml/2006/main">
              <a:ext uri="{FF2B5EF4-FFF2-40B4-BE49-F238E27FC236}">
                <a16:creationId xmlns:a16="http://schemas.microsoft.com/office/drawing/2014/main" id="{0C65FAD5-0008-466A-A0DA-12E5A1B5F271}"/>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11</a:t>
            </a:r>
          </a:p>
        </p:txBody>
      </p:sp>
    </p:spTree>
    <p:extLst>
      <p:ext uri="{BB962C8B-B14F-4D97-AF65-F5344CB8AC3E}">
        <p14:creationId xmlns:p14="http://schemas.microsoft.com/office/powerpoint/2010/main" val="2060700714"/>
      </p:ext>
    </p:extLst>
  </p:cSld>
</p:sld>
</file>

<file path=ppt/slides/slide1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AAD70A18-A3DF-421B-B3D3-50224D355DA6}"/>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MONDAY 26 OCT</a:t>
            </a:r>
          </a:p>
        </p:txBody>
      </p:sp>
      <p:sp>
        <p:nvSpPr>
          <p:cNvPr id="2" name="heading">
            <a:extLst xmlns:a="http://schemas.openxmlformats.org/drawingml/2006/main">
              <a:ext uri="{FF2B5EF4-FFF2-40B4-BE49-F238E27FC236}">
                <a16:creationId xmlns:a16="http://schemas.microsoft.com/office/drawing/2014/main" id="{6AAB0C0C-1882-410B-AD35-386F47FEB77B}"/>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Monday exit and coursework bridge</a:t>
            </a:r>
          </a:p>
        </p:txBody>
      </p:sp>
      <p:sp>
        <p:nvSpPr>
          <p:cNvPr id="3" name="index-0">
            <a:extLst xmlns:a="http://schemas.openxmlformats.org/drawingml/2006/main">
              <a:ext uri="{FF2B5EF4-FFF2-40B4-BE49-F238E27FC236}">
                <a16:creationId xmlns:a16="http://schemas.microsoft.com/office/drawing/2014/main" id="{8750E017-B195-45AF-B085-C665B5A383DB}"/>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28838D07-88A4-4FC0-AD84-54C26F098D72}"/>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Index versus probability</a:t>
            </a:r>
          </a:p>
        </p:txBody>
      </p:sp>
      <p:sp>
        <p:nvSpPr>
          <p:cNvPr id="5" name="index-1">
            <a:extLst xmlns:a="http://schemas.openxmlformats.org/drawingml/2006/main">
              <a:ext uri="{FF2B5EF4-FFF2-40B4-BE49-F238E27FC236}">
                <a16:creationId xmlns:a16="http://schemas.microsoft.com/office/drawing/2014/main" id="{08AB7359-79F5-48D0-AEC1-663CE6BABA76}"/>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C471DFF6-B773-49EB-995A-E6079ACEC234}"/>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Evidence for a monetary estimate</a:t>
            </a:r>
          </a:p>
        </p:txBody>
      </p:sp>
      <p:sp>
        <p:nvSpPr>
          <p:cNvPr id="7" name="index-2">
            <a:extLst xmlns:a="http://schemas.openxmlformats.org/drawingml/2006/main">
              <a:ext uri="{FF2B5EF4-FFF2-40B4-BE49-F238E27FC236}">
                <a16:creationId xmlns:a16="http://schemas.microsoft.com/office/drawing/2014/main" id="{768E9EAF-F503-4D7C-A4C6-A4329129EC9A}"/>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DD1223B5-D1A7-48C5-B65D-E50715394791}"/>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A trigger for reassessment</a:t>
            </a:r>
          </a:p>
        </p:txBody>
      </p:sp>
      <p:sp>
        <p:nvSpPr>
          <p:cNvPr id="9" name="index-3">
            <a:extLst xmlns:a="http://schemas.openxmlformats.org/drawingml/2006/main">
              <a:ext uri="{FF2B5EF4-FFF2-40B4-BE49-F238E27FC236}">
                <a16:creationId xmlns:a16="http://schemas.microsoft.com/office/drawing/2014/main" id="{F5F3DEA5-9322-4379-862E-753D184BC87B}"/>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59A32022-05AB-427D-BC02-C189292324AB}"/>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Project 2 and research remain separate tracks</a:t>
            </a:r>
          </a:p>
        </p:txBody>
      </p:sp>
      <p:sp>
        <p:nvSpPr>
          <p:cNvPr id="11" name="footer">
            <a:extLst xmlns:a="http://schemas.openxmlformats.org/drawingml/2006/main">
              <a:ext uri="{FF2B5EF4-FFF2-40B4-BE49-F238E27FC236}">
                <a16:creationId xmlns:a16="http://schemas.microsoft.com/office/drawing/2014/main" id="{52062960-4A3B-4FCC-B5C0-1357457E6D21}"/>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2</a:t>
            </a:r>
          </a:p>
        </p:txBody>
      </p:sp>
      <p:sp>
        <p:nvSpPr>
          <p:cNvPr id="12" name="page">
            <a:extLst xmlns:a="http://schemas.openxmlformats.org/drawingml/2006/main">
              <a:ext uri="{FF2B5EF4-FFF2-40B4-BE49-F238E27FC236}">
                <a16:creationId xmlns:a16="http://schemas.microsoft.com/office/drawing/2014/main" id="{4C68A0E9-2513-4AE5-A90C-A782EE11E83F}"/>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12</a:t>
            </a:r>
          </a:p>
        </p:txBody>
      </p:sp>
    </p:spTree>
    <p:extLst>
      <p:ext uri="{BB962C8B-B14F-4D97-AF65-F5344CB8AC3E}">
        <p14:creationId xmlns:p14="http://schemas.microsoft.com/office/powerpoint/2010/main" val="1884207078"/>
      </p:ext>
    </p:extLst>
  </p:cSld>
</p:sld>
</file>

<file path=ppt/slides/slide1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E7A97B4E-0431-4263-9F86-1FB9E273793B}"/>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TUESDAY 27 OCT</a:t>
            </a:r>
          </a:p>
        </p:txBody>
      </p:sp>
      <p:sp>
        <p:nvSpPr>
          <p:cNvPr id="2" name="heading">
            <a:extLst xmlns:a="http://schemas.openxmlformats.org/drawingml/2006/main">
              <a:ext uri="{FF2B5EF4-FFF2-40B4-BE49-F238E27FC236}">
                <a16:creationId xmlns:a16="http://schemas.microsoft.com/office/drawing/2014/main" id="{6F18CFE8-73D6-4C7F-BD44-8D5B0B587B18}"/>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Tuesday learning route</a:t>
            </a:r>
          </a:p>
        </p:txBody>
      </p:sp>
      <p:sp>
        <p:nvSpPr>
          <p:cNvPr id="3" name="index-0">
            <a:extLst xmlns:a="http://schemas.openxmlformats.org/drawingml/2006/main">
              <a:ext uri="{FF2B5EF4-FFF2-40B4-BE49-F238E27FC236}">
                <a16:creationId xmlns:a16="http://schemas.microsoft.com/office/drawing/2014/main" id="{A0729E17-09F5-4D7C-8DE1-25B21D4D2174}"/>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90BB8837-7A30-4DB6-B1F3-3BBADA3A4AA6}"/>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Assessment process and decision authority</a:t>
            </a:r>
          </a:p>
        </p:txBody>
      </p:sp>
      <p:sp>
        <p:nvSpPr>
          <p:cNvPr id="5" name="index-1">
            <a:extLst xmlns:a="http://schemas.openxmlformats.org/drawingml/2006/main">
              <a:ext uri="{FF2B5EF4-FFF2-40B4-BE49-F238E27FC236}">
                <a16:creationId xmlns:a16="http://schemas.microsoft.com/office/drawing/2014/main" id="{9007CAFB-FD3E-4088-8399-E192B123CAFF}"/>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450FCCB5-7E2E-40F9-8815-9083896F238E}"/>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B3 evidence chain lab</a:t>
            </a:r>
          </a:p>
        </p:txBody>
      </p:sp>
      <p:sp>
        <p:nvSpPr>
          <p:cNvPr id="7" name="index-2">
            <a:extLst xmlns:a="http://schemas.openxmlformats.org/drawingml/2006/main">
              <a:ext uri="{FF2B5EF4-FFF2-40B4-BE49-F238E27FC236}">
                <a16:creationId xmlns:a16="http://schemas.microsoft.com/office/drawing/2014/main" id="{D688B449-D650-467F-965F-11000DA25025}"/>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DD8DE2A5-EFC5-48AF-BB2D-3D0D359F04D1}"/>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B4 plan versus supported findings</a:t>
            </a:r>
          </a:p>
        </p:txBody>
      </p:sp>
      <p:sp>
        <p:nvSpPr>
          <p:cNvPr id="9" name="index-3">
            <a:extLst xmlns:a="http://schemas.openxmlformats.org/drawingml/2006/main">
              <a:ext uri="{FF2B5EF4-FFF2-40B4-BE49-F238E27FC236}">
                <a16:creationId xmlns:a16="http://schemas.microsoft.com/office/drawing/2014/main" id="{1D67F5A6-4274-4A34-B3A2-BD5505260102}"/>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DF170727-EAAA-4983-A25B-BEA11D741624}"/>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Research source clinic and handoff</a:t>
            </a:r>
          </a:p>
        </p:txBody>
      </p:sp>
      <p:sp>
        <p:nvSpPr>
          <p:cNvPr id="11" name="footer">
            <a:extLst xmlns:a="http://schemas.openxmlformats.org/drawingml/2006/main">
              <a:ext uri="{FF2B5EF4-FFF2-40B4-BE49-F238E27FC236}">
                <a16:creationId xmlns:a16="http://schemas.microsoft.com/office/drawing/2014/main" id="{A43E4C70-CF92-424C-BE51-451A721A4E38}"/>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2</a:t>
            </a:r>
          </a:p>
        </p:txBody>
      </p:sp>
      <p:sp>
        <p:nvSpPr>
          <p:cNvPr id="12" name="page">
            <a:extLst xmlns:a="http://schemas.openxmlformats.org/drawingml/2006/main">
              <a:ext uri="{FF2B5EF4-FFF2-40B4-BE49-F238E27FC236}">
                <a16:creationId xmlns:a16="http://schemas.microsoft.com/office/drawing/2014/main" id="{CCF1ADFA-5F0F-4502-BD3B-0397A18FE1B6}"/>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13</a:t>
            </a:r>
          </a:p>
        </p:txBody>
      </p:sp>
    </p:spTree>
    <p:extLst>
      <p:ext uri="{BB962C8B-B14F-4D97-AF65-F5344CB8AC3E}">
        <p14:creationId xmlns:p14="http://schemas.microsoft.com/office/powerpoint/2010/main" val="1042057320"/>
      </p:ext>
    </p:extLst>
  </p:cSld>
</p:sld>
</file>

<file path=ppt/slides/slide1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9FE5BFD7-60F4-474A-A5AC-6C1965BB1D02}"/>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TUESDAY 27 OCT</a:t>
            </a:r>
          </a:p>
        </p:txBody>
      </p:sp>
      <p:sp>
        <p:nvSpPr>
          <p:cNvPr id="2" name="heading">
            <a:extLst xmlns:a="http://schemas.openxmlformats.org/drawingml/2006/main">
              <a:ext uri="{FF2B5EF4-FFF2-40B4-BE49-F238E27FC236}">
                <a16:creationId xmlns:a16="http://schemas.microsoft.com/office/drawing/2014/main" id="{310AA70B-22FA-4A71-8DF8-DFEBA52EFA74}"/>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Assessment process and management</a:t>
            </a:r>
          </a:p>
        </p:txBody>
      </p:sp>
      <p:sp>
        <p:nvSpPr>
          <p:cNvPr id="3" name="index-0">
            <a:extLst xmlns:a="http://schemas.openxmlformats.org/drawingml/2006/main">
              <a:ext uri="{FF2B5EF4-FFF2-40B4-BE49-F238E27FC236}">
                <a16:creationId xmlns:a16="http://schemas.microsoft.com/office/drawing/2014/main" id="{969C2153-1868-483D-A53F-D04F5A1B7EB1}"/>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6998643C-8B77-43D8-998D-9D1EACF39870}"/>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Prepare purpose scope and criteria</a:t>
            </a:r>
          </a:p>
        </p:txBody>
      </p:sp>
      <p:sp>
        <p:nvSpPr>
          <p:cNvPr id="5" name="index-1">
            <a:extLst xmlns:a="http://schemas.openxmlformats.org/drawingml/2006/main">
              <a:ext uri="{FF2B5EF4-FFF2-40B4-BE49-F238E27FC236}">
                <a16:creationId xmlns:a16="http://schemas.microsoft.com/office/drawing/2014/main" id="{456B6840-5B2E-4805-BCE3-B0F023A0766E}"/>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685F7C3D-BD3B-423F-9AB6-24FBF0C1CA55}"/>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Gather authorized and relevant evidence</a:t>
            </a:r>
          </a:p>
        </p:txBody>
      </p:sp>
      <p:sp>
        <p:nvSpPr>
          <p:cNvPr id="7" name="index-2">
            <a:extLst xmlns:a="http://schemas.openxmlformats.org/drawingml/2006/main">
              <a:ext uri="{FF2B5EF4-FFF2-40B4-BE49-F238E27FC236}">
                <a16:creationId xmlns:a16="http://schemas.microsoft.com/office/drawing/2014/main" id="{162206EC-CF53-4E33-AD49-4BD949529D60}"/>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D6AA5587-85CF-4E07-9DA3-D5F7E66E2B09}"/>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Analyze claims and communicate limitations</a:t>
            </a:r>
          </a:p>
        </p:txBody>
      </p:sp>
      <p:sp>
        <p:nvSpPr>
          <p:cNvPr id="9" name="index-3">
            <a:extLst xmlns:a="http://schemas.openxmlformats.org/drawingml/2006/main">
              <a:ext uri="{FF2B5EF4-FFF2-40B4-BE49-F238E27FC236}">
                <a16:creationId xmlns:a16="http://schemas.microsoft.com/office/drawing/2014/main" id="{3CCD99D5-57CD-4CBF-924C-FED684159D6E}"/>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84C2EDD6-2CF5-4C8D-8CAD-A181AC445799}"/>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Maintain the assessment as conditions change</a:t>
            </a:r>
          </a:p>
        </p:txBody>
      </p:sp>
      <p:sp>
        <p:nvSpPr>
          <p:cNvPr id="11" name="footer">
            <a:extLst xmlns:a="http://schemas.openxmlformats.org/drawingml/2006/main">
              <a:ext uri="{FF2B5EF4-FFF2-40B4-BE49-F238E27FC236}">
                <a16:creationId xmlns:a16="http://schemas.microsoft.com/office/drawing/2014/main" id="{D63525A0-AAEB-4770-92D8-92B197669923}"/>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2</a:t>
            </a:r>
          </a:p>
        </p:txBody>
      </p:sp>
      <p:sp>
        <p:nvSpPr>
          <p:cNvPr id="12" name="page">
            <a:extLst xmlns:a="http://schemas.openxmlformats.org/drawingml/2006/main">
              <a:ext uri="{FF2B5EF4-FFF2-40B4-BE49-F238E27FC236}">
                <a16:creationId xmlns:a16="http://schemas.microsoft.com/office/drawing/2014/main" id="{C85B09E2-322F-46AC-BCE9-580E29482AEF}"/>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14</a:t>
            </a:r>
          </a:p>
        </p:txBody>
      </p:sp>
    </p:spTree>
    <p:extLst>
      <p:ext uri="{BB962C8B-B14F-4D97-AF65-F5344CB8AC3E}">
        <p14:creationId xmlns:p14="http://schemas.microsoft.com/office/powerpoint/2010/main" val="1704893782"/>
      </p:ext>
    </p:extLst>
  </p:cSld>
</p:sld>
</file>

<file path=ppt/slides/slide1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6" name="section">
            <a:extLst xmlns:a="http://schemas.openxmlformats.org/drawingml/2006/main">
              <a:ext uri="{FF2B5EF4-FFF2-40B4-BE49-F238E27FC236}">
                <a16:creationId xmlns:a16="http://schemas.microsoft.com/office/drawing/2014/main" id="{B6D4D680-9820-444A-8006-F436D67B5F6C}"/>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TUESDAY 27 OCT</a:t>
            </a:r>
          </a:p>
        </p:txBody>
      </p:sp>
      <p:sp>
        <p:nvSpPr>
          <p:cNvPr id="2" name="heading">
            <a:extLst xmlns:a="http://schemas.openxmlformats.org/drawingml/2006/main">
              <a:ext uri="{FF2B5EF4-FFF2-40B4-BE49-F238E27FC236}">
                <a16:creationId xmlns:a16="http://schemas.microsoft.com/office/drawing/2014/main" id="{6E8BAFEB-C688-4C4A-A5FE-54DCC1D8D371}"/>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Evidence strength and limitations</a:t>
            </a:r>
          </a:p>
        </p:txBody>
      </p:sp>
      <p:graphicFrame>
        <p:nvGraphicFramePr>
          <p:cNvPr id="3" name="">
            <a:extLst xmlns:a="http://schemas.openxmlformats.org/drawingml/2006/main">
              <a:ext uri="{FF2B5EF4-FFF2-40B4-BE49-F238E27FC236}">
                <a16:creationId xmlns:a16="http://schemas.microsoft.com/office/drawing/2014/main" id="{28EEB838-CF06-4584-A3BC-84320AF24998}"/>
              </a:ext>
            </a:extLst>
          </p:cNvPr>
          <p:cNvGraphicFramePr/>
          <p:nvPr/>
        </p:nvGraphicFramePr>
        <p:xfrm>
          <a:off xmlns:a="http://schemas.openxmlformats.org/drawingml/2006/main" x="609600" y="2114550"/>
          <a:ext xmlns:a="http://schemas.openxmlformats.org/drawingml/2006/main" cx="10972800" cy="3476625"/>
        </p:xfrm>
        <a:graphic xmlns:a="http://schemas.openxmlformats.org/drawingml/2006/main">
          <a:graphicData uri="http://schemas.openxmlformats.org/drawingml/2006/table">
            <a:tbl>
              <a:tblPr/>
              <a:tblGrid>
                <a:gridCol w="2333625"/>
                <a:gridCol w="4000500"/>
                <a:gridCol w="4638675"/>
              </a:tblGrid>
              <a:tr h="695325">
                <a:tc>
                  <a:txBody>
                    <a:bodyPr/>
                    <a:lstStyle/>
                    <a:p>
                      <a:r>
                        <a:rPr sz="1725" b="1">
                          <a:solidFill>
                            <a:srgbClr val="FFFFFF"/>
                          </a:solidFill>
                          <a:latin typeface="Arial"/>
                          <a:ea typeface="Arial"/>
                          <a:cs typeface="Arial"/>
                        </a:rPr>
                        <a:t>Evidence</a:t>
                      </a:r>
                    </a:p>
                  </a:txBody>
                  <a:tcPr marL="91440" marR="91440" marT="45720" marB="45720">
                    <a:lnL w="9525">
                      <a:solidFill>
                        <a:srgbClr val="CBD5DA"/>
                      </a:solidFill>
                      <a:prstDash val="solid"/>
                    </a:lnL>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c>
                  <a:txBody>
                    <a:bodyPr/>
                    <a:lstStyle/>
                    <a:p>
                      <a:r>
                        <a:rPr sz="1725" b="1">
                          <a:solidFill>
                            <a:srgbClr val="FFFFFF"/>
                          </a:solidFill>
                          <a:latin typeface="Arial"/>
                          <a:ea typeface="Arial"/>
                          <a:cs typeface="Arial"/>
                        </a:rPr>
                        <a:t>May support</a:t>
                      </a:r>
                    </a:p>
                  </a:txBody>
                  <a:tcPr marL="91440" marR="91440" marT="45720" marB="45720">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c>
                  <a:txBody>
                    <a:bodyPr/>
                    <a:lstStyle/>
                    <a:p>
                      <a:r>
                        <a:rPr sz="1725" b="1">
                          <a:solidFill>
                            <a:srgbClr val="FFFFFF"/>
                          </a:solidFill>
                          <a:latin typeface="Arial"/>
                          <a:ea typeface="Arial"/>
                          <a:cs typeface="Arial"/>
                        </a:rPr>
                        <a:t>Does not establish</a:t>
                      </a:r>
                    </a:p>
                  </a:txBody>
                  <a:tcPr marL="91440" marR="91440" marT="45720" marB="45720">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r>
              <a:tr h="695325">
                <a:tc>
                  <a:txBody>
                    <a:bodyPr/>
                    <a:lstStyle/>
                    <a:p>
                      <a:r>
                        <a:rPr sz="1725" b="0">
                          <a:solidFill>
                            <a:srgbClr val="102F40"/>
                          </a:solidFill>
                          <a:latin typeface="Arial"/>
                          <a:ea typeface="Arial"/>
                          <a:cs typeface="Arial"/>
                        </a:rPr>
                        <a:t>Manager interview</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Reported practice</a:t>
                      </a:r>
                    </a:p>
                  </a:txBody>
                  <a:tcPr marL="91440" marR="91440" marT="45720" marB="45720">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Independent verification</a:t>
                      </a:r>
                    </a:p>
                  </a:txBody>
                  <a:tcPr marL="91440" marR="91440" marT="45720" marB="45720">
                    <a:lnR w="9525">
                      <a:solidFill>
                        <a:srgbClr val="CBD5DA"/>
                      </a:solidFill>
                      <a:prstDash val="solid"/>
                    </a:lnR>
                    <a:lnB w="9525">
                      <a:solidFill>
                        <a:srgbClr val="CBD5DA"/>
                      </a:solidFill>
                      <a:prstDash val="solid"/>
                    </a:lnB>
                    <a:solidFill>
                      <a:srgbClr val="FFFFFF"/>
                    </a:solidFill>
                  </a:tcPr>
                </a:tc>
              </a:tr>
              <a:tr h="695325">
                <a:tc>
                  <a:txBody>
                    <a:bodyPr/>
                    <a:lstStyle/>
                    <a:p>
                      <a:r>
                        <a:rPr sz="1725" b="0">
                          <a:solidFill>
                            <a:srgbClr val="102F40"/>
                          </a:solidFill>
                          <a:latin typeface="Arial"/>
                          <a:ea typeface="Arial"/>
                          <a:cs typeface="Arial"/>
                        </a:rPr>
                        <a:t>Backup job report</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Recorded job completion</a:t>
                      </a:r>
                    </a:p>
                  </a:txBody>
                  <a:tcPr marL="91440" marR="91440" marT="45720" marB="45720">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Usable business restoration</a:t>
                      </a:r>
                    </a:p>
                  </a:txBody>
                  <a:tcPr marL="91440" marR="91440" marT="45720" marB="45720">
                    <a:lnR w="9525">
                      <a:solidFill>
                        <a:srgbClr val="CBD5DA"/>
                      </a:solidFill>
                      <a:prstDash val="solid"/>
                    </a:lnR>
                    <a:lnB w="9525">
                      <a:solidFill>
                        <a:srgbClr val="CBD5DA"/>
                      </a:solidFill>
                      <a:prstDash val="solid"/>
                    </a:lnB>
                    <a:solidFill>
                      <a:srgbClr val="EBF0F2"/>
                    </a:solidFill>
                  </a:tcPr>
                </a:tc>
              </a:tr>
              <a:tr h="695325">
                <a:tc>
                  <a:txBody>
                    <a:bodyPr/>
                    <a:lstStyle/>
                    <a:p>
                      <a:r>
                        <a:rPr sz="1725" b="0">
                          <a:solidFill>
                            <a:srgbClr val="102F40"/>
                          </a:solidFill>
                          <a:latin typeface="Arial"/>
                          <a:ea typeface="Arial"/>
                          <a:cs typeface="Arial"/>
                        </a:rPr>
                        <a:t>Old test register</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Gap in documented recent tests</a:t>
                      </a:r>
                    </a:p>
                  </a:txBody>
                  <a:tcPr marL="91440" marR="91440" marT="45720" marB="45720">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Every copy is unusable</a:t>
                      </a:r>
                    </a:p>
                  </a:txBody>
                  <a:tcPr marL="91440" marR="91440" marT="45720" marB="45720">
                    <a:lnR w="9525">
                      <a:solidFill>
                        <a:srgbClr val="CBD5DA"/>
                      </a:solidFill>
                      <a:prstDash val="solid"/>
                    </a:lnR>
                    <a:lnB w="9525">
                      <a:solidFill>
                        <a:srgbClr val="CBD5DA"/>
                      </a:solidFill>
                      <a:prstDash val="solid"/>
                    </a:lnB>
                    <a:solidFill>
                      <a:srgbClr val="FFFFFF"/>
                    </a:solidFill>
                  </a:tcPr>
                </a:tc>
              </a:tr>
              <a:tr h="695325">
                <a:tc>
                  <a:txBody>
                    <a:bodyPr/>
                    <a:lstStyle/>
                    <a:p>
                      <a:r>
                        <a:rPr sz="1725" b="0">
                          <a:solidFill>
                            <a:srgbClr val="102F40"/>
                          </a:solidFill>
                          <a:latin typeface="Arial"/>
                          <a:ea typeface="Arial"/>
                          <a:cs typeface="Arial"/>
                        </a:rPr>
                        <a:t>Account export</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Configuration at recorded time</a:t>
                      </a:r>
                    </a:p>
                  </a:txBody>
                  <a:tcPr marL="91440" marR="91440" marT="45720" marB="45720">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An unauthorized breach occurred</a:t>
                      </a:r>
                    </a:p>
                  </a:txBody>
                  <a:tcPr marL="91440" marR="91440" marT="45720" marB="45720">
                    <a:lnR w="9525">
                      <a:solidFill>
                        <a:srgbClr val="CBD5DA"/>
                      </a:solidFill>
                      <a:prstDash val="solid"/>
                    </a:lnR>
                    <a:lnB w="9525">
                      <a:solidFill>
                        <a:srgbClr val="CBD5DA"/>
                      </a:solidFill>
                      <a:prstDash val="solid"/>
                    </a:lnB>
                    <a:solidFill>
                      <a:srgbClr val="EBF0F2"/>
                    </a:solidFill>
                  </a:tcPr>
                </a:tc>
              </a:tr>
            </a:tbl>
          </a:graphicData>
        </a:graphic>
      </p:graphicFrame>
      <p:sp>
        <p:nvSpPr>
          <p:cNvPr id="4" name="footer">
            <a:extLst xmlns:a="http://schemas.openxmlformats.org/drawingml/2006/main">
              <a:ext uri="{FF2B5EF4-FFF2-40B4-BE49-F238E27FC236}">
                <a16:creationId xmlns:a16="http://schemas.microsoft.com/office/drawing/2014/main" id="{EF4F7067-C481-450A-9C9C-854A26DF7591}"/>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2</a:t>
            </a:r>
          </a:p>
        </p:txBody>
      </p:sp>
      <p:sp>
        <p:nvSpPr>
          <p:cNvPr id="5" name="page">
            <a:extLst xmlns:a="http://schemas.openxmlformats.org/drawingml/2006/main">
              <a:ext uri="{FF2B5EF4-FFF2-40B4-BE49-F238E27FC236}">
                <a16:creationId xmlns:a16="http://schemas.microsoft.com/office/drawing/2014/main" id="{69331CE7-5A99-4DBA-80B4-8557348B961B}"/>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15</a:t>
            </a:r>
          </a:p>
        </p:txBody>
      </p:sp>
    </p:spTree>
    <p:extLst>
      <p:ext uri="{BB962C8B-B14F-4D97-AF65-F5344CB8AC3E}">
        <p14:creationId xmlns:p14="http://schemas.microsoft.com/office/powerpoint/2010/main" val="632070652"/>
      </p:ext>
    </p:extLst>
  </p:cSld>
</p:sld>
</file>

<file path=ppt/slides/slide1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1AC84135-A744-4A91-AFD0-360AD2F1707A}"/>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TUESDAY 27 OCT</a:t>
            </a:r>
          </a:p>
        </p:txBody>
      </p:sp>
      <p:sp>
        <p:nvSpPr>
          <p:cNvPr id="2" name="heading">
            <a:extLst xmlns:a="http://schemas.openxmlformats.org/drawingml/2006/main">
              <a:ext uri="{FF2B5EF4-FFF2-40B4-BE49-F238E27FC236}">
                <a16:creationId xmlns:a16="http://schemas.microsoft.com/office/drawing/2014/main" id="{B53BFFAA-4C91-42DF-9CC6-13CEEF5F3184}"/>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B3 evidence chain lab</a:t>
            </a:r>
          </a:p>
        </p:txBody>
      </p:sp>
      <p:sp>
        <p:nvSpPr>
          <p:cNvPr id="3" name="index-0">
            <a:extLst xmlns:a="http://schemas.openxmlformats.org/drawingml/2006/main">
              <a:ext uri="{FF2B5EF4-FFF2-40B4-BE49-F238E27FC236}">
                <a16:creationId xmlns:a16="http://schemas.microsoft.com/office/drawing/2014/main" id="{28A6BE91-DB84-4E8D-B074-271A7BD3AE89}"/>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1DA42FB1-C24F-4CBD-96F5-8D6DF750D45F}"/>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Inspect four fictional records</a:t>
            </a:r>
          </a:p>
        </p:txBody>
      </p:sp>
      <p:sp>
        <p:nvSpPr>
          <p:cNvPr id="5" name="index-1">
            <a:extLst xmlns:a="http://schemas.openxmlformats.org/drawingml/2006/main">
              <a:ext uri="{FF2B5EF4-FFF2-40B4-BE49-F238E27FC236}">
                <a16:creationId xmlns:a16="http://schemas.microsoft.com/office/drawing/2014/main" id="{EFD85689-19FB-404B-BDE7-43B858CC0021}"/>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8EA42108-6610-4DFE-9460-44F2BD34E979}"/>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Match claims to actual support</a:t>
            </a:r>
          </a:p>
        </p:txBody>
      </p:sp>
      <p:sp>
        <p:nvSpPr>
          <p:cNvPr id="7" name="index-2">
            <a:extLst xmlns:a="http://schemas.openxmlformats.org/drawingml/2006/main">
              <a:ext uri="{FF2B5EF4-FFF2-40B4-BE49-F238E27FC236}">
                <a16:creationId xmlns:a16="http://schemas.microsoft.com/office/drawing/2014/main" id="{0CC74F21-9112-4678-AD70-7BD74A608D03}"/>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8A25691F-A172-4725-A83B-BA16EF50FD3D}"/>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Request corroboration and state limitations</a:t>
            </a:r>
          </a:p>
        </p:txBody>
      </p:sp>
      <p:sp>
        <p:nvSpPr>
          <p:cNvPr id="9" name="index-3">
            <a:extLst xmlns:a="http://schemas.openxmlformats.org/drawingml/2006/main">
              <a:ext uri="{FF2B5EF4-FFF2-40B4-BE49-F238E27FC236}">
                <a16:creationId xmlns:a16="http://schemas.microsoft.com/office/drawing/2014/main" id="{551758A8-75F8-488E-8465-477E8F399F78}"/>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CDCA6360-9459-4CF8-AA2D-D496413AB1A7}"/>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25 minutes with a concise oral finding</a:t>
            </a:r>
          </a:p>
        </p:txBody>
      </p:sp>
      <p:sp>
        <p:nvSpPr>
          <p:cNvPr id="11" name="footer">
            <a:extLst xmlns:a="http://schemas.openxmlformats.org/drawingml/2006/main">
              <a:ext uri="{FF2B5EF4-FFF2-40B4-BE49-F238E27FC236}">
                <a16:creationId xmlns:a16="http://schemas.microsoft.com/office/drawing/2014/main" id="{2BD5BE18-55DB-43C0-B396-570122D0FA84}"/>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2</a:t>
            </a:r>
          </a:p>
        </p:txBody>
      </p:sp>
      <p:sp>
        <p:nvSpPr>
          <p:cNvPr id="12" name="page">
            <a:extLst xmlns:a="http://schemas.openxmlformats.org/drawingml/2006/main">
              <a:ext uri="{FF2B5EF4-FFF2-40B4-BE49-F238E27FC236}">
                <a16:creationId xmlns:a16="http://schemas.microsoft.com/office/drawing/2014/main" id="{295DD44B-0CFB-4C67-ACBE-3C84939770B0}"/>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16</a:t>
            </a:r>
          </a:p>
        </p:txBody>
      </p:sp>
    </p:spTree>
    <p:extLst>
      <p:ext uri="{BB962C8B-B14F-4D97-AF65-F5344CB8AC3E}">
        <p14:creationId xmlns:p14="http://schemas.microsoft.com/office/powerpoint/2010/main" val="897962445"/>
      </p:ext>
    </p:extLst>
  </p:cSld>
</p:sld>
</file>

<file path=ppt/slides/slide1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CFC028F3-F382-4D28-9E18-34FD34AB17FF}"/>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TUESDAY 27 OCT</a:t>
            </a:r>
          </a:p>
        </p:txBody>
      </p:sp>
      <p:sp>
        <p:nvSpPr>
          <p:cNvPr id="2" name="heading">
            <a:extLst xmlns:a="http://schemas.openxmlformats.org/drawingml/2006/main">
              <a:ext uri="{FF2B5EF4-FFF2-40B4-BE49-F238E27FC236}">
                <a16:creationId xmlns:a16="http://schemas.microsoft.com/office/drawing/2014/main" id="{D7501F16-B3FE-4A4A-98E2-48016C83AC60}"/>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Assessment findings and recommendations</a:t>
            </a:r>
          </a:p>
        </p:txBody>
      </p:sp>
      <p:sp>
        <p:nvSpPr>
          <p:cNvPr id="3" name="index-0">
            <a:extLst xmlns:a="http://schemas.openxmlformats.org/drawingml/2006/main">
              <a:ext uri="{FF2B5EF4-FFF2-40B4-BE49-F238E27FC236}">
                <a16:creationId xmlns:a16="http://schemas.microsoft.com/office/drawing/2014/main" id="{C946050D-A71F-4657-9584-816DFC91D9A0}"/>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61716010-6E98-4B9C-941A-757C84637993}"/>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Name the scoped condition and evidence</a:t>
            </a:r>
          </a:p>
        </p:txBody>
      </p:sp>
      <p:sp>
        <p:nvSpPr>
          <p:cNvPr id="5" name="index-1">
            <a:extLst xmlns:a="http://schemas.openxmlformats.org/drawingml/2006/main">
              <a:ext uri="{FF2B5EF4-FFF2-40B4-BE49-F238E27FC236}">
                <a16:creationId xmlns:a16="http://schemas.microsoft.com/office/drawing/2014/main" id="{25E413FF-5273-492C-AC99-496CA9147BC3}"/>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5CD5A2EB-9E05-4275-AA18-15675397A6FA}"/>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Explain the relevant risk and uncertainty</a:t>
            </a:r>
          </a:p>
        </p:txBody>
      </p:sp>
      <p:sp>
        <p:nvSpPr>
          <p:cNvPr id="7" name="index-2">
            <a:extLst xmlns:a="http://schemas.openxmlformats.org/drawingml/2006/main">
              <a:ext uri="{FF2B5EF4-FFF2-40B4-BE49-F238E27FC236}">
                <a16:creationId xmlns:a16="http://schemas.microsoft.com/office/drawing/2014/main" id="{AEA87FBD-D000-4C5F-8385-E129E35BBF7A}"/>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5769382D-65A5-4A8E-B31E-905DD6F68CA0}"/>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Identify who makes the next decision</a:t>
            </a:r>
          </a:p>
        </p:txBody>
      </p:sp>
      <p:sp>
        <p:nvSpPr>
          <p:cNvPr id="9" name="index-3">
            <a:extLst xmlns:a="http://schemas.openxmlformats.org/drawingml/2006/main">
              <a:ext uri="{FF2B5EF4-FFF2-40B4-BE49-F238E27FC236}">
                <a16:creationId xmlns:a16="http://schemas.microsoft.com/office/drawing/2014/main" id="{5CB3E6FA-F8D6-4FF3-88C6-A5920D6F3869}"/>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E9EF46B0-7601-407D-BCFF-E70536279453}"/>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Keep recommendations separate from completed work</a:t>
            </a:r>
          </a:p>
        </p:txBody>
      </p:sp>
      <p:sp>
        <p:nvSpPr>
          <p:cNvPr id="11" name="footer">
            <a:extLst xmlns:a="http://schemas.openxmlformats.org/drawingml/2006/main">
              <a:ext uri="{FF2B5EF4-FFF2-40B4-BE49-F238E27FC236}">
                <a16:creationId xmlns:a16="http://schemas.microsoft.com/office/drawing/2014/main" id="{BFE6EBFF-270B-4DB7-97F2-F87C7A59AE0A}"/>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2</a:t>
            </a:r>
          </a:p>
        </p:txBody>
      </p:sp>
      <p:sp>
        <p:nvSpPr>
          <p:cNvPr id="12" name="page">
            <a:extLst xmlns:a="http://schemas.openxmlformats.org/drawingml/2006/main">
              <a:ext uri="{FF2B5EF4-FFF2-40B4-BE49-F238E27FC236}">
                <a16:creationId xmlns:a16="http://schemas.microsoft.com/office/drawing/2014/main" id="{379CA84C-9321-4331-AC0E-86CD7F9B890A}"/>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17</a:t>
            </a:r>
          </a:p>
        </p:txBody>
      </p:sp>
    </p:spTree>
    <p:extLst>
      <p:ext uri="{BB962C8B-B14F-4D97-AF65-F5344CB8AC3E}">
        <p14:creationId xmlns:p14="http://schemas.microsoft.com/office/powerpoint/2010/main" val="1249653801"/>
      </p:ext>
    </p:extLst>
  </p:cSld>
</p:sld>
</file>

<file path=ppt/slides/slide1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FE54A56B-8E9D-46D7-879B-AE4F42F04D08}"/>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TUESDAY 27 OCT</a:t>
            </a:r>
          </a:p>
        </p:txBody>
      </p:sp>
      <p:sp>
        <p:nvSpPr>
          <p:cNvPr id="2" name="heading">
            <a:extLst xmlns:a="http://schemas.openxmlformats.org/drawingml/2006/main">
              <a:ext uri="{FF2B5EF4-FFF2-40B4-BE49-F238E27FC236}">
                <a16:creationId xmlns:a16="http://schemas.microsoft.com/office/drawing/2014/main" id="{4D645BEF-4856-45DB-B130-FCC840CAC019}"/>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B4 plan versus findings</a:t>
            </a:r>
          </a:p>
        </p:txBody>
      </p:sp>
      <p:sp>
        <p:nvSpPr>
          <p:cNvPr id="3" name="index-0">
            <a:extLst xmlns:a="http://schemas.openxmlformats.org/drawingml/2006/main">
              <a:ext uri="{FF2B5EF4-FFF2-40B4-BE49-F238E27FC236}">
                <a16:creationId xmlns:a16="http://schemas.microsoft.com/office/drawing/2014/main" id="{90FD081F-0029-49FE-9152-AF677425FC34}"/>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FA7FBCEE-1CC9-4A65-A8B2-6B581953A5C3}"/>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Identify planned work and supported findings</a:t>
            </a:r>
          </a:p>
        </p:txBody>
      </p:sp>
      <p:sp>
        <p:nvSpPr>
          <p:cNvPr id="5" name="index-1">
            <a:extLst xmlns:a="http://schemas.openxmlformats.org/drawingml/2006/main">
              <a:ext uri="{FF2B5EF4-FFF2-40B4-BE49-F238E27FC236}">
                <a16:creationId xmlns:a16="http://schemas.microsoft.com/office/drawing/2014/main" id="{2484D9E6-1160-498C-A976-664C29282A7D}"/>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D4386E5F-9BC9-48B5-9C81-1085875F399C}"/>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Reject claims that outrun the evidence</a:t>
            </a:r>
          </a:p>
        </p:txBody>
      </p:sp>
      <p:sp>
        <p:nvSpPr>
          <p:cNvPr id="7" name="index-2">
            <a:extLst xmlns:a="http://schemas.openxmlformats.org/drawingml/2006/main">
              <a:ext uri="{FF2B5EF4-FFF2-40B4-BE49-F238E27FC236}">
                <a16:creationId xmlns:a16="http://schemas.microsoft.com/office/drawing/2014/main" id="{CC5644A2-1488-4F4C-B114-8337972D859F}"/>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26AFFBF7-DC1C-43DB-9AE6-D81DF14A27AE}"/>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Add an owner and prerequisite for one task</a:t>
            </a:r>
          </a:p>
        </p:txBody>
      </p:sp>
      <p:sp>
        <p:nvSpPr>
          <p:cNvPr id="9" name="index-3">
            <a:extLst xmlns:a="http://schemas.openxmlformats.org/drawingml/2006/main">
              <a:ext uri="{FF2B5EF4-FFF2-40B4-BE49-F238E27FC236}">
                <a16:creationId xmlns:a16="http://schemas.microsoft.com/office/drawing/2014/main" id="{D3207525-E222-468A-A4B0-763FEAD9E9AE}"/>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FCDEA13C-F614-4C0E-8B18-206C017C173E}"/>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25 minutes with peer challenge</a:t>
            </a:r>
          </a:p>
        </p:txBody>
      </p:sp>
      <p:sp>
        <p:nvSpPr>
          <p:cNvPr id="11" name="footer">
            <a:extLst xmlns:a="http://schemas.openxmlformats.org/drawingml/2006/main">
              <a:ext uri="{FF2B5EF4-FFF2-40B4-BE49-F238E27FC236}">
                <a16:creationId xmlns:a16="http://schemas.microsoft.com/office/drawing/2014/main" id="{55A164DC-3327-45B9-B1FA-CF762C27C76A}"/>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2</a:t>
            </a:r>
          </a:p>
        </p:txBody>
      </p:sp>
      <p:sp>
        <p:nvSpPr>
          <p:cNvPr id="12" name="page">
            <a:extLst xmlns:a="http://schemas.openxmlformats.org/drawingml/2006/main">
              <a:ext uri="{FF2B5EF4-FFF2-40B4-BE49-F238E27FC236}">
                <a16:creationId xmlns:a16="http://schemas.microsoft.com/office/drawing/2014/main" id="{58E61BBA-3F65-4376-9EF1-DC21BCFAEF62}"/>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18</a:t>
            </a:r>
          </a:p>
        </p:txBody>
      </p:sp>
    </p:spTree>
    <p:extLst>
      <p:ext uri="{BB962C8B-B14F-4D97-AF65-F5344CB8AC3E}">
        <p14:creationId xmlns:p14="http://schemas.microsoft.com/office/powerpoint/2010/main" val="167553259"/>
      </p:ext>
    </p:extLst>
  </p:cSld>
</p:sld>
</file>

<file path=ppt/slides/slide1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3F69E318-299A-4FF3-BFD2-362C814C452B}"/>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TUESDAY 27 OCT</a:t>
            </a:r>
          </a:p>
        </p:txBody>
      </p:sp>
      <p:sp>
        <p:nvSpPr>
          <p:cNvPr id="2" name="heading">
            <a:extLst xmlns:a="http://schemas.openxmlformats.org/drawingml/2006/main">
              <a:ext uri="{FF2B5EF4-FFF2-40B4-BE49-F238E27FC236}">
                <a16:creationId xmlns:a16="http://schemas.microsoft.com/office/drawing/2014/main" id="{ED877B2D-AB1E-4517-A876-62631DF5794A}"/>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Source scope in the Revised Proposal</a:t>
            </a:r>
          </a:p>
        </p:txBody>
      </p:sp>
      <p:sp>
        <p:nvSpPr>
          <p:cNvPr id="3" name="index-0">
            <a:extLst xmlns:a="http://schemas.openxmlformats.org/drawingml/2006/main">
              <a:ext uri="{FF2B5EF4-FFF2-40B4-BE49-F238E27FC236}">
                <a16:creationId xmlns:a16="http://schemas.microsoft.com/office/drawing/2014/main" id="{EFDFDB4C-77E1-4468-AF35-46B7CD726578}"/>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6E50D6AA-D54F-4A3E-AB11-ACD1E46D6FB7}"/>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Read the professor’s feedback and current prompt</a:t>
            </a:r>
          </a:p>
        </p:txBody>
      </p:sp>
      <p:sp>
        <p:nvSpPr>
          <p:cNvPr id="5" name="index-1">
            <a:extLst xmlns:a="http://schemas.openxmlformats.org/drawingml/2006/main">
              <a:ext uri="{FF2B5EF4-FFF2-40B4-BE49-F238E27FC236}">
                <a16:creationId xmlns:a16="http://schemas.microsoft.com/office/drawing/2014/main" id="{61F9C1B6-2225-44DD-9F81-F364E4F1A01B}"/>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84D89DF4-AEC0-4178-9AE8-99251D620EDD}"/>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Identify the edition and purpose of each source</a:t>
            </a:r>
          </a:p>
        </p:txBody>
      </p:sp>
      <p:sp>
        <p:nvSpPr>
          <p:cNvPr id="7" name="index-2">
            <a:extLst xmlns:a="http://schemas.openxmlformats.org/drawingml/2006/main">
              <a:ext uri="{FF2B5EF4-FFF2-40B4-BE49-F238E27FC236}">
                <a16:creationId xmlns:a16="http://schemas.microsoft.com/office/drawing/2014/main" id="{41EBAD52-6F43-45C5-B1D8-FDC6FA702966}"/>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96533C01-2A1C-4501-8745-20A85B971F3A}"/>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Distinguish assessment guidance from CUI requirements</a:t>
            </a:r>
          </a:p>
        </p:txBody>
      </p:sp>
      <p:sp>
        <p:nvSpPr>
          <p:cNvPr id="9" name="index-3">
            <a:extLst xmlns:a="http://schemas.openxmlformats.org/drawingml/2006/main">
              <a:ext uri="{FF2B5EF4-FFF2-40B4-BE49-F238E27FC236}">
                <a16:creationId xmlns:a16="http://schemas.microsoft.com/office/drawing/2014/main" id="{83C93EF9-BDF6-4A19-9937-D7DFFD5D642F}"/>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ACA2C899-3AFD-4F31-A04D-EDE5FBBCF4DF}"/>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Use your own research question and analysis</a:t>
            </a:r>
          </a:p>
        </p:txBody>
      </p:sp>
      <p:sp>
        <p:nvSpPr>
          <p:cNvPr id="11" name="footer">
            <a:extLst xmlns:a="http://schemas.openxmlformats.org/drawingml/2006/main">
              <a:ext uri="{FF2B5EF4-FFF2-40B4-BE49-F238E27FC236}">
                <a16:creationId xmlns:a16="http://schemas.microsoft.com/office/drawing/2014/main" id="{91ED43AB-8D83-492D-AB5E-337B29166832}"/>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2</a:t>
            </a:r>
          </a:p>
        </p:txBody>
      </p:sp>
      <p:sp>
        <p:nvSpPr>
          <p:cNvPr id="12" name="page">
            <a:extLst xmlns:a="http://schemas.openxmlformats.org/drawingml/2006/main">
              <a:ext uri="{FF2B5EF4-FFF2-40B4-BE49-F238E27FC236}">
                <a16:creationId xmlns:a16="http://schemas.microsoft.com/office/drawing/2014/main" id="{F36C6A95-A6AB-4D45-802D-1F6AC7403D18}"/>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19</a:t>
            </a:r>
          </a:p>
        </p:txBody>
      </p:sp>
    </p:spTree>
    <p:extLst>
      <p:ext uri="{BB962C8B-B14F-4D97-AF65-F5344CB8AC3E}">
        <p14:creationId xmlns:p14="http://schemas.microsoft.com/office/powerpoint/2010/main" val="381228970"/>
      </p:ext>
    </p:extLst>
  </p:cSld>
</p:sld>
</file>

<file path=ppt/slides/slide2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E45DE6DF-D313-4BC7-A94A-03095C73A201}"/>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TUESDAY 27 OCT</a:t>
            </a:r>
          </a:p>
        </p:txBody>
      </p:sp>
      <p:sp>
        <p:nvSpPr>
          <p:cNvPr id="2" name="heading">
            <a:extLst xmlns:a="http://schemas.openxmlformats.org/drawingml/2006/main">
              <a:ext uri="{FF2B5EF4-FFF2-40B4-BE49-F238E27FC236}">
                <a16:creationId xmlns:a16="http://schemas.microsoft.com/office/drawing/2014/main" id="{BB85E8FB-7272-42B2-930F-C1B196FFE4BD}"/>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Wednesday and Thursday continuity</a:t>
            </a:r>
          </a:p>
        </p:txBody>
      </p:sp>
      <p:sp>
        <p:nvSpPr>
          <p:cNvPr id="3" name="index-0">
            <a:extLst xmlns:a="http://schemas.openxmlformats.org/drawingml/2006/main">
              <a:ext uri="{FF2B5EF4-FFF2-40B4-BE49-F238E27FC236}">
                <a16:creationId xmlns:a16="http://schemas.microsoft.com/office/drawing/2014/main" id="{3FBF8D88-BDD7-4496-8507-FE0F3BDE4C7A}"/>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9914D468-FF1E-4387-BC22-DF9842B8E8A1}"/>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Joe Ingles leads the next two class meetings</a:t>
            </a:r>
          </a:p>
        </p:txBody>
      </p:sp>
      <p:sp>
        <p:nvSpPr>
          <p:cNvPr id="5" name="index-1">
            <a:extLst xmlns:a="http://schemas.openxmlformats.org/drawingml/2006/main">
              <a:ext uri="{FF2B5EF4-FFF2-40B4-BE49-F238E27FC236}">
                <a16:creationId xmlns:a16="http://schemas.microsoft.com/office/drawing/2014/main" id="{6917501C-B217-48EB-8A3C-10AC78234FF5}"/>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A0050544-1F39-478B-AFEA-D00F278B4ECF}"/>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The same timetable and learning resources continue</a:t>
            </a:r>
          </a:p>
        </p:txBody>
      </p:sp>
      <p:sp>
        <p:nvSpPr>
          <p:cNvPr id="7" name="index-2">
            <a:extLst xmlns:a="http://schemas.openxmlformats.org/drawingml/2006/main">
              <a:ext uri="{FF2B5EF4-FFF2-40B4-BE49-F238E27FC236}">
                <a16:creationId xmlns:a16="http://schemas.microsoft.com/office/drawing/2014/main" id="{48E2698F-7BED-4335-BB5B-405A46CE4309}"/>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6411E842-1A98-4BAA-8995-F55FBB1D0E27}"/>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Use fictional practice and individual reasoning</a:t>
            </a:r>
          </a:p>
        </p:txBody>
      </p:sp>
      <p:sp>
        <p:nvSpPr>
          <p:cNvPr id="9" name="index-3">
            <a:extLst xmlns:a="http://schemas.openxmlformats.org/drawingml/2006/main">
              <a:ext uri="{FF2B5EF4-FFF2-40B4-BE49-F238E27FC236}">
                <a16:creationId xmlns:a16="http://schemas.microsoft.com/office/drawing/2014/main" id="{373B73D7-BBF3-4936-AC64-560D12DE4FF2}"/>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36A4BAC6-830A-4B28-AFBB-10940DCFBD8B}"/>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Policy and grading questions go to Professor Antoniou</a:t>
            </a:r>
          </a:p>
        </p:txBody>
      </p:sp>
      <p:sp>
        <p:nvSpPr>
          <p:cNvPr id="11" name="footer">
            <a:extLst xmlns:a="http://schemas.openxmlformats.org/drawingml/2006/main">
              <a:ext uri="{FF2B5EF4-FFF2-40B4-BE49-F238E27FC236}">
                <a16:creationId xmlns:a16="http://schemas.microsoft.com/office/drawing/2014/main" id="{0904AECB-F6AD-497B-B9A0-1FFA08AEFE6F}"/>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2</a:t>
            </a:r>
          </a:p>
        </p:txBody>
      </p:sp>
      <p:sp>
        <p:nvSpPr>
          <p:cNvPr id="12" name="page">
            <a:extLst xmlns:a="http://schemas.openxmlformats.org/drawingml/2006/main">
              <a:ext uri="{FF2B5EF4-FFF2-40B4-BE49-F238E27FC236}">
                <a16:creationId xmlns:a16="http://schemas.microsoft.com/office/drawing/2014/main" id="{E45EAB89-E464-41DC-B55D-4B400F32510B}"/>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20</a:t>
            </a:r>
          </a:p>
        </p:txBody>
      </p:sp>
    </p:spTree>
    <p:extLst>
      <p:ext uri="{BB962C8B-B14F-4D97-AF65-F5344CB8AC3E}">
        <p14:creationId xmlns:p14="http://schemas.microsoft.com/office/powerpoint/2010/main" val="278843935"/>
      </p:ext>
    </p:extLst>
  </p:cSld>
</p:sld>
</file>

<file path=ppt/slides/slide2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20653D9E-EA7E-4A71-BC14-DBC329338230}"/>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TUESDAY 27 OCT</a:t>
            </a:r>
          </a:p>
        </p:txBody>
      </p:sp>
      <p:sp>
        <p:nvSpPr>
          <p:cNvPr id="2" name="heading">
            <a:extLst xmlns:a="http://schemas.openxmlformats.org/drawingml/2006/main">
              <a:ext uri="{FF2B5EF4-FFF2-40B4-BE49-F238E27FC236}">
                <a16:creationId xmlns:a16="http://schemas.microsoft.com/office/drawing/2014/main" id="{0F082124-1E5E-40F7-A421-C565BF9EBD81}"/>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Tuesday exit and next steps</a:t>
            </a:r>
          </a:p>
        </p:txBody>
      </p:sp>
      <p:sp>
        <p:nvSpPr>
          <p:cNvPr id="3" name="index-0">
            <a:extLst xmlns:a="http://schemas.openxmlformats.org/drawingml/2006/main">
              <a:ext uri="{FF2B5EF4-FFF2-40B4-BE49-F238E27FC236}">
                <a16:creationId xmlns:a16="http://schemas.microsoft.com/office/drawing/2014/main" id="{006DE195-A52A-4E80-B476-BAD8F47795B7}"/>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A412D317-60A2-4B66-B705-5D909FE93133}"/>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Plan versus finding</a:t>
            </a:r>
          </a:p>
        </p:txBody>
      </p:sp>
      <p:sp>
        <p:nvSpPr>
          <p:cNvPr id="5" name="index-1">
            <a:extLst xmlns:a="http://schemas.openxmlformats.org/drawingml/2006/main">
              <a:ext uri="{FF2B5EF4-FFF2-40B4-BE49-F238E27FC236}">
                <a16:creationId xmlns:a16="http://schemas.microsoft.com/office/drawing/2014/main" id="{256878B7-521A-4245-B534-464BCE4C50E0}"/>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B7A01879-889D-42DB-A193-80FF1C1B3B14}"/>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Backup evidence and its limits</a:t>
            </a:r>
          </a:p>
        </p:txBody>
      </p:sp>
      <p:sp>
        <p:nvSpPr>
          <p:cNvPr id="7" name="index-2">
            <a:extLst xmlns:a="http://schemas.openxmlformats.org/drawingml/2006/main">
              <a:ext uri="{FF2B5EF4-FFF2-40B4-BE49-F238E27FC236}">
                <a16:creationId xmlns:a16="http://schemas.microsoft.com/office/drawing/2014/main" id="{A3F5F6C9-448B-40C9-B659-CBDC49807D8D}"/>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327C3FC6-5502-44ED-9BFF-D8B8C2710D10}"/>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Management communication</a:t>
            </a:r>
          </a:p>
        </p:txBody>
      </p:sp>
      <p:sp>
        <p:nvSpPr>
          <p:cNvPr id="9" name="index-3">
            <a:extLst xmlns:a="http://schemas.openxmlformats.org/drawingml/2006/main">
              <a:ext uri="{FF2B5EF4-FFF2-40B4-BE49-F238E27FC236}">
                <a16:creationId xmlns:a16="http://schemas.microsoft.com/office/drawing/2014/main" id="{8FF3D50B-51E9-4105-A588-F75F5E921C76}"/>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4864384C-ADBA-4857-908B-A7300A63B20B}"/>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Prepare Chapter 7 assets and activities</a:t>
            </a:r>
          </a:p>
        </p:txBody>
      </p:sp>
      <p:sp>
        <p:nvSpPr>
          <p:cNvPr id="11" name="footer">
            <a:extLst xmlns:a="http://schemas.openxmlformats.org/drawingml/2006/main">
              <a:ext uri="{FF2B5EF4-FFF2-40B4-BE49-F238E27FC236}">
                <a16:creationId xmlns:a16="http://schemas.microsoft.com/office/drawing/2014/main" id="{FC871528-EB5A-4099-A187-315D9DA44C4B}"/>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2</a:t>
            </a:r>
          </a:p>
        </p:txBody>
      </p:sp>
      <p:sp>
        <p:nvSpPr>
          <p:cNvPr id="12" name="page">
            <a:extLst xmlns:a="http://schemas.openxmlformats.org/drawingml/2006/main">
              <a:ext uri="{FF2B5EF4-FFF2-40B4-BE49-F238E27FC236}">
                <a16:creationId xmlns:a16="http://schemas.microsoft.com/office/drawing/2014/main" id="{9E26058D-C754-44C6-930F-DC184B5EF6B7}"/>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21</a:t>
            </a:r>
          </a:p>
        </p:txBody>
      </p:sp>
    </p:spTree>
    <p:extLst>
      <p:ext uri="{BB962C8B-B14F-4D97-AF65-F5344CB8AC3E}">
        <p14:creationId xmlns:p14="http://schemas.microsoft.com/office/powerpoint/2010/main" val="515390513"/>
      </p:ext>
    </p:extLst>
  </p:cSld>
</p:sld>
</file>

<file path=ppt/slides/slide2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18245974-E243-4530-B165-3F76B7325A5F}"/>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WEDNESDAY 28 OCT</a:t>
            </a:r>
          </a:p>
        </p:txBody>
      </p:sp>
      <p:sp>
        <p:nvSpPr>
          <p:cNvPr id="2" name="heading">
            <a:extLst xmlns:a="http://schemas.openxmlformats.org/drawingml/2006/main">
              <a:ext uri="{FF2B5EF4-FFF2-40B4-BE49-F238E27FC236}">
                <a16:creationId xmlns:a16="http://schemas.microsoft.com/office/drawing/2014/main" id="{D4B5487B-7CBE-4C81-9AC2-DB8544292BFC}"/>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Wednesday learning route</a:t>
            </a:r>
          </a:p>
        </p:txBody>
      </p:sp>
      <p:sp>
        <p:nvSpPr>
          <p:cNvPr id="3" name="index-0">
            <a:extLst xmlns:a="http://schemas.openxmlformats.org/drawingml/2006/main">
              <a:ext uri="{FF2B5EF4-FFF2-40B4-BE49-F238E27FC236}">
                <a16:creationId xmlns:a16="http://schemas.microsoft.com/office/drawing/2014/main" id="{733176CE-6EC2-49CD-9301-86D12BBE1BA2}"/>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FBC13759-2DB4-4DD3-AB83-8C882EEB9D0C}"/>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Joe Ingles facilitates today’s class</a:t>
            </a:r>
          </a:p>
        </p:txBody>
      </p:sp>
      <p:sp>
        <p:nvSpPr>
          <p:cNvPr id="5" name="index-1">
            <a:extLst xmlns:a="http://schemas.openxmlformats.org/drawingml/2006/main">
              <a:ext uri="{FF2B5EF4-FFF2-40B4-BE49-F238E27FC236}">
                <a16:creationId xmlns:a16="http://schemas.microsoft.com/office/drawing/2014/main" id="{7F8F2C5F-476F-4F06-BC0A-DB96AC055228}"/>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03FE9C30-A528-4C5E-B293-9BC30F4C7AA3}"/>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Business activities and asset dependencies</a:t>
            </a:r>
          </a:p>
        </p:txBody>
      </p:sp>
      <p:sp>
        <p:nvSpPr>
          <p:cNvPr id="7" name="index-2">
            <a:extLst xmlns:a="http://schemas.openxmlformats.org/drawingml/2006/main">
              <a:ext uri="{FF2B5EF4-FFF2-40B4-BE49-F238E27FC236}">
                <a16:creationId xmlns:a16="http://schemas.microsoft.com/office/drawing/2014/main" id="{3835BCC1-FD5F-4D77-8922-B969EA14D450}"/>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8F9673D2-83BC-42A2-8457-E29103449F48}"/>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B5 dependency mapping</a:t>
            </a:r>
          </a:p>
        </p:txBody>
      </p:sp>
      <p:sp>
        <p:nvSpPr>
          <p:cNvPr id="9" name="index-3">
            <a:extLst xmlns:a="http://schemas.openxmlformats.org/drawingml/2006/main">
              <a:ext uri="{FF2B5EF4-FFF2-40B4-BE49-F238E27FC236}">
                <a16:creationId xmlns:a16="http://schemas.microsoft.com/office/drawing/2014/main" id="{3F1F246B-14F0-4CF2-8FC0-249D7A6E3DD8}"/>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C0DE762E-7670-476F-BE74-8050F9AFEAE4}"/>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B6 recovery concepts and interpretation</a:t>
            </a:r>
          </a:p>
        </p:txBody>
      </p:sp>
      <p:sp>
        <p:nvSpPr>
          <p:cNvPr id="11" name="footer">
            <a:extLst xmlns:a="http://schemas.openxmlformats.org/drawingml/2006/main">
              <a:ext uri="{FF2B5EF4-FFF2-40B4-BE49-F238E27FC236}">
                <a16:creationId xmlns:a16="http://schemas.microsoft.com/office/drawing/2014/main" id="{FA19B5C0-A2A9-446B-AD0F-FA811A653718}"/>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2</a:t>
            </a:r>
          </a:p>
        </p:txBody>
      </p:sp>
      <p:sp>
        <p:nvSpPr>
          <p:cNvPr id="12" name="page">
            <a:extLst xmlns:a="http://schemas.openxmlformats.org/drawingml/2006/main">
              <a:ext uri="{FF2B5EF4-FFF2-40B4-BE49-F238E27FC236}">
                <a16:creationId xmlns:a16="http://schemas.microsoft.com/office/drawing/2014/main" id="{EBB7FFC1-BBB0-45D3-B022-1F420635FFFB}"/>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22</a:t>
            </a:r>
          </a:p>
        </p:txBody>
      </p:sp>
    </p:spTree>
    <p:extLst>
      <p:ext uri="{BB962C8B-B14F-4D97-AF65-F5344CB8AC3E}">
        <p14:creationId xmlns:p14="http://schemas.microsoft.com/office/powerpoint/2010/main" val="749434948"/>
      </p:ext>
    </p:extLst>
  </p:cSld>
</p:sld>
</file>

<file path=ppt/slides/slide2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52B7049B-AA0C-4AB2-AA82-6D7092C6C2C0}"/>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WEDNESDAY 28 OCT</a:t>
            </a:r>
          </a:p>
        </p:txBody>
      </p:sp>
      <p:sp>
        <p:nvSpPr>
          <p:cNvPr id="2" name="heading">
            <a:extLst xmlns:a="http://schemas.openxmlformats.org/drawingml/2006/main">
              <a:ext uri="{FF2B5EF4-FFF2-40B4-BE49-F238E27FC236}">
                <a16:creationId xmlns:a16="http://schemas.microsoft.com/office/drawing/2014/main" id="{E8785E37-8F62-461A-9C88-9D25F9C89346}"/>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Assets and mission-critical activities</a:t>
            </a:r>
          </a:p>
        </p:txBody>
      </p:sp>
      <p:sp>
        <p:nvSpPr>
          <p:cNvPr id="3" name="index-0">
            <a:extLst xmlns:a="http://schemas.openxmlformats.org/drawingml/2006/main">
              <a:ext uri="{FF2B5EF4-FFF2-40B4-BE49-F238E27FC236}">
                <a16:creationId xmlns:a16="http://schemas.microsoft.com/office/drawing/2014/main" id="{BAA34EF6-193F-4EB5-BEE6-5ED1BEFC4237}"/>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BF6C1B98-F446-4E57-9FF1-F297596DD092}"/>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Start with the activity the organization performs</a:t>
            </a:r>
          </a:p>
        </p:txBody>
      </p:sp>
      <p:sp>
        <p:nvSpPr>
          <p:cNvPr id="5" name="index-1">
            <a:extLst xmlns:a="http://schemas.openxmlformats.org/drawingml/2006/main">
              <a:ext uri="{FF2B5EF4-FFF2-40B4-BE49-F238E27FC236}">
                <a16:creationId xmlns:a16="http://schemas.microsoft.com/office/drawing/2014/main" id="{6E269C2C-538D-4651-A467-CF2995E200BA}"/>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ADBE6C35-1BC7-4A4D-9788-C49F1FFC4710}"/>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Include information and people as assets</a:t>
            </a:r>
          </a:p>
        </p:txBody>
      </p:sp>
      <p:sp>
        <p:nvSpPr>
          <p:cNvPr id="7" name="index-2">
            <a:extLst xmlns:a="http://schemas.openxmlformats.org/drawingml/2006/main">
              <a:ext uri="{FF2B5EF4-FFF2-40B4-BE49-F238E27FC236}">
                <a16:creationId xmlns:a16="http://schemas.microsoft.com/office/drawing/2014/main" id="{58B6B498-52E6-4656-96CC-06D483098588}"/>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F3350290-B57E-4D2E-99EB-0E4417C89A93}"/>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Identify applications and external services</a:t>
            </a:r>
          </a:p>
        </p:txBody>
      </p:sp>
      <p:sp>
        <p:nvSpPr>
          <p:cNvPr id="9" name="index-3">
            <a:extLst xmlns:a="http://schemas.openxmlformats.org/drawingml/2006/main">
              <a:ext uri="{FF2B5EF4-FFF2-40B4-BE49-F238E27FC236}">
                <a16:creationId xmlns:a16="http://schemas.microsoft.com/office/drawing/2014/main" id="{B365E997-C2D6-47A6-8204-498D608B33F3}"/>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D9DCE265-31D0-4410-B22B-04983500A501}"/>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Justify priority using business consequences</a:t>
            </a:r>
          </a:p>
        </p:txBody>
      </p:sp>
      <p:sp>
        <p:nvSpPr>
          <p:cNvPr id="11" name="footer">
            <a:extLst xmlns:a="http://schemas.openxmlformats.org/drawingml/2006/main">
              <a:ext uri="{FF2B5EF4-FFF2-40B4-BE49-F238E27FC236}">
                <a16:creationId xmlns:a16="http://schemas.microsoft.com/office/drawing/2014/main" id="{2BEF85FD-F1AF-4F84-8F46-C63F6D0FAFE3}"/>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2</a:t>
            </a:r>
          </a:p>
        </p:txBody>
      </p:sp>
      <p:sp>
        <p:nvSpPr>
          <p:cNvPr id="12" name="page">
            <a:extLst xmlns:a="http://schemas.openxmlformats.org/drawingml/2006/main">
              <a:ext uri="{FF2B5EF4-FFF2-40B4-BE49-F238E27FC236}">
                <a16:creationId xmlns:a16="http://schemas.microsoft.com/office/drawing/2014/main" id="{60DD4B51-C7B7-4F37-8606-55F761333A1B}"/>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23</a:t>
            </a:r>
          </a:p>
        </p:txBody>
      </p:sp>
    </p:spTree>
    <p:extLst>
      <p:ext uri="{BB962C8B-B14F-4D97-AF65-F5344CB8AC3E}">
        <p14:creationId xmlns:p14="http://schemas.microsoft.com/office/powerpoint/2010/main" val="792716345"/>
      </p:ext>
    </p:extLst>
  </p:cSld>
</p:sld>
</file>

<file path=ppt/slides/slide2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6" name="section">
            <a:extLst xmlns:a="http://schemas.openxmlformats.org/drawingml/2006/main">
              <a:ext uri="{FF2B5EF4-FFF2-40B4-BE49-F238E27FC236}">
                <a16:creationId xmlns:a16="http://schemas.microsoft.com/office/drawing/2014/main" id="{A31ABD66-2BE6-40E0-8251-CAC794DCE2D0}"/>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WEDNESDAY 28 OCT</a:t>
            </a:r>
          </a:p>
        </p:txBody>
      </p:sp>
      <p:sp>
        <p:nvSpPr>
          <p:cNvPr id="2" name="heading">
            <a:extLst xmlns:a="http://schemas.openxmlformats.org/drawingml/2006/main">
              <a:ext uri="{FF2B5EF4-FFF2-40B4-BE49-F238E27FC236}">
                <a16:creationId xmlns:a16="http://schemas.microsoft.com/office/drawing/2014/main" id="{76D1E40C-BEA3-436A-918A-F66240FB1CDC}"/>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Activity and dependency reasoning</a:t>
            </a:r>
          </a:p>
        </p:txBody>
      </p:sp>
      <p:graphicFrame>
        <p:nvGraphicFramePr>
          <p:cNvPr id="3" name="">
            <a:extLst xmlns:a="http://schemas.openxmlformats.org/drawingml/2006/main">
              <a:ext uri="{FF2B5EF4-FFF2-40B4-BE49-F238E27FC236}">
                <a16:creationId xmlns:a16="http://schemas.microsoft.com/office/drawing/2014/main" id="{8BBD489C-8461-4EDA-8418-1982BA5847C0}"/>
              </a:ext>
            </a:extLst>
          </p:cNvPr>
          <p:cNvGraphicFramePr/>
          <p:nvPr/>
        </p:nvGraphicFramePr>
        <p:xfrm>
          <a:off xmlns:a="http://schemas.openxmlformats.org/drawingml/2006/main" x="609600" y="2114550"/>
          <a:ext xmlns:a="http://schemas.openxmlformats.org/drawingml/2006/main" cx="10972800" cy="3476625"/>
        </p:xfrm>
        <a:graphic xmlns:a="http://schemas.openxmlformats.org/drawingml/2006/main">
          <a:graphicData uri="http://schemas.openxmlformats.org/drawingml/2006/table">
            <a:tbl>
              <a:tblPr/>
              <a:tblGrid>
                <a:gridCol w="2333625"/>
                <a:gridCol w="4000500"/>
                <a:gridCol w="4638675"/>
              </a:tblGrid>
              <a:tr h="695325">
                <a:tc>
                  <a:txBody>
                    <a:bodyPr/>
                    <a:lstStyle/>
                    <a:p>
                      <a:r>
                        <a:rPr sz="1725" b="1">
                          <a:solidFill>
                            <a:srgbClr val="FFFFFF"/>
                          </a:solidFill>
                          <a:latin typeface="Arial"/>
                          <a:ea typeface="Arial"/>
                          <a:cs typeface="Arial"/>
                        </a:rPr>
                        <a:t>Activity</a:t>
                      </a:r>
                    </a:p>
                  </a:txBody>
                  <a:tcPr marL="91440" marR="91440" marT="45720" marB="45720">
                    <a:lnL w="9525">
                      <a:solidFill>
                        <a:srgbClr val="CBD5DA"/>
                      </a:solidFill>
                      <a:prstDash val="solid"/>
                    </a:lnL>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c>
                  <a:txBody>
                    <a:bodyPr/>
                    <a:lstStyle/>
                    <a:p>
                      <a:r>
                        <a:rPr sz="1725" b="1">
                          <a:solidFill>
                            <a:srgbClr val="FFFFFF"/>
                          </a:solidFill>
                          <a:latin typeface="Arial"/>
                          <a:ea typeface="Arial"/>
                          <a:cs typeface="Arial"/>
                        </a:rPr>
                        <a:t>Possible dependency</a:t>
                      </a:r>
                    </a:p>
                  </a:txBody>
                  <a:tcPr marL="91440" marR="91440" marT="45720" marB="45720">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c>
                  <a:txBody>
                    <a:bodyPr/>
                    <a:lstStyle/>
                    <a:p>
                      <a:r>
                        <a:rPr sz="1725" b="1">
                          <a:solidFill>
                            <a:srgbClr val="FFFFFF"/>
                          </a:solidFill>
                          <a:latin typeface="Arial"/>
                          <a:ea typeface="Arial"/>
                          <a:cs typeface="Arial"/>
                        </a:rPr>
                        <a:t>Evidence question</a:t>
                      </a:r>
                    </a:p>
                  </a:txBody>
                  <a:tcPr marL="91440" marR="91440" marT="45720" marB="45720">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r>
              <a:tr h="695325">
                <a:tc>
                  <a:txBody>
                    <a:bodyPr/>
                    <a:lstStyle/>
                    <a:p>
                      <a:r>
                        <a:rPr sz="1725" b="0">
                          <a:solidFill>
                            <a:srgbClr val="102F40"/>
                          </a:solidFill>
                          <a:latin typeface="Arial"/>
                          <a:ea typeface="Arial"/>
                          <a:cs typeface="Arial"/>
                        </a:rPr>
                        <a:t>Fulfill online orders</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Hosted order records</a:t>
                      </a:r>
                    </a:p>
                  </a:txBody>
                  <a:tcPr marL="91440" marR="91440" marT="45720" marB="45720">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Which records and workflows are needed?</a:t>
                      </a:r>
                    </a:p>
                  </a:txBody>
                  <a:tcPr marL="91440" marR="91440" marT="45720" marB="45720">
                    <a:lnR w="9525">
                      <a:solidFill>
                        <a:srgbClr val="CBD5DA"/>
                      </a:solidFill>
                      <a:prstDash val="solid"/>
                    </a:lnR>
                    <a:lnB w="9525">
                      <a:solidFill>
                        <a:srgbClr val="CBD5DA"/>
                      </a:solidFill>
                      <a:prstDash val="solid"/>
                    </a:lnB>
                    <a:solidFill>
                      <a:srgbClr val="FFFFFF"/>
                    </a:solidFill>
                  </a:tcPr>
                </a:tc>
              </a:tr>
              <a:tr h="695325">
                <a:tc>
                  <a:txBody>
                    <a:bodyPr/>
                    <a:lstStyle/>
                    <a:p>
                      <a:r>
                        <a:rPr sz="1725" b="0">
                          <a:solidFill>
                            <a:srgbClr val="102F40"/>
                          </a:solidFill>
                          <a:latin typeface="Arial"/>
                          <a:ea typeface="Arial"/>
                          <a:cs typeface="Arial"/>
                        </a:rPr>
                        <a:t>Authorize a card transaction</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Payment processor</a:t>
                      </a:r>
                    </a:p>
                  </a:txBody>
                  <a:tcPr marL="91440" marR="91440" marT="45720" marB="45720">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What does the payment-data flow show?</a:t>
                      </a:r>
                    </a:p>
                  </a:txBody>
                  <a:tcPr marL="91440" marR="91440" marT="45720" marB="45720">
                    <a:lnR w="9525">
                      <a:solidFill>
                        <a:srgbClr val="CBD5DA"/>
                      </a:solidFill>
                      <a:prstDash val="solid"/>
                    </a:lnR>
                    <a:lnB w="9525">
                      <a:solidFill>
                        <a:srgbClr val="CBD5DA"/>
                      </a:solidFill>
                      <a:prstDash val="solid"/>
                    </a:lnB>
                    <a:solidFill>
                      <a:srgbClr val="EBF0F2"/>
                    </a:solidFill>
                  </a:tcPr>
                </a:tc>
              </a:tr>
              <a:tr h="695325">
                <a:tc>
                  <a:txBody>
                    <a:bodyPr/>
                    <a:lstStyle/>
                    <a:p>
                      <a:r>
                        <a:rPr sz="1725" b="0">
                          <a:solidFill>
                            <a:srgbClr val="102F40"/>
                          </a:solidFill>
                          <a:latin typeface="Arial"/>
                          <a:ea typeface="Arial"/>
                          <a:cs typeface="Arial"/>
                        </a:rPr>
                        <a:t>Coordinate staff work</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People and access</a:t>
                      </a:r>
                    </a:p>
                  </a:txBody>
                  <a:tcPr marL="91440" marR="91440" marT="45720" marB="45720">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Which roles and permissions are essential?</a:t>
                      </a:r>
                    </a:p>
                  </a:txBody>
                  <a:tcPr marL="91440" marR="91440" marT="45720" marB="45720">
                    <a:lnR w="9525">
                      <a:solidFill>
                        <a:srgbClr val="CBD5DA"/>
                      </a:solidFill>
                      <a:prstDash val="solid"/>
                    </a:lnR>
                    <a:lnB w="9525">
                      <a:solidFill>
                        <a:srgbClr val="CBD5DA"/>
                      </a:solidFill>
                      <a:prstDash val="solid"/>
                    </a:lnB>
                    <a:solidFill>
                      <a:srgbClr val="FFFFFF"/>
                    </a:solidFill>
                  </a:tcPr>
                </a:tc>
              </a:tr>
              <a:tr h="695325">
                <a:tc>
                  <a:txBody>
                    <a:bodyPr/>
                    <a:lstStyle/>
                    <a:p>
                      <a:r>
                        <a:rPr sz="1725" b="0">
                          <a:solidFill>
                            <a:srgbClr val="102F40"/>
                          </a:solidFill>
                          <a:latin typeface="Arial"/>
                          <a:ea typeface="Arial"/>
                          <a:cs typeface="Arial"/>
                        </a:rPr>
                        <a:t>Restore usable service</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Data and validated operation</a:t>
                      </a:r>
                    </a:p>
                  </a:txBody>
                  <a:tcPr marL="91440" marR="91440" marT="45720" marB="45720">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Has the activity been tested end to end?</a:t>
                      </a:r>
                    </a:p>
                  </a:txBody>
                  <a:tcPr marL="91440" marR="91440" marT="45720" marB="45720">
                    <a:lnR w="9525">
                      <a:solidFill>
                        <a:srgbClr val="CBD5DA"/>
                      </a:solidFill>
                      <a:prstDash val="solid"/>
                    </a:lnR>
                    <a:lnB w="9525">
                      <a:solidFill>
                        <a:srgbClr val="CBD5DA"/>
                      </a:solidFill>
                      <a:prstDash val="solid"/>
                    </a:lnB>
                    <a:solidFill>
                      <a:srgbClr val="EBF0F2"/>
                    </a:solidFill>
                  </a:tcPr>
                </a:tc>
              </a:tr>
            </a:tbl>
          </a:graphicData>
        </a:graphic>
      </p:graphicFrame>
      <p:sp>
        <p:nvSpPr>
          <p:cNvPr id="4" name="footer">
            <a:extLst xmlns:a="http://schemas.openxmlformats.org/drawingml/2006/main">
              <a:ext uri="{FF2B5EF4-FFF2-40B4-BE49-F238E27FC236}">
                <a16:creationId xmlns:a16="http://schemas.microsoft.com/office/drawing/2014/main" id="{6E1FA2AC-4393-4495-B659-53FBA18AE0BA}"/>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2</a:t>
            </a:r>
          </a:p>
        </p:txBody>
      </p:sp>
      <p:sp>
        <p:nvSpPr>
          <p:cNvPr id="5" name="page">
            <a:extLst xmlns:a="http://schemas.openxmlformats.org/drawingml/2006/main">
              <a:ext uri="{FF2B5EF4-FFF2-40B4-BE49-F238E27FC236}">
                <a16:creationId xmlns:a16="http://schemas.microsoft.com/office/drawing/2014/main" id="{57CAE562-6DC2-4E9F-9581-0A04C24A6E66}"/>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24</a:t>
            </a:r>
          </a:p>
        </p:txBody>
      </p:sp>
    </p:spTree>
    <p:extLst>
      <p:ext uri="{BB962C8B-B14F-4D97-AF65-F5344CB8AC3E}">
        <p14:creationId xmlns:p14="http://schemas.microsoft.com/office/powerpoint/2010/main" val="1592182458"/>
      </p:ext>
    </p:extLst>
  </p:cSld>
</p:sld>
</file>

<file path=ppt/slides/slide2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9D3B271E-3C07-464B-BBAB-920C45AF1966}"/>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WEDNESDAY 28 OCT</a:t>
            </a:r>
          </a:p>
        </p:txBody>
      </p:sp>
      <p:sp>
        <p:nvSpPr>
          <p:cNvPr id="2" name="heading">
            <a:extLst xmlns:a="http://schemas.openxmlformats.org/drawingml/2006/main">
              <a:ext uri="{FF2B5EF4-FFF2-40B4-BE49-F238E27FC236}">
                <a16:creationId xmlns:a16="http://schemas.microsoft.com/office/drawing/2014/main" id="{41F41230-8AE5-4C86-A351-AD9C9A023AA4}"/>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B5 activity dependency map</a:t>
            </a:r>
          </a:p>
        </p:txBody>
      </p:sp>
      <p:sp>
        <p:nvSpPr>
          <p:cNvPr id="3" name="index-0">
            <a:extLst xmlns:a="http://schemas.openxmlformats.org/drawingml/2006/main">
              <a:ext uri="{FF2B5EF4-FFF2-40B4-BE49-F238E27FC236}">
                <a16:creationId xmlns:a16="http://schemas.microsoft.com/office/drawing/2014/main" id="{1EFA7615-6BD4-48E7-B7DB-0270FFFEF674}"/>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DD228C0C-B1C1-48B9-BA5D-F5108FEB7A15}"/>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Map one activity across asset types</a:t>
            </a:r>
          </a:p>
        </p:txBody>
      </p:sp>
      <p:sp>
        <p:nvSpPr>
          <p:cNvPr id="5" name="index-1">
            <a:extLst xmlns:a="http://schemas.openxmlformats.org/drawingml/2006/main">
              <a:ext uri="{FF2B5EF4-FFF2-40B4-BE49-F238E27FC236}">
                <a16:creationId xmlns:a16="http://schemas.microsoft.com/office/drawing/2014/main" id="{0847CF3A-2C1A-4C2C-A267-8880528094ED}"/>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FECE063E-426B-430A-9CC6-FC092337C4FB}"/>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Label assumptions and external interfaces</a:t>
            </a:r>
          </a:p>
        </p:txBody>
      </p:sp>
      <p:sp>
        <p:nvSpPr>
          <p:cNvPr id="7" name="index-2">
            <a:extLst xmlns:a="http://schemas.openxmlformats.org/drawingml/2006/main">
              <a:ext uri="{FF2B5EF4-FFF2-40B4-BE49-F238E27FC236}">
                <a16:creationId xmlns:a16="http://schemas.microsoft.com/office/drawing/2014/main" id="{1350930D-3220-497C-9E0A-5FF350EDD0A3}"/>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0CFDC38E-9656-4EFC-8D4B-46D69B00E2A0}"/>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Explain one business consequence</a:t>
            </a:r>
          </a:p>
        </p:txBody>
      </p:sp>
      <p:sp>
        <p:nvSpPr>
          <p:cNvPr id="9" name="index-3">
            <a:extLst xmlns:a="http://schemas.openxmlformats.org/drawingml/2006/main">
              <a:ext uri="{FF2B5EF4-FFF2-40B4-BE49-F238E27FC236}">
                <a16:creationId xmlns:a16="http://schemas.microsoft.com/office/drawing/2014/main" id="{692D1E94-7A23-4FB5-8593-651DEBD4D795}"/>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FD713D62-F406-49F3-98DB-BEC5FF6D20AE}"/>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25 minutes with a peer challenge</a:t>
            </a:r>
          </a:p>
        </p:txBody>
      </p:sp>
      <p:sp>
        <p:nvSpPr>
          <p:cNvPr id="11" name="footer">
            <a:extLst xmlns:a="http://schemas.openxmlformats.org/drawingml/2006/main">
              <a:ext uri="{FF2B5EF4-FFF2-40B4-BE49-F238E27FC236}">
                <a16:creationId xmlns:a16="http://schemas.microsoft.com/office/drawing/2014/main" id="{FED3255A-5F3A-4C4B-9D6C-F9FF29C0B033}"/>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2</a:t>
            </a:r>
          </a:p>
        </p:txBody>
      </p:sp>
      <p:sp>
        <p:nvSpPr>
          <p:cNvPr id="12" name="page">
            <a:extLst xmlns:a="http://schemas.openxmlformats.org/drawingml/2006/main">
              <a:ext uri="{FF2B5EF4-FFF2-40B4-BE49-F238E27FC236}">
                <a16:creationId xmlns:a16="http://schemas.microsoft.com/office/drawing/2014/main" id="{DDF3072D-484A-4201-963F-EE4D26C2F700}"/>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25</a:t>
            </a:r>
          </a:p>
        </p:txBody>
      </p:sp>
    </p:spTree>
    <p:extLst>
      <p:ext uri="{BB962C8B-B14F-4D97-AF65-F5344CB8AC3E}">
        <p14:creationId xmlns:p14="http://schemas.microsoft.com/office/powerpoint/2010/main" val="1928723973"/>
      </p:ext>
    </p:extLst>
  </p:cSld>
</p:sld>
</file>

<file path=ppt/slides/slide2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6" name="section">
            <a:extLst xmlns:a="http://schemas.openxmlformats.org/drawingml/2006/main">
              <a:ext uri="{FF2B5EF4-FFF2-40B4-BE49-F238E27FC236}">
                <a16:creationId xmlns:a16="http://schemas.microsoft.com/office/drawing/2014/main" id="{79304D62-04C0-453B-B998-620B9D8B5F3E}"/>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WEDNESDAY 28 OCT</a:t>
            </a:r>
          </a:p>
        </p:txBody>
      </p:sp>
      <p:sp>
        <p:nvSpPr>
          <p:cNvPr id="2" name="heading">
            <a:extLst xmlns:a="http://schemas.openxmlformats.org/drawingml/2006/main">
              <a:ext uri="{FF2B5EF4-FFF2-40B4-BE49-F238E27FC236}">
                <a16:creationId xmlns:a16="http://schemas.microsoft.com/office/drawing/2014/main" id="{82A18447-4B65-4972-A0A7-CECC0E47856C}"/>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BIA BCP and DRP purposes</a:t>
            </a:r>
          </a:p>
        </p:txBody>
      </p:sp>
      <p:graphicFrame>
        <p:nvGraphicFramePr>
          <p:cNvPr id="3" name="">
            <a:extLst xmlns:a="http://schemas.openxmlformats.org/drawingml/2006/main">
              <a:ext uri="{FF2B5EF4-FFF2-40B4-BE49-F238E27FC236}">
                <a16:creationId xmlns:a16="http://schemas.microsoft.com/office/drawing/2014/main" id="{330BAD6E-0D0D-4240-AC09-61E9E1C3DF7E}"/>
              </a:ext>
            </a:extLst>
          </p:cNvPr>
          <p:cNvGraphicFramePr/>
          <p:nvPr/>
        </p:nvGraphicFramePr>
        <p:xfrm>
          <a:off xmlns:a="http://schemas.openxmlformats.org/drawingml/2006/main" x="609600" y="2114550"/>
          <a:ext xmlns:a="http://schemas.openxmlformats.org/drawingml/2006/main" cx="10972800" cy="3476625"/>
        </p:xfrm>
        <a:graphic xmlns:a="http://schemas.openxmlformats.org/drawingml/2006/main">
          <a:graphicData uri="http://schemas.openxmlformats.org/drawingml/2006/table">
            <a:tbl>
              <a:tblPr/>
              <a:tblGrid>
                <a:gridCol w="2333625"/>
                <a:gridCol w="4000500"/>
                <a:gridCol w="4638675"/>
              </a:tblGrid>
              <a:tr h="869156">
                <a:tc>
                  <a:txBody>
                    <a:bodyPr/>
                    <a:lstStyle/>
                    <a:p>
                      <a:r>
                        <a:rPr sz="1725" b="1">
                          <a:solidFill>
                            <a:srgbClr val="FFFFFF"/>
                          </a:solidFill>
                          <a:latin typeface="Arial"/>
                          <a:ea typeface="Arial"/>
                          <a:cs typeface="Arial"/>
                        </a:rPr>
                        <a:t>Concept</a:t>
                      </a:r>
                    </a:p>
                  </a:txBody>
                  <a:tcPr marL="91440" marR="91440" marT="45720" marB="45720">
                    <a:lnL w="9525">
                      <a:solidFill>
                        <a:srgbClr val="CBD5DA"/>
                      </a:solidFill>
                      <a:prstDash val="solid"/>
                    </a:lnL>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c>
                  <a:txBody>
                    <a:bodyPr/>
                    <a:lstStyle/>
                    <a:p>
                      <a:r>
                        <a:rPr sz="1725" b="1">
                          <a:solidFill>
                            <a:srgbClr val="FFFFFF"/>
                          </a:solidFill>
                          <a:latin typeface="Arial"/>
                          <a:ea typeface="Arial"/>
                          <a:cs typeface="Arial"/>
                        </a:rPr>
                        <a:t>Main question</a:t>
                      </a:r>
                    </a:p>
                  </a:txBody>
                  <a:tcPr marL="91440" marR="91440" marT="45720" marB="45720">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c>
                  <a:txBody>
                    <a:bodyPr/>
                    <a:lstStyle/>
                    <a:p>
                      <a:r>
                        <a:rPr sz="1725" b="1">
                          <a:solidFill>
                            <a:srgbClr val="FFFFFF"/>
                          </a:solidFill>
                          <a:latin typeface="Arial"/>
                          <a:ea typeface="Arial"/>
                          <a:cs typeface="Arial"/>
                        </a:rPr>
                        <a:t>Typical focus</a:t>
                      </a:r>
                    </a:p>
                  </a:txBody>
                  <a:tcPr marL="91440" marR="91440" marT="45720" marB="45720">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r>
              <a:tr h="869156">
                <a:tc>
                  <a:txBody>
                    <a:bodyPr/>
                    <a:lstStyle/>
                    <a:p>
                      <a:r>
                        <a:rPr sz="1725" b="0">
                          <a:solidFill>
                            <a:srgbClr val="102F40"/>
                          </a:solidFill>
                          <a:latin typeface="Arial"/>
                          <a:ea typeface="Arial"/>
                          <a:cs typeface="Arial"/>
                        </a:rPr>
                        <a:t>BIA</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What happens when activities stop?</a:t>
                      </a:r>
                    </a:p>
                  </a:txBody>
                  <a:tcPr marL="91440" marR="91440" marT="45720" marB="45720">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Consequences over time and priorities</a:t>
                      </a:r>
                    </a:p>
                  </a:txBody>
                  <a:tcPr marL="91440" marR="91440" marT="45720" marB="45720">
                    <a:lnR w="9525">
                      <a:solidFill>
                        <a:srgbClr val="CBD5DA"/>
                      </a:solidFill>
                      <a:prstDash val="solid"/>
                    </a:lnR>
                    <a:lnB w="9525">
                      <a:solidFill>
                        <a:srgbClr val="CBD5DA"/>
                      </a:solidFill>
                      <a:prstDash val="solid"/>
                    </a:lnB>
                    <a:solidFill>
                      <a:srgbClr val="FFFFFF"/>
                    </a:solidFill>
                  </a:tcPr>
                </a:tc>
              </a:tr>
              <a:tr h="869156">
                <a:tc>
                  <a:txBody>
                    <a:bodyPr/>
                    <a:lstStyle/>
                    <a:p>
                      <a:r>
                        <a:rPr sz="1725" b="0">
                          <a:solidFill>
                            <a:srgbClr val="102F40"/>
                          </a:solidFill>
                          <a:latin typeface="Arial"/>
                          <a:ea typeface="Arial"/>
                          <a:cs typeface="Arial"/>
                        </a:rPr>
                        <a:t>BCP</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How can priority activities continue?</a:t>
                      </a:r>
                    </a:p>
                  </a:txBody>
                  <a:tcPr marL="91440" marR="91440" marT="45720" marB="45720">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People processes facilities and services</a:t>
                      </a:r>
                    </a:p>
                  </a:txBody>
                  <a:tcPr marL="91440" marR="91440" marT="45720" marB="45720">
                    <a:lnR w="9525">
                      <a:solidFill>
                        <a:srgbClr val="CBD5DA"/>
                      </a:solidFill>
                      <a:prstDash val="solid"/>
                    </a:lnR>
                    <a:lnB w="9525">
                      <a:solidFill>
                        <a:srgbClr val="CBD5DA"/>
                      </a:solidFill>
                      <a:prstDash val="solid"/>
                    </a:lnB>
                    <a:solidFill>
                      <a:srgbClr val="EBF0F2"/>
                    </a:solidFill>
                  </a:tcPr>
                </a:tc>
              </a:tr>
              <a:tr h="869156">
                <a:tc>
                  <a:txBody>
                    <a:bodyPr/>
                    <a:lstStyle/>
                    <a:p>
                      <a:r>
                        <a:rPr sz="1725" b="0">
                          <a:solidFill>
                            <a:srgbClr val="102F40"/>
                          </a:solidFill>
                          <a:latin typeface="Arial"/>
                          <a:ea typeface="Arial"/>
                          <a:cs typeface="Arial"/>
                        </a:rPr>
                        <a:t>DRP</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How can technology capabilities recover?</a:t>
                      </a:r>
                    </a:p>
                  </a:txBody>
                  <a:tcPr marL="91440" marR="91440" marT="45720" marB="45720">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Systems data infrastructure and restoration</a:t>
                      </a:r>
                    </a:p>
                  </a:txBody>
                  <a:tcPr marL="91440" marR="91440" marT="45720" marB="45720">
                    <a:lnR w="9525">
                      <a:solidFill>
                        <a:srgbClr val="CBD5DA"/>
                      </a:solidFill>
                      <a:prstDash val="solid"/>
                    </a:lnR>
                    <a:lnB w="9525">
                      <a:solidFill>
                        <a:srgbClr val="CBD5DA"/>
                      </a:solidFill>
                      <a:prstDash val="solid"/>
                    </a:lnB>
                    <a:solidFill>
                      <a:srgbClr val="FFFFFF"/>
                    </a:solidFill>
                  </a:tcPr>
                </a:tc>
              </a:tr>
            </a:tbl>
          </a:graphicData>
        </a:graphic>
      </p:graphicFrame>
      <p:sp>
        <p:nvSpPr>
          <p:cNvPr id="4" name="footer">
            <a:extLst xmlns:a="http://schemas.openxmlformats.org/drawingml/2006/main">
              <a:ext uri="{FF2B5EF4-FFF2-40B4-BE49-F238E27FC236}">
                <a16:creationId xmlns:a16="http://schemas.microsoft.com/office/drawing/2014/main" id="{407682DA-DD68-4A42-9D3E-DDFF6DB6DCE1}"/>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2</a:t>
            </a:r>
          </a:p>
        </p:txBody>
      </p:sp>
      <p:sp>
        <p:nvSpPr>
          <p:cNvPr id="5" name="page">
            <a:extLst xmlns:a="http://schemas.openxmlformats.org/drawingml/2006/main">
              <a:ext uri="{FF2B5EF4-FFF2-40B4-BE49-F238E27FC236}">
                <a16:creationId xmlns:a16="http://schemas.microsoft.com/office/drawing/2014/main" id="{2AF065FE-56C4-4B46-A259-2E3BFFD9DFCC}"/>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26</a:t>
            </a:r>
          </a:p>
        </p:txBody>
      </p:sp>
    </p:spTree>
    <p:extLst>
      <p:ext uri="{BB962C8B-B14F-4D97-AF65-F5344CB8AC3E}">
        <p14:creationId xmlns:p14="http://schemas.microsoft.com/office/powerpoint/2010/main" val="380372085"/>
      </p:ext>
    </p:extLst>
  </p:cSld>
</p:sld>
</file>

<file path=ppt/slides/slide2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B4607771-A652-46F5-83A4-9BD40030C97F}"/>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WEDNESDAY 28 OCT</a:t>
            </a:r>
          </a:p>
        </p:txBody>
      </p:sp>
      <p:sp>
        <p:nvSpPr>
          <p:cNvPr id="2" name="heading">
            <a:extLst xmlns:a="http://schemas.openxmlformats.org/drawingml/2006/main">
              <a:ext uri="{FF2B5EF4-FFF2-40B4-BE49-F238E27FC236}">
                <a16:creationId xmlns:a16="http://schemas.microsoft.com/office/drawing/2014/main" id="{F5505880-47DB-4A84-9C1B-A3E20A041D0F}"/>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Recovery objectives and observations</a:t>
            </a:r>
          </a:p>
        </p:txBody>
      </p:sp>
      <p:sp>
        <p:nvSpPr>
          <p:cNvPr id="3" name="index-0">
            <a:extLst xmlns:a="http://schemas.openxmlformats.org/drawingml/2006/main">
              <a:ext uri="{FF2B5EF4-FFF2-40B4-BE49-F238E27FC236}">
                <a16:creationId xmlns:a16="http://schemas.microsoft.com/office/drawing/2014/main" id="{1D4E3743-CBC4-4C33-AC85-95AAF6A07070}"/>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55E8E83C-5B68-4E0D-B0DB-987973ED438D}"/>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RTO is a targeted restoration time</a:t>
            </a:r>
          </a:p>
        </p:txBody>
      </p:sp>
      <p:sp>
        <p:nvSpPr>
          <p:cNvPr id="5" name="index-1">
            <a:extLst xmlns:a="http://schemas.openxmlformats.org/drawingml/2006/main">
              <a:ext uri="{FF2B5EF4-FFF2-40B4-BE49-F238E27FC236}">
                <a16:creationId xmlns:a16="http://schemas.microsoft.com/office/drawing/2014/main" id="{247B8C62-AE63-4752-9D4D-CDFFBBE70E1D}"/>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77070661-398B-4959-B0F6-AB971B0C21D7}"/>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RPO concerns the recoverable data point</a:t>
            </a:r>
          </a:p>
        </p:txBody>
      </p:sp>
      <p:sp>
        <p:nvSpPr>
          <p:cNvPr id="7" name="index-2">
            <a:extLst xmlns:a="http://schemas.openxmlformats.org/drawingml/2006/main">
              <a:ext uri="{FF2B5EF4-FFF2-40B4-BE49-F238E27FC236}">
                <a16:creationId xmlns:a16="http://schemas.microsoft.com/office/drawing/2014/main" id="{885FA54C-5742-4503-9C35-F408173CEC24}"/>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2C7FF52C-4CFA-4A65-9EEE-BBC3FFCB8294}"/>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MTD marks unacceptable disruption duration</a:t>
            </a:r>
          </a:p>
        </p:txBody>
      </p:sp>
      <p:sp>
        <p:nvSpPr>
          <p:cNvPr id="9" name="index-3">
            <a:extLst xmlns:a="http://schemas.openxmlformats.org/drawingml/2006/main">
              <a:ext uri="{FF2B5EF4-FFF2-40B4-BE49-F238E27FC236}">
                <a16:creationId xmlns:a16="http://schemas.microsoft.com/office/drawing/2014/main" id="{A910380D-412F-45CF-8A53-128CFCBB5E52}"/>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E24AC4C5-02BE-4EAA-A976-BDE6D207FFE6}"/>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Test results must be compared with stated objectives</a:t>
            </a:r>
          </a:p>
        </p:txBody>
      </p:sp>
      <p:sp>
        <p:nvSpPr>
          <p:cNvPr id="11" name="footer">
            <a:extLst xmlns:a="http://schemas.openxmlformats.org/drawingml/2006/main">
              <a:ext uri="{FF2B5EF4-FFF2-40B4-BE49-F238E27FC236}">
                <a16:creationId xmlns:a16="http://schemas.microsoft.com/office/drawing/2014/main" id="{C3A551E2-257B-40F4-A34E-3976D245D3AB}"/>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2</a:t>
            </a:r>
          </a:p>
        </p:txBody>
      </p:sp>
      <p:sp>
        <p:nvSpPr>
          <p:cNvPr id="12" name="page">
            <a:extLst xmlns:a="http://schemas.openxmlformats.org/drawingml/2006/main">
              <a:ext uri="{FF2B5EF4-FFF2-40B4-BE49-F238E27FC236}">
                <a16:creationId xmlns:a16="http://schemas.microsoft.com/office/drawing/2014/main" id="{840C4025-3A05-4B06-9FA4-393D8F099F30}"/>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27</a:t>
            </a:r>
          </a:p>
        </p:txBody>
      </p:sp>
    </p:spTree>
    <p:extLst>
      <p:ext uri="{BB962C8B-B14F-4D97-AF65-F5344CB8AC3E}">
        <p14:creationId xmlns:p14="http://schemas.microsoft.com/office/powerpoint/2010/main" val="330338543"/>
      </p:ext>
    </p:extLst>
  </p:cSld>
</p:sld>
</file>

<file path=ppt/slides/slide2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4A1EFB96-7664-476B-8332-95A91A07D167}"/>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WEDNESDAY 28 OCT</a:t>
            </a:r>
          </a:p>
        </p:txBody>
      </p:sp>
      <p:sp>
        <p:nvSpPr>
          <p:cNvPr id="2" name="heading">
            <a:extLst xmlns:a="http://schemas.openxmlformats.org/drawingml/2006/main">
              <a:ext uri="{FF2B5EF4-FFF2-40B4-BE49-F238E27FC236}">
                <a16:creationId xmlns:a16="http://schemas.microsoft.com/office/drawing/2014/main" id="{9E24D70B-BE57-4874-BD4D-4DD28A57DC10}"/>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B6 recovery reasoning check</a:t>
            </a:r>
          </a:p>
        </p:txBody>
      </p:sp>
      <p:sp>
        <p:nvSpPr>
          <p:cNvPr id="3" name="index-0">
            <a:extLst xmlns:a="http://schemas.openxmlformats.org/drawingml/2006/main">
              <a:ext uri="{FF2B5EF4-FFF2-40B4-BE49-F238E27FC236}">
                <a16:creationId xmlns:a16="http://schemas.microsoft.com/office/drawing/2014/main" id="{5CC5D009-00D5-4C17-A38A-FC30FFAA60FF}"/>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692AEDAF-026A-41B9-80F5-84B9068D230C}"/>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Supplied RPO 1 hour and RTO 4 hours</a:t>
            </a:r>
          </a:p>
        </p:txBody>
      </p:sp>
      <p:sp>
        <p:nvSpPr>
          <p:cNvPr id="5" name="index-1">
            <a:extLst xmlns:a="http://schemas.openxmlformats.org/drawingml/2006/main">
              <a:ext uri="{FF2B5EF4-FFF2-40B4-BE49-F238E27FC236}">
                <a16:creationId xmlns:a16="http://schemas.microsoft.com/office/drawing/2014/main" id="{0D087FF6-FE6E-4927-A88D-54195BC4A543}"/>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AFE145A8-1F10-44D4-A287-5E3439AB6052}"/>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Supplied MTD 8 hours</a:t>
            </a:r>
          </a:p>
        </p:txBody>
      </p:sp>
      <p:sp>
        <p:nvSpPr>
          <p:cNvPr id="7" name="index-2">
            <a:extLst xmlns:a="http://schemas.openxmlformats.org/drawingml/2006/main">
              <a:ext uri="{FF2B5EF4-FFF2-40B4-BE49-F238E27FC236}">
                <a16:creationId xmlns:a16="http://schemas.microsoft.com/office/drawing/2014/main" id="{4ABF15E5-6947-4E47-ADA8-4943DD09D3FA}"/>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7A4CC6CE-270D-4FCA-B99F-5C0F7CE363E1}"/>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Observed restore 6 hours with data 30 minutes old</a:t>
            </a:r>
          </a:p>
        </p:txBody>
      </p:sp>
      <p:sp>
        <p:nvSpPr>
          <p:cNvPr id="9" name="index-3">
            <a:extLst xmlns:a="http://schemas.openxmlformats.org/drawingml/2006/main">
              <a:ext uri="{FF2B5EF4-FFF2-40B4-BE49-F238E27FC236}">
                <a16:creationId xmlns:a16="http://schemas.microsoft.com/office/drawing/2014/main" id="{35F149A8-EEE6-41FB-82C1-B0223A5EC0E7}"/>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545A48D6-BDFC-4F8D-97F5-C8E21ED0C511}"/>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25 minutes to explain separate comparisons</a:t>
            </a:r>
          </a:p>
        </p:txBody>
      </p:sp>
      <p:sp>
        <p:nvSpPr>
          <p:cNvPr id="11" name="footer">
            <a:extLst xmlns:a="http://schemas.openxmlformats.org/drawingml/2006/main">
              <a:ext uri="{FF2B5EF4-FFF2-40B4-BE49-F238E27FC236}">
                <a16:creationId xmlns:a16="http://schemas.microsoft.com/office/drawing/2014/main" id="{18A61DC4-32FA-4C2F-9FC9-FE9EDED68D4A}"/>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2</a:t>
            </a:r>
          </a:p>
        </p:txBody>
      </p:sp>
      <p:sp>
        <p:nvSpPr>
          <p:cNvPr id="12" name="page">
            <a:extLst xmlns:a="http://schemas.openxmlformats.org/drawingml/2006/main">
              <a:ext uri="{FF2B5EF4-FFF2-40B4-BE49-F238E27FC236}">
                <a16:creationId xmlns:a16="http://schemas.microsoft.com/office/drawing/2014/main" id="{B973423A-E22A-4695-810E-E7044CAF70A4}"/>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28</a:t>
            </a:r>
          </a:p>
        </p:txBody>
      </p:sp>
    </p:spTree>
    <p:extLst>
      <p:ext uri="{BB962C8B-B14F-4D97-AF65-F5344CB8AC3E}">
        <p14:creationId xmlns:p14="http://schemas.microsoft.com/office/powerpoint/2010/main" val="909431397"/>
      </p:ext>
    </p:extLst>
  </p:cSld>
</p:sld>
</file>

<file path=ppt/slides/slide2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6F3B2412-8FA3-4E9E-8EFB-8B90F44001E8}"/>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WEDNESDAY 28 OCT</a:t>
            </a:r>
          </a:p>
        </p:txBody>
      </p:sp>
      <p:sp>
        <p:nvSpPr>
          <p:cNvPr id="2" name="heading">
            <a:extLst xmlns:a="http://schemas.openxmlformats.org/drawingml/2006/main">
              <a:ext uri="{FF2B5EF4-FFF2-40B4-BE49-F238E27FC236}">
                <a16:creationId xmlns:a16="http://schemas.microsoft.com/office/drawing/2014/main" id="{778905CD-2CA0-44F9-95C3-1401AC1C5169}"/>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Criticality and evidence gaps</a:t>
            </a:r>
          </a:p>
        </p:txBody>
      </p:sp>
      <p:sp>
        <p:nvSpPr>
          <p:cNvPr id="3" name="index-0">
            <a:extLst xmlns:a="http://schemas.openxmlformats.org/drawingml/2006/main">
              <a:ext uri="{FF2B5EF4-FFF2-40B4-BE49-F238E27FC236}">
                <a16:creationId xmlns:a16="http://schemas.microsoft.com/office/drawing/2014/main" id="{84110459-D663-4A46-A694-052E158FF4A0}"/>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1ECEFEAD-D7C1-4009-B91D-EBD07E5C2A8B}"/>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Price alone does not establish business priority</a:t>
            </a:r>
          </a:p>
        </p:txBody>
      </p:sp>
      <p:sp>
        <p:nvSpPr>
          <p:cNvPr id="5" name="index-1">
            <a:extLst xmlns:a="http://schemas.openxmlformats.org/drawingml/2006/main">
              <a:ext uri="{FF2B5EF4-FFF2-40B4-BE49-F238E27FC236}">
                <a16:creationId xmlns:a16="http://schemas.microsoft.com/office/drawing/2014/main" id="{49AB910E-3664-4702-B14F-0CDB601D6A95}"/>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1685FA8E-3B96-48E1-A41C-E66BF38D160C}"/>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Dependencies can affect several activities</a:t>
            </a:r>
          </a:p>
        </p:txBody>
      </p:sp>
      <p:sp>
        <p:nvSpPr>
          <p:cNvPr id="7" name="index-2">
            <a:extLst xmlns:a="http://schemas.openxmlformats.org/drawingml/2006/main">
              <a:ext uri="{FF2B5EF4-FFF2-40B4-BE49-F238E27FC236}">
                <a16:creationId xmlns:a16="http://schemas.microsoft.com/office/drawing/2014/main" id="{3C600019-3A33-482E-AF1D-F3351143789B}"/>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E03E47AD-182F-44BF-BB5E-6519FD3020EB}"/>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Business owners explain consequences over time</a:t>
            </a:r>
          </a:p>
        </p:txBody>
      </p:sp>
      <p:sp>
        <p:nvSpPr>
          <p:cNvPr id="9" name="index-3">
            <a:extLst xmlns:a="http://schemas.openxmlformats.org/drawingml/2006/main">
              <a:ext uri="{FF2B5EF4-FFF2-40B4-BE49-F238E27FC236}">
                <a16:creationId xmlns:a16="http://schemas.microsoft.com/office/drawing/2014/main" id="{0C1C5A11-510D-4929-8516-D9248A5F29D8}"/>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7A3688F5-C177-4627-B0A6-61D0ED6A1C5B}"/>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Missing facts become questions rather than findings</a:t>
            </a:r>
          </a:p>
        </p:txBody>
      </p:sp>
      <p:sp>
        <p:nvSpPr>
          <p:cNvPr id="11" name="footer">
            <a:extLst xmlns:a="http://schemas.openxmlformats.org/drawingml/2006/main">
              <a:ext uri="{FF2B5EF4-FFF2-40B4-BE49-F238E27FC236}">
                <a16:creationId xmlns:a16="http://schemas.microsoft.com/office/drawing/2014/main" id="{C02D6FC9-C5E9-47C0-BFDC-A2CE1F83BC94}"/>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2</a:t>
            </a:r>
          </a:p>
        </p:txBody>
      </p:sp>
      <p:sp>
        <p:nvSpPr>
          <p:cNvPr id="12" name="page">
            <a:extLst xmlns:a="http://schemas.openxmlformats.org/drawingml/2006/main">
              <a:ext uri="{FF2B5EF4-FFF2-40B4-BE49-F238E27FC236}">
                <a16:creationId xmlns:a16="http://schemas.microsoft.com/office/drawing/2014/main" id="{087D9FB2-2011-49F2-A68B-92824F1EA611}"/>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29</a:t>
            </a:r>
          </a:p>
        </p:txBody>
      </p:sp>
    </p:spTree>
    <p:extLst>
      <p:ext uri="{BB962C8B-B14F-4D97-AF65-F5344CB8AC3E}">
        <p14:creationId xmlns:p14="http://schemas.microsoft.com/office/powerpoint/2010/main" val="99067712"/>
      </p:ext>
    </p:extLst>
  </p:cSld>
</p:sld>
</file>

<file path=ppt/slides/slide3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BAAD7D6E-56BA-48F3-ACB1-B5C24EB53C1B}"/>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WEDNESDAY 28 OCT</a:t>
            </a:r>
          </a:p>
        </p:txBody>
      </p:sp>
      <p:sp>
        <p:nvSpPr>
          <p:cNvPr id="2" name="heading">
            <a:extLst xmlns:a="http://schemas.openxmlformats.org/drawingml/2006/main">
              <a:ext uri="{FF2B5EF4-FFF2-40B4-BE49-F238E27FC236}">
                <a16:creationId xmlns:a16="http://schemas.microsoft.com/office/drawing/2014/main" id="{ECEB6510-9714-4FEB-A74D-9790966A09CA}"/>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Wednesday exit and handoff</a:t>
            </a:r>
          </a:p>
        </p:txBody>
      </p:sp>
      <p:sp>
        <p:nvSpPr>
          <p:cNvPr id="3" name="index-0">
            <a:extLst xmlns:a="http://schemas.openxmlformats.org/drawingml/2006/main">
              <a:ext uri="{FF2B5EF4-FFF2-40B4-BE49-F238E27FC236}">
                <a16:creationId xmlns:a16="http://schemas.microsoft.com/office/drawing/2014/main" id="{B08357BC-5B85-42E2-A9A2-B387367BC8B6}"/>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B106675D-3F9B-4EE3-8E16-61167549E5BF}"/>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Activity and dependency</a:t>
            </a:r>
          </a:p>
        </p:txBody>
      </p:sp>
      <p:sp>
        <p:nvSpPr>
          <p:cNvPr id="5" name="index-1">
            <a:extLst xmlns:a="http://schemas.openxmlformats.org/drawingml/2006/main">
              <a:ext uri="{FF2B5EF4-FFF2-40B4-BE49-F238E27FC236}">
                <a16:creationId xmlns:a16="http://schemas.microsoft.com/office/drawing/2014/main" id="{2CB46F47-1505-4CC3-BC0E-EC92C9FB379F}"/>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AA031CC6-508D-4AA3-A6A7-67C5DEF7D709}"/>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BIA BCP and DRP distinctions</a:t>
            </a:r>
          </a:p>
        </p:txBody>
      </p:sp>
      <p:sp>
        <p:nvSpPr>
          <p:cNvPr id="7" name="index-2">
            <a:extLst xmlns:a="http://schemas.openxmlformats.org/drawingml/2006/main">
              <a:ext uri="{FF2B5EF4-FFF2-40B4-BE49-F238E27FC236}">
                <a16:creationId xmlns:a16="http://schemas.microsoft.com/office/drawing/2014/main" id="{3864059F-5336-4296-A4C3-7BE8425BCE3E}"/>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8F849A64-5898-43A6-A0E8-E9EDE40622F0}"/>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Data recency versus restoration duration</a:t>
            </a:r>
          </a:p>
        </p:txBody>
      </p:sp>
      <p:sp>
        <p:nvSpPr>
          <p:cNvPr id="9" name="index-3">
            <a:extLst xmlns:a="http://schemas.openxmlformats.org/drawingml/2006/main">
              <a:ext uri="{FF2B5EF4-FFF2-40B4-BE49-F238E27FC236}">
                <a16:creationId xmlns:a16="http://schemas.microsoft.com/office/drawing/2014/main" id="{6A3AEEC8-14E2-4E39-80D3-3C7C84D05C9F}"/>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94C6DDC1-075F-4435-935E-E6E3A30A5643}"/>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Prepare Chapter 8 threats and vulnerabilities</a:t>
            </a:r>
          </a:p>
        </p:txBody>
      </p:sp>
      <p:sp>
        <p:nvSpPr>
          <p:cNvPr id="11" name="footer">
            <a:extLst xmlns:a="http://schemas.openxmlformats.org/drawingml/2006/main">
              <a:ext uri="{FF2B5EF4-FFF2-40B4-BE49-F238E27FC236}">
                <a16:creationId xmlns:a16="http://schemas.microsoft.com/office/drawing/2014/main" id="{0F247089-6C96-418D-894B-0EB48106B7DA}"/>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2</a:t>
            </a:r>
          </a:p>
        </p:txBody>
      </p:sp>
      <p:sp>
        <p:nvSpPr>
          <p:cNvPr id="12" name="page">
            <a:extLst xmlns:a="http://schemas.openxmlformats.org/drawingml/2006/main">
              <a:ext uri="{FF2B5EF4-FFF2-40B4-BE49-F238E27FC236}">
                <a16:creationId xmlns:a16="http://schemas.microsoft.com/office/drawing/2014/main" id="{2464C317-9CB4-42B7-A0AF-CA8045C46002}"/>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30</a:t>
            </a:r>
          </a:p>
        </p:txBody>
      </p:sp>
    </p:spTree>
    <p:extLst>
      <p:ext uri="{BB962C8B-B14F-4D97-AF65-F5344CB8AC3E}">
        <p14:creationId xmlns:p14="http://schemas.microsoft.com/office/powerpoint/2010/main" val="1404287168"/>
      </p:ext>
    </p:extLst>
  </p:cSld>
</p:sld>
</file>

<file path=ppt/slides/slide3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A9AEF4A4-04F2-41A4-940A-66ADE64BBD50}"/>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THURSDAY 29 OCT</a:t>
            </a:r>
          </a:p>
        </p:txBody>
      </p:sp>
      <p:sp>
        <p:nvSpPr>
          <p:cNvPr id="2" name="heading">
            <a:extLst xmlns:a="http://schemas.openxmlformats.org/drawingml/2006/main">
              <a:ext uri="{FF2B5EF4-FFF2-40B4-BE49-F238E27FC236}">
                <a16:creationId xmlns:a16="http://schemas.microsoft.com/office/drawing/2014/main" id="{2DBAC0D9-F199-4DAA-9293-A5BA678C24BE}"/>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Thursday learning route</a:t>
            </a:r>
          </a:p>
        </p:txBody>
      </p:sp>
      <p:sp>
        <p:nvSpPr>
          <p:cNvPr id="3" name="index-0">
            <a:extLst xmlns:a="http://schemas.openxmlformats.org/drawingml/2006/main">
              <a:ext uri="{FF2B5EF4-FFF2-40B4-BE49-F238E27FC236}">
                <a16:creationId xmlns:a16="http://schemas.microsoft.com/office/drawing/2014/main" id="{7DFDCEF5-C4A6-438D-BBFF-0EA40407A177}"/>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0388FA5E-2C1D-48AC-8EE3-2D2B96C064B3}"/>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Joe Ingles continues the weekly sequence</a:t>
            </a:r>
          </a:p>
        </p:txBody>
      </p:sp>
      <p:sp>
        <p:nvSpPr>
          <p:cNvPr id="5" name="index-1">
            <a:extLst xmlns:a="http://schemas.openxmlformats.org/drawingml/2006/main">
              <a:ext uri="{FF2B5EF4-FFF2-40B4-BE49-F238E27FC236}">
                <a16:creationId xmlns:a16="http://schemas.microsoft.com/office/drawing/2014/main" id="{952EDA6A-B4FF-41A6-B43F-968849809145}"/>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5B6C3126-A4DF-4FC0-9282-F49C76C6444A}"/>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B7 threat and vulnerability evidence</a:t>
            </a:r>
          </a:p>
        </p:txBody>
      </p:sp>
      <p:sp>
        <p:nvSpPr>
          <p:cNvPr id="7" name="index-2">
            <a:extLst xmlns:a="http://schemas.openxmlformats.org/drawingml/2006/main">
              <a:ext uri="{FF2B5EF4-FFF2-40B4-BE49-F238E27FC236}">
                <a16:creationId xmlns:a16="http://schemas.microsoft.com/office/drawing/2014/main" id="{BEC71923-D3CA-47E6-AEE3-7411012C8C1E}"/>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DD73EEF9-D033-40F9-942A-0064D78C9898}"/>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B8 gap analysis and verification</a:t>
            </a:r>
          </a:p>
        </p:txBody>
      </p:sp>
      <p:sp>
        <p:nvSpPr>
          <p:cNvPr id="9" name="index-3">
            <a:extLst xmlns:a="http://schemas.openxmlformats.org/drawingml/2006/main">
              <a:ext uri="{FF2B5EF4-FFF2-40B4-BE49-F238E27FC236}">
                <a16:creationId xmlns:a16="http://schemas.microsoft.com/office/drawing/2014/main" id="{3C3AE030-5C99-4580-9097-33C598D11E4C}"/>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60E9C5CE-9687-45D8-963B-16A64F8C66DC}"/>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Independent questions and Sunday checklist</a:t>
            </a:r>
          </a:p>
        </p:txBody>
      </p:sp>
      <p:sp>
        <p:nvSpPr>
          <p:cNvPr id="11" name="footer">
            <a:extLst xmlns:a="http://schemas.openxmlformats.org/drawingml/2006/main">
              <a:ext uri="{FF2B5EF4-FFF2-40B4-BE49-F238E27FC236}">
                <a16:creationId xmlns:a16="http://schemas.microsoft.com/office/drawing/2014/main" id="{68AD0FBE-239C-4184-BF78-DC1A5DA381F4}"/>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2</a:t>
            </a:r>
          </a:p>
        </p:txBody>
      </p:sp>
      <p:sp>
        <p:nvSpPr>
          <p:cNvPr id="12" name="page">
            <a:extLst xmlns:a="http://schemas.openxmlformats.org/drawingml/2006/main">
              <a:ext uri="{FF2B5EF4-FFF2-40B4-BE49-F238E27FC236}">
                <a16:creationId xmlns:a16="http://schemas.microsoft.com/office/drawing/2014/main" id="{15AC6F82-190A-46F0-825B-F2A3A0F92A32}"/>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31</a:t>
            </a:r>
          </a:p>
        </p:txBody>
      </p:sp>
    </p:spTree>
    <p:extLst>
      <p:ext uri="{BB962C8B-B14F-4D97-AF65-F5344CB8AC3E}">
        <p14:creationId xmlns:p14="http://schemas.microsoft.com/office/powerpoint/2010/main" val="1593995025"/>
      </p:ext>
    </p:extLst>
  </p:cSld>
</p:sld>
</file>

<file path=ppt/slides/slide3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CE99C235-794F-4679-AB65-DE7FC166C009}"/>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THURSDAY 29 OCT</a:t>
            </a:r>
          </a:p>
        </p:txBody>
      </p:sp>
      <p:sp>
        <p:nvSpPr>
          <p:cNvPr id="2" name="heading">
            <a:extLst xmlns:a="http://schemas.openxmlformats.org/drawingml/2006/main">
              <a:ext uri="{FF2B5EF4-FFF2-40B4-BE49-F238E27FC236}">
                <a16:creationId xmlns:a16="http://schemas.microsoft.com/office/drawing/2014/main" id="{FC293E93-1A4D-4B1F-A6D2-F993AF5299BA}"/>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Threat vulnerability and exploit</a:t>
            </a:r>
          </a:p>
        </p:txBody>
      </p:sp>
      <p:sp>
        <p:nvSpPr>
          <p:cNvPr id="3" name="index-0">
            <a:extLst xmlns:a="http://schemas.openxmlformats.org/drawingml/2006/main">
              <a:ext uri="{FF2B5EF4-FFF2-40B4-BE49-F238E27FC236}">
                <a16:creationId xmlns:a16="http://schemas.microsoft.com/office/drawing/2014/main" id="{572CAACB-EAD7-4F98-9AFC-C6A90C190F43}"/>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88EA9D8D-EF37-45F9-952C-AC71320FD949}"/>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Threat events can cause harm</a:t>
            </a:r>
          </a:p>
        </p:txBody>
      </p:sp>
      <p:sp>
        <p:nvSpPr>
          <p:cNvPr id="5" name="index-1">
            <a:extLst xmlns:a="http://schemas.openxmlformats.org/drawingml/2006/main">
              <a:ext uri="{FF2B5EF4-FFF2-40B4-BE49-F238E27FC236}">
                <a16:creationId xmlns:a16="http://schemas.microsoft.com/office/drawing/2014/main" id="{541540AE-9572-4CCE-ACB3-84B0CB505386}"/>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B1D307D3-5932-47F2-94F4-3759DF6FCAA1}"/>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Vulnerabilities provide enabling weaknesses</a:t>
            </a:r>
          </a:p>
        </p:txBody>
      </p:sp>
      <p:sp>
        <p:nvSpPr>
          <p:cNvPr id="7" name="index-2">
            <a:extLst xmlns:a="http://schemas.openxmlformats.org/drawingml/2006/main">
              <a:ext uri="{FF2B5EF4-FFF2-40B4-BE49-F238E27FC236}">
                <a16:creationId xmlns:a16="http://schemas.microsoft.com/office/drawing/2014/main" id="{B99A5D41-055D-4D6A-98E1-5E02C18B4DFF}"/>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C822CC4E-5B2A-47FD-9F01-0EC3757CF4B6}"/>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Exploitation takes advantage of a weakness</a:t>
            </a:r>
          </a:p>
        </p:txBody>
      </p:sp>
      <p:sp>
        <p:nvSpPr>
          <p:cNvPr id="9" name="index-3">
            <a:extLst xmlns:a="http://schemas.openxmlformats.org/drawingml/2006/main">
              <a:ext uri="{FF2B5EF4-FFF2-40B4-BE49-F238E27FC236}">
                <a16:creationId xmlns:a16="http://schemas.microsoft.com/office/drawing/2014/main" id="{963B816D-EF3A-457A-B538-3560FFEAEF0F}"/>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D7E596E5-9D7A-40AC-9115-1D311E6E1AD0}"/>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Observed attempts do not establish successful compromise</a:t>
            </a:r>
          </a:p>
        </p:txBody>
      </p:sp>
      <p:sp>
        <p:nvSpPr>
          <p:cNvPr id="11" name="footer">
            <a:extLst xmlns:a="http://schemas.openxmlformats.org/drawingml/2006/main">
              <a:ext uri="{FF2B5EF4-FFF2-40B4-BE49-F238E27FC236}">
                <a16:creationId xmlns:a16="http://schemas.microsoft.com/office/drawing/2014/main" id="{F3AE6EE3-44F1-42F7-9A81-5FDF7F582BA0}"/>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2</a:t>
            </a:r>
          </a:p>
        </p:txBody>
      </p:sp>
      <p:sp>
        <p:nvSpPr>
          <p:cNvPr id="12" name="page">
            <a:extLst xmlns:a="http://schemas.openxmlformats.org/drawingml/2006/main">
              <a:ext uri="{FF2B5EF4-FFF2-40B4-BE49-F238E27FC236}">
                <a16:creationId xmlns:a16="http://schemas.microsoft.com/office/drawing/2014/main" id="{1C964E09-7285-4FEF-A1B6-725C148C6175}"/>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32</a:t>
            </a:r>
          </a:p>
        </p:txBody>
      </p:sp>
    </p:spTree>
    <p:extLst>
      <p:ext uri="{BB962C8B-B14F-4D97-AF65-F5344CB8AC3E}">
        <p14:creationId xmlns:p14="http://schemas.microsoft.com/office/powerpoint/2010/main" val="1257403531"/>
      </p:ext>
    </p:extLst>
  </p:cSld>
</p:sld>
</file>

<file path=ppt/slides/slide3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6" name="section">
            <a:extLst xmlns:a="http://schemas.openxmlformats.org/drawingml/2006/main">
              <a:ext uri="{FF2B5EF4-FFF2-40B4-BE49-F238E27FC236}">
                <a16:creationId xmlns:a16="http://schemas.microsoft.com/office/drawing/2014/main" id="{060BD652-35D6-41C8-96C4-29A605F26384}"/>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THURSDAY 29 OCT</a:t>
            </a:r>
          </a:p>
        </p:txBody>
      </p:sp>
      <p:sp>
        <p:nvSpPr>
          <p:cNvPr id="2" name="heading">
            <a:extLst xmlns:a="http://schemas.openxmlformats.org/drawingml/2006/main">
              <a:ext uri="{FF2B5EF4-FFF2-40B4-BE49-F238E27FC236}">
                <a16:creationId xmlns:a16="http://schemas.microsoft.com/office/drawing/2014/main" id="{1D6CF2C8-3D28-41A9-9E5C-667D1661B56C}"/>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Assessment techniques and authorization</a:t>
            </a:r>
          </a:p>
        </p:txBody>
      </p:sp>
      <p:graphicFrame>
        <p:nvGraphicFramePr>
          <p:cNvPr id="3" name="">
            <a:extLst xmlns:a="http://schemas.openxmlformats.org/drawingml/2006/main">
              <a:ext uri="{FF2B5EF4-FFF2-40B4-BE49-F238E27FC236}">
                <a16:creationId xmlns:a16="http://schemas.microsoft.com/office/drawing/2014/main" id="{AA54A71E-D71A-4865-850F-D4320C66F110}"/>
              </a:ext>
            </a:extLst>
          </p:cNvPr>
          <p:cNvGraphicFramePr/>
          <p:nvPr/>
        </p:nvGraphicFramePr>
        <p:xfrm>
          <a:off xmlns:a="http://schemas.openxmlformats.org/drawingml/2006/main" x="609600" y="2114550"/>
          <a:ext xmlns:a="http://schemas.openxmlformats.org/drawingml/2006/main" cx="10972800" cy="3476625"/>
        </p:xfrm>
        <a:graphic xmlns:a="http://schemas.openxmlformats.org/drawingml/2006/main">
          <a:graphicData uri="http://schemas.openxmlformats.org/drawingml/2006/table">
            <a:tbl>
              <a:tblPr/>
              <a:tblGrid>
                <a:gridCol w="2333625"/>
                <a:gridCol w="4000500"/>
                <a:gridCol w="4638675"/>
              </a:tblGrid>
              <a:tr h="695325">
                <a:tc>
                  <a:txBody>
                    <a:bodyPr/>
                    <a:lstStyle/>
                    <a:p>
                      <a:r>
                        <a:rPr sz="1725" b="1">
                          <a:solidFill>
                            <a:srgbClr val="FFFFFF"/>
                          </a:solidFill>
                          <a:latin typeface="Arial"/>
                          <a:ea typeface="Arial"/>
                          <a:cs typeface="Arial"/>
                        </a:rPr>
                        <a:t>Technique</a:t>
                      </a:r>
                    </a:p>
                  </a:txBody>
                  <a:tcPr marL="91440" marR="91440" marT="45720" marB="45720">
                    <a:lnL w="9525">
                      <a:solidFill>
                        <a:srgbClr val="CBD5DA"/>
                      </a:solidFill>
                      <a:prstDash val="solid"/>
                    </a:lnL>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c>
                  <a:txBody>
                    <a:bodyPr/>
                    <a:lstStyle/>
                    <a:p>
                      <a:r>
                        <a:rPr sz="1725" b="1">
                          <a:solidFill>
                            <a:srgbClr val="FFFFFF"/>
                          </a:solidFill>
                          <a:latin typeface="Arial"/>
                          <a:ea typeface="Arial"/>
                          <a:cs typeface="Arial"/>
                        </a:rPr>
                        <a:t>Useful evidence</a:t>
                      </a:r>
                    </a:p>
                  </a:txBody>
                  <a:tcPr marL="91440" marR="91440" marT="45720" marB="45720">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c>
                  <a:txBody>
                    <a:bodyPr/>
                    <a:lstStyle/>
                    <a:p>
                      <a:r>
                        <a:rPr sz="1725" b="1">
                          <a:solidFill>
                            <a:srgbClr val="FFFFFF"/>
                          </a:solidFill>
                          <a:latin typeface="Arial"/>
                          <a:ea typeface="Arial"/>
                          <a:cs typeface="Arial"/>
                        </a:rPr>
                        <a:t>Boundary or limitation</a:t>
                      </a:r>
                    </a:p>
                  </a:txBody>
                  <a:tcPr marL="91440" marR="91440" marT="45720" marB="45720">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r>
              <a:tr h="695325">
                <a:tc>
                  <a:txBody>
                    <a:bodyPr/>
                    <a:lstStyle/>
                    <a:p>
                      <a:r>
                        <a:rPr sz="1725" b="0">
                          <a:solidFill>
                            <a:srgbClr val="102F40"/>
                          </a:solidFill>
                          <a:latin typeface="Arial"/>
                          <a:ea typeface="Arial"/>
                          <a:cs typeface="Arial"/>
                        </a:rPr>
                        <a:t>Document review</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Policies diagrams inventories</a:t>
                      </a:r>
                    </a:p>
                  </a:txBody>
                  <a:tcPr marL="91440" marR="91440" marT="45720" marB="45720">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May be outdated or incomplete</a:t>
                      </a:r>
                    </a:p>
                  </a:txBody>
                  <a:tcPr marL="91440" marR="91440" marT="45720" marB="45720">
                    <a:lnR w="9525">
                      <a:solidFill>
                        <a:srgbClr val="CBD5DA"/>
                      </a:solidFill>
                      <a:prstDash val="solid"/>
                    </a:lnR>
                    <a:lnB w="9525">
                      <a:solidFill>
                        <a:srgbClr val="CBD5DA"/>
                      </a:solidFill>
                      <a:prstDash val="solid"/>
                    </a:lnB>
                    <a:solidFill>
                      <a:srgbClr val="FFFFFF"/>
                    </a:solidFill>
                  </a:tcPr>
                </a:tc>
              </a:tr>
              <a:tr h="695325">
                <a:tc>
                  <a:txBody>
                    <a:bodyPr/>
                    <a:lstStyle/>
                    <a:p>
                      <a:r>
                        <a:rPr sz="1725" b="0">
                          <a:solidFill>
                            <a:srgbClr val="102F40"/>
                          </a:solidFill>
                          <a:latin typeface="Arial"/>
                          <a:ea typeface="Arial"/>
                          <a:cs typeface="Arial"/>
                        </a:rPr>
                        <a:t>Interview</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Roles and reported practices</a:t>
                      </a:r>
                    </a:p>
                  </a:txBody>
                  <a:tcPr marL="91440" marR="91440" marT="45720" marB="45720">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Needs corroboration</a:t>
                      </a:r>
                    </a:p>
                  </a:txBody>
                  <a:tcPr marL="91440" marR="91440" marT="45720" marB="45720">
                    <a:lnR w="9525">
                      <a:solidFill>
                        <a:srgbClr val="CBD5DA"/>
                      </a:solidFill>
                      <a:prstDash val="solid"/>
                    </a:lnR>
                    <a:lnB w="9525">
                      <a:solidFill>
                        <a:srgbClr val="CBD5DA"/>
                      </a:solidFill>
                      <a:prstDash val="solid"/>
                    </a:lnB>
                    <a:solidFill>
                      <a:srgbClr val="EBF0F2"/>
                    </a:solidFill>
                  </a:tcPr>
                </a:tc>
              </a:tr>
              <a:tr h="695325">
                <a:tc>
                  <a:txBody>
                    <a:bodyPr/>
                    <a:lstStyle/>
                    <a:p>
                      <a:r>
                        <a:rPr sz="1725" b="0">
                          <a:solidFill>
                            <a:srgbClr val="102F40"/>
                          </a:solidFill>
                          <a:latin typeface="Arial"/>
                          <a:ea typeface="Arial"/>
                          <a:cs typeface="Arial"/>
                        </a:rPr>
                        <a:t>Configuration review</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Observed settings</a:t>
                      </a:r>
                    </a:p>
                  </a:txBody>
                  <a:tcPr marL="91440" marR="91440" marT="45720" marB="45720">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Time and account scope matter</a:t>
                      </a:r>
                    </a:p>
                  </a:txBody>
                  <a:tcPr marL="91440" marR="91440" marT="45720" marB="45720">
                    <a:lnR w="9525">
                      <a:solidFill>
                        <a:srgbClr val="CBD5DA"/>
                      </a:solidFill>
                      <a:prstDash val="solid"/>
                    </a:lnR>
                    <a:lnB w="9525">
                      <a:solidFill>
                        <a:srgbClr val="CBD5DA"/>
                      </a:solidFill>
                      <a:prstDash val="solid"/>
                    </a:lnB>
                    <a:solidFill>
                      <a:srgbClr val="FFFFFF"/>
                    </a:solidFill>
                  </a:tcPr>
                </a:tc>
              </a:tr>
              <a:tr h="695325">
                <a:tc>
                  <a:txBody>
                    <a:bodyPr/>
                    <a:lstStyle/>
                    <a:p>
                      <a:r>
                        <a:rPr sz="1725" b="0">
                          <a:solidFill>
                            <a:srgbClr val="102F40"/>
                          </a:solidFill>
                          <a:latin typeface="Arial"/>
                          <a:ea typeface="Arial"/>
                          <a:cs typeface="Arial"/>
                        </a:rPr>
                        <a:t>Authorized testing</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Observed test behavior</a:t>
                      </a:r>
                    </a:p>
                  </a:txBody>
                  <a:tcPr marL="91440" marR="91440" marT="45720" marB="45720">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Permission scope and conditions matter</a:t>
                      </a:r>
                    </a:p>
                  </a:txBody>
                  <a:tcPr marL="91440" marR="91440" marT="45720" marB="45720">
                    <a:lnR w="9525">
                      <a:solidFill>
                        <a:srgbClr val="CBD5DA"/>
                      </a:solidFill>
                      <a:prstDash val="solid"/>
                    </a:lnR>
                    <a:lnB w="9525">
                      <a:solidFill>
                        <a:srgbClr val="CBD5DA"/>
                      </a:solidFill>
                      <a:prstDash val="solid"/>
                    </a:lnB>
                    <a:solidFill>
                      <a:srgbClr val="EBF0F2"/>
                    </a:solidFill>
                  </a:tcPr>
                </a:tc>
              </a:tr>
            </a:tbl>
          </a:graphicData>
        </a:graphic>
      </p:graphicFrame>
      <p:sp>
        <p:nvSpPr>
          <p:cNvPr id="4" name="footer">
            <a:extLst xmlns:a="http://schemas.openxmlformats.org/drawingml/2006/main">
              <a:ext uri="{FF2B5EF4-FFF2-40B4-BE49-F238E27FC236}">
                <a16:creationId xmlns:a16="http://schemas.microsoft.com/office/drawing/2014/main" id="{6C60D32D-5534-431A-A4D1-5CB0F6E9FEC3}"/>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2</a:t>
            </a:r>
          </a:p>
        </p:txBody>
      </p:sp>
      <p:sp>
        <p:nvSpPr>
          <p:cNvPr id="5" name="page">
            <a:extLst xmlns:a="http://schemas.openxmlformats.org/drawingml/2006/main">
              <a:ext uri="{FF2B5EF4-FFF2-40B4-BE49-F238E27FC236}">
                <a16:creationId xmlns:a16="http://schemas.microsoft.com/office/drawing/2014/main" id="{1D833168-7384-41FF-AFD8-790792CA50F4}"/>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33</a:t>
            </a:r>
          </a:p>
        </p:txBody>
      </p:sp>
    </p:spTree>
    <p:extLst>
      <p:ext uri="{BB962C8B-B14F-4D97-AF65-F5344CB8AC3E}">
        <p14:creationId xmlns:p14="http://schemas.microsoft.com/office/powerpoint/2010/main" val="709098623"/>
      </p:ext>
    </p:extLst>
  </p:cSld>
</p:sld>
</file>

<file path=ppt/slides/slide3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77CE2B22-7DC8-4CDB-AA4C-79CB5FB4972F}"/>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THURSDAY 29 OCT</a:t>
            </a:r>
          </a:p>
        </p:txBody>
      </p:sp>
      <p:sp>
        <p:nvSpPr>
          <p:cNvPr id="2" name="heading">
            <a:extLst xmlns:a="http://schemas.openxmlformats.org/drawingml/2006/main">
              <a:ext uri="{FF2B5EF4-FFF2-40B4-BE49-F238E27FC236}">
                <a16:creationId xmlns:a16="http://schemas.microsoft.com/office/drawing/2014/main" id="{9D6AE258-3F23-4367-B64B-3E2715FCCF91}"/>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B7 evidence triage exercise</a:t>
            </a:r>
          </a:p>
        </p:txBody>
      </p:sp>
      <p:sp>
        <p:nvSpPr>
          <p:cNvPr id="3" name="index-0">
            <a:extLst xmlns:a="http://schemas.openxmlformats.org/drawingml/2006/main">
              <a:ext uri="{FF2B5EF4-FFF2-40B4-BE49-F238E27FC236}">
                <a16:creationId xmlns:a16="http://schemas.microsoft.com/office/drawing/2014/main" id="{8377FC65-F15A-42C6-855F-302C426F1008}"/>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2EB13203-2F18-4F9E-BBF0-5E6FBB6AFAC9}"/>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Classify five statements</a:t>
            </a:r>
          </a:p>
        </p:txBody>
      </p:sp>
      <p:sp>
        <p:nvSpPr>
          <p:cNvPr id="5" name="index-1">
            <a:extLst xmlns:a="http://schemas.openxmlformats.org/drawingml/2006/main">
              <a:ext uri="{FF2B5EF4-FFF2-40B4-BE49-F238E27FC236}">
                <a16:creationId xmlns:a16="http://schemas.microsoft.com/office/drawing/2014/main" id="{1DDAD574-1643-480A-BFD7-EE631BEBC851}"/>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FBBE1781-69CA-45A1-BF3B-121055BBDB82}"/>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Separate a weakness from a successful exploit</a:t>
            </a:r>
          </a:p>
        </p:txBody>
      </p:sp>
      <p:sp>
        <p:nvSpPr>
          <p:cNvPr id="7" name="index-2">
            <a:extLst xmlns:a="http://schemas.openxmlformats.org/drawingml/2006/main">
              <a:ext uri="{FF2B5EF4-FFF2-40B4-BE49-F238E27FC236}">
                <a16:creationId xmlns:a16="http://schemas.microsoft.com/office/drawing/2014/main" id="{8E127246-37D1-4B2E-B1EB-507B06822256}"/>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CBABD332-4575-4EA3-8F52-6EE26C2F551F}"/>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Request evidence for the exact claim</a:t>
            </a:r>
          </a:p>
        </p:txBody>
      </p:sp>
      <p:sp>
        <p:nvSpPr>
          <p:cNvPr id="9" name="index-3">
            <a:extLst xmlns:a="http://schemas.openxmlformats.org/drawingml/2006/main">
              <a:ext uri="{FF2B5EF4-FFF2-40B4-BE49-F238E27FC236}">
                <a16:creationId xmlns:a16="http://schemas.microsoft.com/office/drawing/2014/main" id="{926E7246-D1B4-4D82-A17D-733DB2989CAD}"/>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7E255CCB-38F1-4395-BFBD-FE35FA898D86}"/>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25 minutes with a concise explanation</a:t>
            </a:r>
          </a:p>
        </p:txBody>
      </p:sp>
      <p:sp>
        <p:nvSpPr>
          <p:cNvPr id="11" name="footer">
            <a:extLst xmlns:a="http://schemas.openxmlformats.org/drawingml/2006/main">
              <a:ext uri="{FF2B5EF4-FFF2-40B4-BE49-F238E27FC236}">
                <a16:creationId xmlns:a16="http://schemas.microsoft.com/office/drawing/2014/main" id="{FA84E33D-2510-4393-B899-062D7081732E}"/>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2</a:t>
            </a:r>
          </a:p>
        </p:txBody>
      </p:sp>
      <p:sp>
        <p:nvSpPr>
          <p:cNvPr id="12" name="page">
            <a:extLst xmlns:a="http://schemas.openxmlformats.org/drawingml/2006/main">
              <a:ext uri="{FF2B5EF4-FFF2-40B4-BE49-F238E27FC236}">
                <a16:creationId xmlns:a16="http://schemas.microsoft.com/office/drawing/2014/main" id="{B1C1523A-FF2B-4AC5-A4FC-CBC20211E788}"/>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34</a:t>
            </a:r>
          </a:p>
        </p:txBody>
      </p:sp>
    </p:spTree>
    <p:extLst>
      <p:ext uri="{BB962C8B-B14F-4D97-AF65-F5344CB8AC3E}">
        <p14:creationId xmlns:p14="http://schemas.microsoft.com/office/powerpoint/2010/main" val="1326131038"/>
      </p:ext>
    </p:extLst>
  </p:cSld>
</p:sld>
</file>

<file path=ppt/slides/slide3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0D7BBED7-AEF9-4E36-8799-21FA85622FD7}"/>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THURSDAY 29 OCT</a:t>
            </a:r>
          </a:p>
        </p:txBody>
      </p:sp>
      <p:sp>
        <p:nvSpPr>
          <p:cNvPr id="2" name="heading">
            <a:extLst xmlns:a="http://schemas.openxmlformats.org/drawingml/2006/main">
              <a:ext uri="{FF2B5EF4-FFF2-40B4-BE49-F238E27FC236}">
                <a16:creationId xmlns:a16="http://schemas.microsoft.com/office/drawing/2014/main" id="{93B25526-8416-4BC6-A14D-013EEACDA768}"/>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IT domains and evidence locations</a:t>
            </a:r>
          </a:p>
        </p:txBody>
      </p:sp>
      <p:sp>
        <p:nvSpPr>
          <p:cNvPr id="3" name="index-0">
            <a:extLst xmlns:a="http://schemas.openxmlformats.org/drawingml/2006/main">
              <a:ext uri="{FF2B5EF4-FFF2-40B4-BE49-F238E27FC236}">
                <a16:creationId xmlns:a16="http://schemas.microsoft.com/office/drawing/2014/main" id="{FE1B291C-D90C-45CD-9F5D-0BAE2AFB7E13}"/>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24F4793A-7369-4952-8EE1-FEF2FA0E0C0F}"/>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User and workstation evidence</a:t>
            </a:r>
          </a:p>
        </p:txBody>
      </p:sp>
      <p:sp>
        <p:nvSpPr>
          <p:cNvPr id="5" name="index-1">
            <a:extLst xmlns:a="http://schemas.openxmlformats.org/drawingml/2006/main">
              <a:ext uri="{FF2B5EF4-FFF2-40B4-BE49-F238E27FC236}">
                <a16:creationId xmlns:a16="http://schemas.microsoft.com/office/drawing/2014/main" id="{C22FA41D-4913-4CDE-AC0F-957D9925BE84}"/>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827E6ED4-9B20-4830-A9F4-04046436F156}"/>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LAN LAN-to-WAN and WAN evidence</a:t>
            </a:r>
          </a:p>
        </p:txBody>
      </p:sp>
      <p:sp>
        <p:nvSpPr>
          <p:cNvPr id="7" name="index-2">
            <a:extLst xmlns:a="http://schemas.openxmlformats.org/drawingml/2006/main">
              <a:ext uri="{FF2B5EF4-FFF2-40B4-BE49-F238E27FC236}">
                <a16:creationId xmlns:a16="http://schemas.microsoft.com/office/drawing/2014/main" id="{6CD2C269-3813-4E8B-BFE5-601A3C9307C2}"/>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8D1806DA-EE76-49EE-98B4-A60F1B6603ED}"/>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Remote-access evidence</a:t>
            </a:r>
          </a:p>
        </p:txBody>
      </p:sp>
      <p:sp>
        <p:nvSpPr>
          <p:cNvPr id="9" name="index-3">
            <a:extLst xmlns:a="http://schemas.openxmlformats.org/drawingml/2006/main">
              <a:ext uri="{FF2B5EF4-FFF2-40B4-BE49-F238E27FC236}">
                <a16:creationId xmlns:a16="http://schemas.microsoft.com/office/drawing/2014/main" id="{D7E974AD-8B33-4B81-A54F-C5AE3A40CE80}"/>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3C7FC543-8EF0-4D88-8D2A-F1246FA52D78}"/>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System and application evidence</a:t>
            </a:r>
          </a:p>
        </p:txBody>
      </p:sp>
      <p:sp>
        <p:nvSpPr>
          <p:cNvPr id="11" name="footer">
            <a:extLst xmlns:a="http://schemas.openxmlformats.org/drawingml/2006/main">
              <a:ext uri="{FF2B5EF4-FFF2-40B4-BE49-F238E27FC236}">
                <a16:creationId xmlns:a16="http://schemas.microsoft.com/office/drawing/2014/main" id="{C034AE61-73C2-451E-A0AE-6564C47BD451}"/>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2</a:t>
            </a:r>
          </a:p>
        </p:txBody>
      </p:sp>
      <p:sp>
        <p:nvSpPr>
          <p:cNvPr id="12" name="page">
            <a:extLst xmlns:a="http://schemas.openxmlformats.org/drawingml/2006/main">
              <a:ext uri="{FF2B5EF4-FFF2-40B4-BE49-F238E27FC236}">
                <a16:creationId xmlns:a16="http://schemas.microsoft.com/office/drawing/2014/main" id="{ECA064BF-C856-4BF2-8192-29769400293A}"/>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35</a:t>
            </a:r>
          </a:p>
        </p:txBody>
      </p:sp>
    </p:spTree>
    <p:extLst>
      <p:ext uri="{BB962C8B-B14F-4D97-AF65-F5344CB8AC3E}">
        <p14:creationId xmlns:p14="http://schemas.microsoft.com/office/powerpoint/2010/main" val="1432468063"/>
      </p:ext>
    </p:extLst>
  </p:cSld>
</p:sld>
</file>

<file path=ppt/slides/slide3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6" name="section">
            <a:extLst xmlns:a="http://schemas.openxmlformats.org/drawingml/2006/main">
              <a:ext uri="{FF2B5EF4-FFF2-40B4-BE49-F238E27FC236}">
                <a16:creationId xmlns:a16="http://schemas.microsoft.com/office/drawing/2014/main" id="{EA516388-788F-46FF-97D1-5F7A4A1014DD}"/>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THURSDAY 29 OCT</a:t>
            </a:r>
          </a:p>
        </p:txBody>
      </p:sp>
      <p:sp>
        <p:nvSpPr>
          <p:cNvPr id="2" name="heading">
            <a:extLst xmlns:a="http://schemas.openxmlformats.org/drawingml/2006/main">
              <a:ext uri="{FF2B5EF4-FFF2-40B4-BE49-F238E27FC236}">
                <a16:creationId xmlns:a16="http://schemas.microsoft.com/office/drawing/2014/main" id="{780AABEB-F6FD-4606-B2A5-AE1D0BD26826}"/>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Gap analysis and control status</a:t>
            </a:r>
          </a:p>
        </p:txBody>
      </p:sp>
      <p:graphicFrame>
        <p:nvGraphicFramePr>
          <p:cNvPr id="3" name="">
            <a:extLst xmlns:a="http://schemas.openxmlformats.org/drawingml/2006/main">
              <a:ext uri="{FF2B5EF4-FFF2-40B4-BE49-F238E27FC236}">
                <a16:creationId xmlns:a16="http://schemas.microsoft.com/office/drawing/2014/main" id="{45C8A2A9-9C4C-4BB6-B06E-B61AE0F508DA}"/>
              </a:ext>
            </a:extLst>
          </p:cNvPr>
          <p:cNvGraphicFramePr/>
          <p:nvPr/>
        </p:nvGraphicFramePr>
        <p:xfrm>
          <a:off xmlns:a="http://schemas.openxmlformats.org/drawingml/2006/main" x="609600" y="2114550"/>
          <a:ext xmlns:a="http://schemas.openxmlformats.org/drawingml/2006/main" cx="10972800" cy="3476625"/>
        </p:xfrm>
        <a:graphic xmlns:a="http://schemas.openxmlformats.org/drawingml/2006/main">
          <a:graphicData uri="http://schemas.openxmlformats.org/drawingml/2006/table">
            <a:tbl>
              <a:tblPr/>
              <a:tblGrid>
                <a:gridCol w="2333625"/>
                <a:gridCol w="4000500"/>
                <a:gridCol w="4638675"/>
              </a:tblGrid>
              <a:tr h="695325">
                <a:tc>
                  <a:txBody>
                    <a:bodyPr/>
                    <a:lstStyle/>
                    <a:p>
                      <a:r>
                        <a:rPr sz="1725" b="1">
                          <a:solidFill>
                            <a:srgbClr val="FFFFFF"/>
                          </a:solidFill>
                          <a:latin typeface="Arial"/>
                          <a:ea typeface="Arial"/>
                          <a:cs typeface="Arial"/>
                        </a:rPr>
                        <a:t>Status</a:t>
                      </a:r>
                    </a:p>
                  </a:txBody>
                  <a:tcPr marL="91440" marR="91440" marT="45720" marB="45720">
                    <a:lnL w="9525">
                      <a:solidFill>
                        <a:srgbClr val="CBD5DA"/>
                      </a:solidFill>
                      <a:prstDash val="solid"/>
                    </a:lnL>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c>
                  <a:txBody>
                    <a:bodyPr/>
                    <a:lstStyle/>
                    <a:p>
                      <a:r>
                        <a:rPr sz="1725" b="1">
                          <a:solidFill>
                            <a:srgbClr val="FFFFFF"/>
                          </a:solidFill>
                          <a:latin typeface="Arial"/>
                          <a:ea typeface="Arial"/>
                          <a:cs typeface="Arial"/>
                        </a:rPr>
                        <a:t>Meaning</a:t>
                      </a:r>
                    </a:p>
                  </a:txBody>
                  <a:tcPr marL="91440" marR="91440" marT="45720" marB="45720">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c>
                  <a:txBody>
                    <a:bodyPr/>
                    <a:lstStyle/>
                    <a:p>
                      <a:r>
                        <a:rPr sz="1725" b="1">
                          <a:solidFill>
                            <a:srgbClr val="FFFFFF"/>
                          </a:solidFill>
                          <a:latin typeface="Arial"/>
                          <a:ea typeface="Arial"/>
                          <a:cs typeface="Arial"/>
                        </a:rPr>
                        <a:t>Evidence needed</a:t>
                      </a:r>
                    </a:p>
                  </a:txBody>
                  <a:tcPr marL="91440" marR="91440" marT="45720" marB="45720">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r>
              <a:tr h="695325">
                <a:tc>
                  <a:txBody>
                    <a:bodyPr/>
                    <a:lstStyle/>
                    <a:p>
                      <a:r>
                        <a:rPr sz="1725" b="0">
                          <a:solidFill>
                            <a:srgbClr val="102F40"/>
                          </a:solidFill>
                          <a:latin typeface="Arial"/>
                          <a:ea typeface="Arial"/>
                          <a:cs typeface="Arial"/>
                        </a:rPr>
                        <a:t>Expected condition</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Defined assessment criterion</a:t>
                      </a:r>
                    </a:p>
                  </a:txBody>
                  <a:tcPr marL="91440" marR="91440" marT="45720" marB="45720">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Approved source and scope</a:t>
                      </a:r>
                    </a:p>
                  </a:txBody>
                  <a:tcPr marL="91440" marR="91440" marT="45720" marB="45720">
                    <a:lnR w="9525">
                      <a:solidFill>
                        <a:srgbClr val="CBD5DA"/>
                      </a:solidFill>
                      <a:prstDash val="solid"/>
                    </a:lnR>
                    <a:lnB w="9525">
                      <a:solidFill>
                        <a:srgbClr val="CBD5DA"/>
                      </a:solidFill>
                      <a:prstDash val="solid"/>
                    </a:lnB>
                    <a:solidFill>
                      <a:srgbClr val="FFFFFF"/>
                    </a:solidFill>
                  </a:tcPr>
                </a:tc>
              </a:tr>
              <a:tr h="695325">
                <a:tc>
                  <a:txBody>
                    <a:bodyPr/>
                    <a:lstStyle/>
                    <a:p>
                      <a:r>
                        <a:rPr sz="1725" b="0">
                          <a:solidFill>
                            <a:srgbClr val="102F40"/>
                          </a:solidFill>
                          <a:latin typeface="Arial"/>
                          <a:ea typeface="Arial"/>
                          <a:cs typeface="Arial"/>
                        </a:rPr>
                        <a:t>Observed condition</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What evidence shows now</a:t>
                      </a:r>
                    </a:p>
                  </a:txBody>
                  <a:tcPr marL="91440" marR="91440" marT="45720" marB="45720">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Dated record and limitations</a:t>
                      </a:r>
                    </a:p>
                  </a:txBody>
                  <a:tcPr marL="91440" marR="91440" marT="45720" marB="45720">
                    <a:lnR w="9525">
                      <a:solidFill>
                        <a:srgbClr val="CBD5DA"/>
                      </a:solidFill>
                      <a:prstDash val="solid"/>
                    </a:lnR>
                    <a:lnB w="9525">
                      <a:solidFill>
                        <a:srgbClr val="CBD5DA"/>
                      </a:solidFill>
                      <a:prstDash val="solid"/>
                    </a:lnB>
                    <a:solidFill>
                      <a:srgbClr val="EBF0F2"/>
                    </a:solidFill>
                  </a:tcPr>
                </a:tc>
              </a:tr>
              <a:tr h="695325">
                <a:tc>
                  <a:txBody>
                    <a:bodyPr/>
                    <a:lstStyle/>
                    <a:p>
                      <a:r>
                        <a:rPr sz="1725" b="0">
                          <a:solidFill>
                            <a:srgbClr val="102F40"/>
                          </a:solidFill>
                          <a:latin typeface="Arial"/>
                          <a:ea typeface="Arial"/>
                          <a:cs typeface="Arial"/>
                        </a:rPr>
                        <a:t>Planned control</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Proposed or approved change</a:t>
                      </a:r>
                    </a:p>
                  </a:txBody>
                  <a:tcPr marL="91440" marR="91440" marT="45720" marB="45720">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Owner and implementation plan</a:t>
                      </a:r>
                    </a:p>
                  </a:txBody>
                  <a:tcPr marL="91440" marR="91440" marT="45720" marB="45720">
                    <a:lnR w="9525">
                      <a:solidFill>
                        <a:srgbClr val="CBD5DA"/>
                      </a:solidFill>
                      <a:prstDash val="solid"/>
                    </a:lnR>
                    <a:lnB w="9525">
                      <a:solidFill>
                        <a:srgbClr val="CBD5DA"/>
                      </a:solidFill>
                      <a:prstDash val="solid"/>
                    </a:lnB>
                    <a:solidFill>
                      <a:srgbClr val="FFFFFF"/>
                    </a:solidFill>
                  </a:tcPr>
                </a:tc>
              </a:tr>
              <a:tr h="695325">
                <a:tc>
                  <a:txBody>
                    <a:bodyPr/>
                    <a:lstStyle/>
                    <a:p>
                      <a:r>
                        <a:rPr sz="1725" b="0">
                          <a:solidFill>
                            <a:srgbClr val="102F40"/>
                          </a:solidFill>
                          <a:latin typeface="Arial"/>
                          <a:ea typeface="Arial"/>
                          <a:cs typeface="Arial"/>
                        </a:rPr>
                        <a:t>Operating control</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Implemented measure in use</a:t>
                      </a:r>
                    </a:p>
                  </a:txBody>
                  <a:tcPr marL="91440" marR="91440" marT="45720" marB="45720">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Configuration and test evidence</a:t>
                      </a:r>
                    </a:p>
                  </a:txBody>
                  <a:tcPr marL="91440" marR="91440" marT="45720" marB="45720">
                    <a:lnR w="9525">
                      <a:solidFill>
                        <a:srgbClr val="CBD5DA"/>
                      </a:solidFill>
                      <a:prstDash val="solid"/>
                    </a:lnR>
                    <a:lnB w="9525">
                      <a:solidFill>
                        <a:srgbClr val="CBD5DA"/>
                      </a:solidFill>
                      <a:prstDash val="solid"/>
                    </a:lnB>
                    <a:solidFill>
                      <a:srgbClr val="EBF0F2"/>
                    </a:solidFill>
                  </a:tcPr>
                </a:tc>
              </a:tr>
            </a:tbl>
          </a:graphicData>
        </a:graphic>
      </p:graphicFrame>
      <p:sp>
        <p:nvSpPr>
          <p:cNvPr id="4" name="footer">
            <a:extLst xmlns:a="http://schemas.openxmlformats.org/drawingml/2006/main">
              <a:ext uri="{FF2B5EF4-FFF2-40B4-BE49-F238E27FC236}">
                <a16:creationId xmlns:a16="http://schemas.microsoft.com/office/drawing/2014/main" id="{A5B1D7AA-DCD2-49FA-BA9D-895B36AE7076}"/>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2</a:t>
            </a:r>
          </a:p>
        </p:txBody>
      </p:sp>
      <p:sp>
        <p:nvSpPr>
          <p:cNvPr id="5" name="page">
            <a:extLst xmlns:a="http://schemas.openxmlformats.org/drawingml/2006/main">
              <a:ext uri="{FF2B5EF4-FFF2-40B4-BE49-F238E27FC236}">
                <a16:creationId xmlns:a16="http://schemas.microsoft.com/office/drawing/2014/main" id="{EEB2769C-A916-41DC-A00A-49474BD75459}"/>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36</a:t>
            </a:r>
          </a:p>
        </p:txBody>
      </p:sp>
    </p:spTree>
    <p:extLst>
      <p:ext uri="{BB962C8B-B14F-4D97-AF65-F5344CB8AC3E}">
        <p14:creationId xmlns:p14="http://schemas.microsoft.com/office/powerpoint/2010/main" val="1369230487"/>
      </p:ext>
    </p:extLst>
  </p:cSld>
</p:sld>
</file>

<file path=ppt/slides/slide3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B587CB7D-9CC2-4BF8-AFE4-82E7EF237928}"/>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THURSDAY 29 OCT</a:t>
            </a:r>
          </a:p>
        </p:txBody>
      </p:sp>
      <p:sp>
        <p:nvSpPr>
          <p:cNvPr id="2" name="heading">
            <a:extLst xmlns:a="http://schemas.openxmlformats.org/drawingml/2006/main">
              <a:ext uri="{FF2B5EF4-FFF2-40B4-BE49-F238E27FC236}">
                <a16:creationId xmlns:a16="http://schemas.microsoft.com/office/drawing/2014/main" id="{7C369108-41AB-4381-95E9-899EB45952F6}"/>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B8 gap and verification clinic</a:t>
            </a:r>
          </a:p>
        </p:txBody>
      </p:sp>
      <p:sp>
        <p:nvSpPr>
          <p:cNvPr id="3" name="index-0">
            <a:extLst xmlns:a="http://schemas.openxmlformats.org/drawingml/2006/main">
              <a:ext uri="{FF2B5EF4-FFF2-40B4-BE49-F238E27FC236}">
                <a16:creationId xmlns:a16="http://schemas.microsoft.com/office/drawing/2014/main" id="{88EA10C0-FB0B-4349-96AC-894573BDFC66}"/>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CFEE6AAE-7570-4536-80E4-D8316F805BA5}"/>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State one gap and candidate control</a:t>
            </a:r>
          </a:p>
        </p:txBody>
      </p:sp>
      <p:sp>
        <p:nvSpPr>
          <p:cNvPr id="5" name="index-1">
            <a:extLst xmlns:a="http://schemas.openxmlformats.org/drawingml/2006/main">
              <a:ext uri="{FF2B5EF4-FFF2-40B4-BE49-F238E27FC236}">
                <a16:creationId xmlns:a16="http://schemas.microsoft.com/office/drawing/2014/main" id="{926B8660-AE34-4AD3-A8A6-778DB3784439}"/>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953EE516-DA3D-4A2B-A10A-C069B0D2D877}"/>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Explain the control mechanism</a:t>
            </a:r>
          </a:p>
        </p:txBody>
      </p:sp>
      <p:sp>
        <p:nvSpPr>
          <p:cNvPr id="7" name="index-2">
            <a:extLst xmlns:a="http://schemas.openxmlformats.org/drawingml/2006/main">
              <a:ext uri="{FF2B5EF4-FFF2-40B4-BE49-F238E27FC236}">
                <a16:creationId xmlns:a16="http://schemas.microsoft.com/office/drawing/2014/main" id="{00330EBA-6933-45A5-8241-87F97EA55BA5}"/>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86166FBC-0A38-4A2A-89C3-B5A7862341EC}"/>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Name an owner and verification evidence</a:t>
            </a:r>
          </a:p>
        </p:txBody>
      </p:sp>
      <p:sp>
        <p:nvSpPr>
          <p:cNvPr id="9" name="index-3">
            <a:extLst xmlns:a="http://schemas.openxmlformats.org/drawingml/2006/main">
              <a:ext uri="{FF2B5EF4-FFF2-40B4-BE49-F238E27FC236}">
                <a16:creationId xmlns:a16="http://schemas.microsoft.com/office/drawing/2014/main" id="{DAF75A63-C2B6-4BA1-8B01-58CBF12C479D}"/>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5DAB0A36-CCC0-4DE2-930B-63E61AE0871F}"/>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25 minutes with a residual-risk challenge</a:t>
            </a:r>
          </a:p>
        </p:txBody>
      </p:sp>
      <p:sp>
        <p:nvSpPr>
          <p:cNvPr id="11" name="footer">
            <a:extLst xmlns:a="http://schemas.openxmlformats.org/drawingml/2006/main">
              <a:ext uri="{FF2B5EF4-FFF2-40B4-BE49-F238E27FC236}">
                <a16:creationId xmlns:a16="http://schemas.microsoft.com/office/drawing/2014/main" id="{20BD3ED7-2F37-44CA-95D3-79B7558719B2}"/>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2</a:t>
            </a:r>
          </a:p>
        </p:txBody>
      </p:sp>
      <p:sp>
        <p:nvSpPr>
          <p:cNvPr id="12" name="page">
            <a:extLst xmlns:a="http://schemas.openxmlformats.org/drawingml/2006/main">
              <a:ext uri="{FF2B5EF4-FFF2-40B4-BE49-F238E27FC236}">
                <a16:creationId xmlns:a16="http://schemas.microsoft.com/office/drawing/2014/main" id="{A9235A91-6441-469C-BE5C-01D0EEA48259}"/>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37</a:t>
            </a:r>
          </a:p>
        </p:txBody>
      </p:sp>
    </p:spTree>
    <p:extLst>
      <p:ext uri="{BB962C8B-B14F-4D97-AF65-F5344CB8AC3E}">
        <p14:creationId xmlns:p14="http://schemas.microsoft.com/office/powerpoint/2010/main" val="281601320"/>
      </p:ext>
    </p:extLst>
  </p:cSld>
</p:sld>
</file>

<file path=ppt/slides/slide3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D909F0E3-4122-4E7C-BF8E-CDAF4AC9429B}"/>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THURSDAY 29 OCT</a:t>
            </a:r>
          </a:p>
        </p:txBody>
      </p:sp>
      <p:sp>
        <p:nvSpPr>
          <p:cNvPr id="2" name="heading">
            <a:extLst xmlns:a="http://schemas.openxmlformats.org/drawingml/2006/main">
              <a:ext uri="{FF2B5EF4-FFF2-40B4-BE49-F238E27FC236}">
                <a16:creationId xmlns:a16="http://schemas.microsoft.com/office/drawing/2014/main" id="{E16FB410-03C3-42C7-8CD7-8CC5AF4FD569}"/>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Independent coursework clinic</a:t>
            </a:r>
          </a:p>
        </p:txBody>
      </p:sp>
      <p:sp>
        <p:nvSpPr>
          <p:cNvPr id="3" name="index-0">
            <a:extLst xmlns:a="http://schemas.openxmlformats.org/drawingml/2006/main">
              <a:ext uri="{FF2B5EF4-FFF2-40B4-BE49-F238E27FC236}">
                <a16:creationId xmlns:a16="http://schemas.microsoft.com/office/drawing/2014/main" id="{9DDFAC86-DDA0-4A0A-80BA-C0CF30F8309B}"/>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5CD97271-CA5E-439E-B21F-DD165B99678D}"/>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Read DQ4 DQ5 Project 2 and Revised Proposal</a:t>
            </a:r>
          </a:p>
        </p:txBody>
      </p:sp>
      <p:sp>
        <p:nvSpPr>
          <p:cNvPr id="5" name="index-1">
            <a:extLst xmlns:a="http://schemas.openxmlformats.org/drawingml/2006/main">
              <a:ext uri="{FF2B5EF4-FFF2-40B4-BE49-F238E27FC236}">
                <a16:creationId xmlns:a16="http://schemas.microsoft.com/office/drawing/2014/main" id="{7912E6AF-BB65-4149-B26C-1FAB7BFC9C38}"/>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55018847-E091-4CAD-AFE8-E4290C79B473}"/>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Identify the exact unanswered instruction</a:t>
            </a:r>
          </a:p>
        </p:txBody>
      </p:sp>
      <p:sp>
        <p:nvSpPr>
          <p:cNvPr id="7" name="index-2">
            <a:extLst xmlns:a="http://schemas.openxmlformats.org/drawingml/2006/main">
              <a:ext uri="{FF2B5EF4-FFF2-40B4-BE49-F238E27FC236}">
                <a16:creationId xmlns:a16="http://schemas.microsoft.com/office/drawing/2014/main" id="{A1BE0F5F-7A99-42C6-AD90-F63296C664CB}"/>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A9AD14EC-738C-4568-88EB-11CEBF1CD0CC}"/>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Use evidence to develop your own analysis</a:t>
            </a:r>
          </a:p>
        </p:txBody>
      </p:sp>
      <p:sp>
        <p:nvSpPr>
          <p:cNvPr id="9" name="index-3">
            <a:extLst xmlns:a="http://schemas.openxmlformats.org/drawingml/2006/main">
              <a:ext uri="{FF2B5EF4-FFF2-40B4-BE49-F238E27FC236}">
                <a16:creationId xmlns:a16="http://schemas.microsoft.com/office/drawing/2014/main" id="{7D3243DD-12E9-4E4B-883E-8A0193C9C8BF}"/>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408B9AB5-5DDD-4586-935D-27BF9B44F490}"/>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Send policy or grading questions to the professor</a:t>
            </a:r>
          </a:p>
        </p:txBody>
      </p:sp>
      <p:sp>
        <p:nvSpPr>
          <p:cNvPr id="11" name="footer">
            <a:extLst xmlns:a="http://schemas.openxmlformats.org/drawingml/2006/main">
              <a:ext uri="{FF2B5EF4-FFF2-40B4-BE49-F238E27FC236}">
                <a16:creationId xmlns:a16="http://schemas.microsoft.com/office/drawing/2014/main" id="{9BDD5CE7-2F2D-4942-B2F8-7AEFB5898096}"/>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2</a:t>
            </a:r>
          </a:p>
        </p:txBody>
      </p:sp>
      <p:sp>
        <p:nvSpPr>
          <p:cNvPr id="12" name="page">
            <a:extLst xmlns:a="http://schemas.openxmlformats.org/drawingml/2006/main">
              <a:ext uri="{FF2B5EF4-FFF2-40B4-BE49-F238E27FC236}">
                <a16:creationId xmlns:a16="http://schemas.microsoft.com/office/drawing/2014/main" id="{212E0195-A8F1-438D-B409-4E39E71DE9CA}"/>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38</a:t>
            </a:r>
          </a:p>
        </p:txBody>
      </p:sp>
    </p:spTree>
    <p:extLst>
      <p:ext uri="{BB962C8B-B14F-4D97-AF65-F5344CB8AC3E}">
        <p14:creationId xmlns:p14="http://schemas.microsoft.com/office/powerpoint/2010/main" val="868670692"/>
      </p:ext>
    </p:extLst>
  </p:cSld>
</p:sld>
</file>

<file path=ppt/slides/slide3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5C52C02F-814F-4D67-B2FC-1FD350AEA1F2}"/>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THURSDAY 29 OCT</a:t>
            </a:r>
          </a:p>
        </p:txBody>
      </p:sp>
      <p:sp>
        <p:nvSpPr>
          <p:cNvPr id="2" name="heading">
            <a:extLst xmlns:a="http://schemas.openxmlformats.org/drawingml/2006/main">
              <a:ext uri="{FF2B5EF4-FFF2-40B4-BE49-F238E27FC236}">
                <a16:creationId xmlns:a16="http://schemas.microsoft.com/office/drawing/2014/main" id="{8FF8EEA6-28C6-459B-B81D-6D6304DDAC14}"/>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Week 2 close and Week 3 bridge</a:t>
            </a:r>
          </a:p>
        </p:txBody>
      </p:sp>
      <p:sp>
        <p:nvSpPr>
          <p:cNvPr id="3" name="index-0">
            <a:extLst xmlns:a="http://schemas.openxmlformats.org/drawingml/2006/main">
              <a:ext uri="{FF2B5EF4-FFF2-40B4-BE49-F238E27FC236}">
                <a16:creationId xmlns:a16="http://schemas.microsoft.com/office/drawing/2014/main" id="{C0DD0240-9237-434B-8B36-9CB511B22E34}"/>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9C5CD3DF-DB28-4535-81E6-CC49A689604D}"/>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Four items due Sunday November 1</a:t>
            </a:r>
          </a:p>
        </p:txBody>
      </p:sp>
      <p:sp>
        <p:nvSpPr>
          <p:cNvPr id="5" name="index-1">
            <a:extLst xmlns:a="http://schemas.openxmlformats.org/drawingml/2006/main">
              <a:ext uri="{FF2B5EF4-FFF2-40B4-BE49-F238E27FC236}">
                <a16:creationId xmlns:a16="http://schemas.microsoft.com/office/drawing/2014/main" id="{31AA0E1A-C337-477F-BA37-C4B3DE800D03}"/>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033D7C2B-EDF4-43C4-A3FB-CF459CE3CCF1}"/>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Deadline 11:59 p.m. Eastern</a:t>
            </a:r>
          </a:p>
        </p:txBody>
      </p:sp>
      <p:sp>
        <p:nvSpPr>
          <p:cNvPr id="7" name="index-2">
            <a:extLst xmlns:a="http://schemas.openxmlformats.org/drawingml/2006/main">
              <a:ext uri="{FF2B5EF4-FFF2-40B4-BE49-F238E27FC236}">
                <a16:creationId xmlns:a16="http://schemas.microsoft.com/office/drawing/2014/main" id="{A845E398-74C8-45AA-8769-CF20380AFC30}"/>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5AD0F00F-CFB4-4BE4-B550-A06F1CAF693B}"/>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Check uploads sources and required AI disclosure</a:t>
            </a:r>
          </a:p>
        </p:txBody>
      </p:sp>
      <p:sp>
        <p:nvSpPr>
          <p:cNvPr id="9" name="index-3">
            <a:extLst xmlns:a="http://schemas.openxmlformats.org/drawingml/2006/main">
              <a:ext uri="{FF2B5EF4-FFF2-40B4-BE49-F238E27FC236}">
                <a16:creationId xmlns:a16="http://schemas.microsoft.com/office/drawing/2014/main" id="{A0CF5BB7-C323-476D-9D58-CABB373BDE12}"/>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9766D8AC-2737-4BF6-9180-F58450801F0A}"/>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Week 3 develops risk mitigation planning</a:t>
            </a:r>
          </a:p>
        </p:txBody>
      </p:sp>
      <p:sp>
        <p:nvSpPr>
          <p:cNvPr id="11" name="footer">
            <a:extLst xmlns:a="http://schemas.openxmlformats.org/drawingml/2006/main">
              <a:ext uri="{FF2B5EF4-FFF2-40B4-BE49-F238E27FC236}">
                <a16:creationId xmlns:a16="http://schemas.microsoft.com/office/drawing/2014/main" id="{3BBD014E-B3AA-4093-B4B4-67207A142E77}"/>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2</a:t>
            </a:r>
          </a:p>
        </p:txBody>
      </p:sp>
      <p:sp>
        <p:nvSpPr>
          <p:cNvPr id="12" name="page">
            <a:extLst xmlns:a="http://schemas.openxmlformats.org/drawingml/2006/main">
              <a:ext uri="{FF2B5EF4-FFF2-40B4-BE49-F238E27FC236}">
                <a16:creationId xmlns:a16="http://schemas.microsoft.com/office/drawing/2014/main" id="{372721BE-0931-4118-AB89-E3107975E399}"/>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39</a:t>
            </a:r>
          </a:p>
        </p:txBody>
      </p:sp>
    </p:spTree>
    <p:extLst>
      <p:ext uri="{BB962C8B-B14F-4D97-AF65-F5344CB8AC3E}">
        <p14:creationId xmlns:p14="http://schemas.microsoft.com/office/powerpoint/2010/main" val="1000605232"/>
      </p:ext>
    </p:extLst>
  </p:cSld>
</p:sld>
</file>

<file path=ppt/slides/slide4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0AD5D4FE-938C-4AAE-AB04-0143FA85FCB6}"/>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WEEK 2</a:t>
            </a:r>
          </a:p>
        </p:txBody>
      </p:sp>
      <p:sp>
        <p:nvSpPr>
          <p:cNvPr id="2" name="heading">
            <a:extLst xmlns:a="http://schemas.openxmlformats.org/drawingml/2006/main">
              <a:ext uri="{FF2B5EF4-FFF2-40B4-BE49-F238E27FC236}">
                <a16:creationId xmlns:a16="http://schemas.microsoft.com/office/drawing/2014/main" id="{1F28128B-2FB8-49C3-B813-0D71630DE0F0}"/>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Sources and reading editions</a:t>
            </a:r>
          </a:p>
        </p:txBody>
      </p:sp>
      <p:sp>
        <p:nvSpPr>
          <p:cNvPr id="3" name="index-0">
            <a:extLst xmlns:a="http://schemas.openxmlformats.org/drawingml/2006/main">
              <a:ext uri="{FF2B5EF4-FFF2-40B4-BE49-F238E27FC236}">
                <a16:creationId xmlns:a16="http://schemas.microsoft.com/office/drawing/2014/main" id="{3C9EF477-5599-4D6A-9D93-245F59CD01FB}"/>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B316A93B-24A2-486F-B232-CFBD1B8D87FE}"/>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Canvas assigns Gibson Chapters 5 through 8</a:t>
            </a:r>
          </a:p>
        </p:txBody>
      </p:sp>
      <p:sp>
        <p:nvSpPr>
          <p:cNvPr id="5" name="index-1">
            <a:extLst xmlns:a="http://schemas.openxmlformats.org/drawingml/2006/main">
              <a:ext uri="{FF2B5EF4-FFF2-40B4-BE49-F238E27FC236}">
                <a16:creationId xmlns:a16="http://schemas.microsoft.com/office/drawing/2014/main" id="{A031E3A2-9027-400A-B93F-9A98A8557594}"/>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4094CAE2-282E-4077-BECF-4ABE6EE0FA3E}"/>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NIST SP 800-30 editions differ</a:t>
            </a:r>
          </a:p>
        </p:txBody>
      </p:sp>
      <p:sp>
        <p:nvSpPr>
          <p:cNvPr id="7" name="index-2">
            <a:extLst xmlns:a="http://schemas.openxmlformats.org/drawingml/2006/main">
              <a:ext uri="{FF2B5EF4-FFF2-40B4-BE49-F238E27FC236}">
                <a16:creationId xmlns:a16="http://schemas.microsoft.com/office/drawing/2014/main" id="{4C1E2904-9F0D-47D0-8DCA-F0BD082A1CB3}"/>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DF4F43B5-728C-41C3-86D6-09276375DDAE}"/>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Assigned SP 800-171 has a specific information scope</a:t>
            </a:r>
          </a:p>
        </p:txBody>
      </p:sp>
      <p:sp>
        <p:nvSpPr>
          <p:cNvPr id="9" name="index-3">
            <a:extLst xmlns:a="http://schemas.openxmlformats.org/drawingml/2006/main">
              <a:ext uri="{FF2B5EF4-FFF2-40B4-BE49-F238E27FC236}">
                <a16:creationId xmlns:a16="http://schemas.microsoft.com/office/drawing/2014/main" id="{52FD5B05-D5C8-4E69-B658-8345018FC814}"/>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DFCDD960-BC72-49E4-ACE3-AD070296DFBB}"/>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Current Canvas controls homework requirements</a:t>
            </a:r>
          </a:p>
        </p:txBody>
      </p:sp>
      <p:sp>
        <p:nvSpPr>
          <p:cNvPr id="11" name="footer">
            <a:extLst xmlns:a="http://schemas.openxmlformats.org/drawingml/2006/main">
              <a:ext uri="{FF2B5EF4-FFF2-40B4-BE49-F238E27FC236}">
                <a16:creationId xmlns:a16="http://schemas.microsoft.com/office/drawing/2014/main" id="{F6A042C5-9843-47A1-A617-1BB8B5139AF6}"/>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2</a:t>
            </a:r>
          </a:p>
        </p:txBody>
      </p:sp>
      <p:sp>
        <p:nvSpPr>
          <p:cNvPr id="12" name="page">
            <a:extLst xmlns:a="http://schemas.openxmlformats.org/drawingml/2006/main">
              <a:ext uri="{FF2B5EF4-FFF2-40B4-BE49-F238E27FC236}">
                <a16:creationId xmlns:a16="http://schemas.microsoft.com/office/drawing/2014/main" id="{25671AA6-D62A-451C-BD56-58B897EB72DE}"/>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40</a:t>
            </a:r>
          </a:p>
        </p:txBody>
      </p:sp>
    </p:spTree>
    <p:extLst>
      <p:ext uri="{BB962C8B-B14F-4D97-AF65-F5344CB8AC3E}">
        <p14:creationId xmlns:p14="http://schemas.microsoft.com/office/powerpoint/2010/main" val="5668780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2026-10-17T14:38:55.9080000Z</dcterms:created>
  <dcterms:modified xsi:type="dcterms:W3CDTF">2026-10-17T14:38:55.9080000Z</dcterms:modified>
</coreProperties>
</file>